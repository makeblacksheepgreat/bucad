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2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2.svg" ContentType="image/svg+xml"/>
  <Override PartName="/ppt/media/image24.svg" ContentType="image/svg+xml"/>
  <Override PartName="/ppt/media/image25.svg" ContentType="image/svg+xml"/>
  <Override PartName="/ppt/media/image4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6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5" r:id="rId3"/>
    <p:sldMasterId id="2147483662" r:id="rId4"/>
  </p:sldMasterIdLst>
  <p:notesMasterIdLst>
    <p:notesMasterId r:id="rId12"/>
  </p:notesMasterIdLst>
  <p:sldIdLst>
    <p:sldId id="256" r:id="rId5"/>
    <p:sldId id="257" r:id="rId6"/>
    <p:sldId id="259" r:id="rId7"/>
    <p:sldId id="261" r:id="rId8"/>
    <p:sldId id="291" r:id="rId9"/>
    <p:sldId id="265" r:id="rId10"/>
    <p:sldId id="286" r:id="rId11"/>
    <p:sldId id="285" r:id="rId13"/>
    <p:sldId id="296" r:id="rId14"/>
    <p:sldId id="295" r:id="rId15"/>
    <p:sldId id="266" r:id="rId16"/>
    <p:sldId id="287" r:id="rId17"/>
    <p:sldId id="268" r:id="rId18"/>
    <p:sldId id="294" r:id="rId19"/>
    <p:sldId id="298" r:id="rId20"/>
    <p:sldId id="275" r:id="rId21"/>
    <p:sldId id="277" r:id="rId22"/>
    <p:sldId id="278" r:id="rId23"/>
    <p:sldId id="279" r:id="rId24"/>
    <p:sldId id="281" r:id="rId25"/>
    <p:sldId id="282" r:id="rId26"/>
    <p:sldId id="300" r:id="rId27"/>
    <p:sldId id="299" r:id="rId28"/>
  </p:sldIdLst>
  <p:sldSz cx="18288000" cy="10287000"/>
  <p:notesSz cx="6858000" cy="9144000"/>
  <p:embeddedFontLst>
    <p:embeddedFont>
      <p:font typeface="微软雅黑" panose="020B0503020204020204" pitchFamily="34" charset="-122"/>
      <p:regular r:id="rId32"/>
      <p:bold r:id="rId33"/>
    </p:embeddedFont>
    <p:embeddedFont>
      <p:font typeface="Calibri" panose="020F0502020204030204" charset="0"/>
      <p:regular r:id="rId34"/>
      <p:bold r:id="rId35"/>
      <p:italic r:id="rId36"/>
      <p:boldItalic r:id="rId37"/>
    </p:embeddedFont>
  </p:embeddedFontLst>
  <p:custDataLst>
    <p:tags r:id="rId3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2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F88"/>
    <a:srgbClr val="406F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8C0F3EA-C9B6-4EF2-9439-15E2FCF112B2}" styleName="表样式 1 14">
    <a:wholeTbl>
      <a:tcTxStyle>
        <a:fontRef idx="none">
          <a:srgbClr val="000000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band2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chemeClr val="accent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A6C3CF0-0071-4EB2-B85E-9BABEA62439C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/>
        <a:fill>
          <a:solidFill>
            <a:schemeClr val="accent1"/>
          </a:solidFill>
        </a:fill>
      </a:tcStyle>
    </a:firstRow>
  </a:tblStyle>
  <a:tblStyle styleId="{F2122EAA-CB82-423A-8F7C-14A440DD89BF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011FE4C-1664-4287-B1A2-6FBCD6A27929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/>
        <a:fill>
          <a:solidFill>
            <a:schemeClr val="accent1"/>
          </a:solidFill>
        </a:fill>
      </a:tcStyle>
    </a:firstRow>
  </a:tblStyle>
  <a:tblStyle styleId="{D139C978-39EC-44C2-877F-F149D3CC6461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4CD81405-6C9B-4EE8-8F78-BE5536D4800B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50" autoAdjust="0"/>
    <p:restoredTop sz="94622" autoAdjust="0"/>
  </p:normalViewPr>
  <p:slideViewPr>
    <p:cSldViewPr showGuides="1">
      <p:cViewPr varScale="1">
        <p:scale>
          <a:sx n="59" d="100"/>
          <a:sy n="59" d="100"/>
        </p:scale>
        <p:origin x="56" y="368"/>
      </p:cViewPr>
      <p:guideLst>
        <p:guide orient="horz" pos="2144"/>
        <p:guide pos="28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3060" y="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8" Type="http://schemas.openxmlformats.org/officeDocument/2006/relationships/tags" Target="tags/tag56.xml"/><Relationship Id="rId37" Type="http://schemas.openxmlformats.org/officeDocument/2006/relationships/font" Target="fonts/font6.fntdata"/><Relationship Id="rId36" Type="http://schemas.openxmlformats.org/officeDocument/2006/relationships/font" Target="fonts/font5.fntdata"/><Relationship Id="rId35" Type="http://schemas.openxmlformats.org/officeDocument/2006/relationships/font" Target="fonts/font4.fntdata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4" Type="http://schemas.microsoft.com/office/2011/relationships/chartColorStyle" Target="colors1.xml"/><Relationship Id="rId3" Type="http://schemas.microsoft.com/office/2011/relationships/chartStyle" Target="style1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596101905248558"/>
          <c:y val="0.189119564659761"/>
          <c:w val="0.938199868603548"/>
          <c:h val="0.73164347905213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Sheet1!$A$2:$A$4</c:f>
              <c:strCache>
                <c:ptCount val="3"/>
                <c:pt idx="0">
                  <c:v>普通 ROI</c:v>
                </c:pt>
                <c:pt idx="1">
                  <c:v>ROI + LCC</c:v>
                </c:pt>
                <c:pt idx="2">
                  <c:v>ROI质量门控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0.8362</c:v>
                </c:pt>
                <c:pt idx="1">
                  <c:v>0.8284</c:v>
                </c:pt>
                <c:pt idx="2">
                  <c:v>0.8532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</c:v>
                </c:pt>
              </c:strCache>
            </c:strRef>
          </c:tx>
          <c:spPr>
            <a:ln w="317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Sheet1!$A$2:$A$4</c:f>
              <c:strCache>
                <c:ptCount val="3"/>
                <c:pt idx="0">
                  <c:v>普通 ROI</c:v>
                </c:pt>
                <c:pt idx="1">
                  <c:v>ROI + LCC</c:v>
                </c:pt>
                <c:pt idx="2">
                  <c:v>ROI质量门控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0.8429</c:v>
                </c:pt>
                <c:pt idx="1">
                  <c:v>0.8524</c:v>
                </c:pt>
                <c:pt idx="2">
                  <c:v>0.8667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Sensitivity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Sheet1!$A$2:$A$4</c:f>
              <c:strCache>
                <c:ptCount val="3"/>
                <c:pt idx="0">
                  <c:v>普通 ROI</c:v>
                </c:pt>
                <c:pt idx="1">
                  <c:v>ROI + LCC</c:v>
                </c:pt>
                <c:pt idx="2">
                  <c:v>ROI质量门控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0.833</c:v>
                </c:pt>
                <c:pt idx="1">
                  <c:v>0.8169</c:v>
                </c:pt>
                <c:pt idx="2">
                  <c:v>0.8467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Specificity</c:v>
                </c:pt>
              </c:strCache>
            </c:strRef>
          </c:tx>
          <c:spPr>
            <a:ln w="317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Sheet1!$A$2:$A$4</c:f>
              <c:strCache>
                <c:ptCount val="3"/>
                <c:pt idx="0">
                  <c:v>普通 ROI</c:v>
                </c:pt>
                <c:pt idx="1">
                  <c:v>ROI + LCC</c:v>
                </c:pt>
                <c:pt idx="2">
                  <c:v>ROI质量门控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0.708</c:v>
                </c:pt>
                <c:pt idx="1">
                  <c:v>0.6911</c:v>
                </c:pt>
                <c:pt idx="2">
                  <c:v>0.7309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Precision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Sheet1!$A$2:$A$4</c:f>
              <c:strCache>
                <c:ptCount val="3"/>
                <c:pt idx="0">
                  <c:v>普通 ROI</c:v>
                </c:pt>
                <c:pt idx="1">
                  <c:v>ROI + LCC</c:v>
                </c:pt>
                <c:pt idx="2">
                  <c:v>ROI质量门控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0.7696</c:v>
                </c:pt>
                <c:pt idx="1">
                  <c:v>0.7633</c:v>
                </c:pt>
                <c:pt idx="2">
                  <c:v>0.793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"F1"</c:f>
              <c:strCache>
                <c:ptCount val="1"/>
                <c:pt idx="0">
                  <c:v>F1</c:v>
                </c:pt>
              </c:strCache>
            </c:strRef>
          </c:tx>
          <c:spPr>
            <a:ln w="317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Sheet1!$A$2:$A$4</c:f>
              <c:strCache>
                <c:ptCount val="3"/>
                <c:pt idx="0">
                  <c:v>普通 ROI</c:v>
                </c:pt>
                <c:pt idx="1">
                  <c:v>ROI + LCC</c:v>
                </c:pt>
                <c:pt idx="2">
                  <c:v>ROI质量门控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0.7696</c:v>
                </c:pt>
                <c:pt idx="1">
                  <c:v>0.7633</c:v>
                </c:pt>
                <c:pt idx="2">
                  <c:v>0.793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868709114"/>
        <c:axId val="450049020"/>
      </c:lineChart>
      <c:catAx>
        <c:axId val="868709114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450049020"/>
        <c:crosses val="autoZero"/>
        <c:auto val="1"/>
        <c:lblAlgn val="ctr"/>
        <c:lblOffset val="100"/>
        <c:noMultiLvlLbl val="0"/>
      </c:catAx>
      <c:valAx>
        <c:axId val="450049020"/>
        <c:scaling>
          <c:orientation val="minMax"/>
          <c:min val="0.65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86870911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5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116147501874446"/>
          <c:y val="0.032770355432316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18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f36a0ab-e860-43aa-8559-9cd55b25e7ae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round/>
    </a:ln>
    <a:effectLst/>
  </c:spPr>
  <c:txPr>
    <a:bodyPr/>
    <a:lstStyle/>
    <a:p>
      <a:pPr>
        <a:defRPr lang="zh-CN" sz="18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7"/>
          <p:cNvGrpSpPr/>
          <p:nvPr userDrawn="1"/>
        </p:nvGrpSpPr>
        <p:grpSpPr>
          <a:xfrm>
            <a:off x="-533400" y="-13659"/>
            <a:ext cx="18982578" cy="874676"/>
            <a:chOff x="33072" y="-22636"/>
            <a:chExt cx="25502598" cy="931082"/>
          </a:xfrm>
        </p:grpSpPr>
        <p:sp>
          <p:nvSpPr>
            <p:cNvPr id="9" name="Freeform 28"/>
            <p:cNvSpPr/>
            <p:nvPr/>
          </p:nvSpPr>
          <p:spPr>
            <a:xfrm>
              <a:off x="33072" y="-22636"/>
              <a:ext cx="25502598" cy="931082"/>
            </a:xfrm>
            <a:custGeom>
              <a:avLst/>
              <a:gdLst/>
              <a:ahLst/>
              <a:cxnLst/>
              <a:rect l="l" t="t" r="r" b="b"/>
              <a:pathLst>
                <a:path w="25502598" h="931082">
                  <a:moveTo>
                    <a:pt x="0" y="155131"/>
                  </a:moveTo>
                  <a:cubicBezTo>
                    <a:pt x="0" y="69428"/>
                    <a:pt x="68380" y="0"/>
                    <a:pt x="152789" y="0"/>
                  </a:cubicBezTo>
                  <a:lnTo>
                    <a:pt x="25349809" y="0"/>
                  </a:lnTo>
                  <a:cubicBezTo>
                    <a:pt x="25434218" y="0"/>
                    <a:pt x="25502598" y="69428"/>
                    <a:pt x="25502598" y="155131"/>
                  </a:cubicBezTo>
                  <a:lnTo>
                    <a:pt x="25502598" y="775951"/>
                  </a:lnTo>
                  <a:cubicBezTo>
                    <a:pt x="25502598" y="861654"/>
                    <a:pt x="25434218" y="931082"/>
                    <a:pt x="25349809" y="931082"/>
                  </a:cubicBezTo>
                  <a:lnTo>
                    <a:pt x="152789" y="931082"/>
                  </a:lnTo>
                  <a:cubicBezTo>
                    <a:pt x="68380" y="931082"/>
                    <a:pt x="0" y="861654"/>
                    <a:pt x="0" y="775951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4"/>
          <p:cNvSpPr/>
          <p:nvPr userDrawn="1"/>
        </p:nvSpPr>
        <p:spPr>
          <a:xfrm>
            <a:off x="729895" y="-3867"/>
            <a:ext cx="3244786" cy="855091"/>
          </a:xfrm>
          <a:custGeom>
            <a:avLst/>
            <a:gdLst/>
            <a:ahLst/>
            <a:cxnLst/>
            <a:rect l="l" t="t" r="r" b="b"/>
            <a:pathLst>
              <a:path w="3244786" h="814768">
                <a:moveTo>
                  <a:pt x="0" y="0"/>
                </a:moveTo>
                <a:lnTo>
                  <a:pt x="3244786" y="0"/>
                </a:lnTo>
                <a:lnTo>
                  <a:pt x="3244786" y="814769"/>
                </a:lnTo>
                <a:lnTo>
                  <a:pt x="0" y="814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sp>
        <p:nvSpPr>
          <p:cNvPr id="10" name="TextBox 33"/>
          <p:cNvSpPr txBox="1"/>
          <p:nvPr userDrawn="1"/>
        </p:nvSpPr>
        <p:spPr>
          <a:xfrm>
            <a:off x="4321066" y="210204"/>
            <a:ext cx="25927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数据源</a:t>
            </a: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分类运用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11" name="TextBox 34"/>
          <p:cNvSpPr txBox="1"/>
          <p:nvPr userDrawn="1"/>
        </p:nvSpPr>
        <p:spPr>
          <a:xfrm>
            <a:off x="7823022" y="210206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建模算法与演示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  <p:sp>
        <p:nvSpPr>
          <p:cNvPr id="12" name="TextBox 35"/>
          <p:cNvSpPr txBox="1"/>
          <p:nvPr userDrawn="1"/>
        </p:nvSpPr>
        <p:spPr>
          <a:xfrm>
            <a:off x="11378513" y="210205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实验结果及分析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  <p:sp>
        <p:nvSpPr>
          <p:cNvPr id="13" name="TextBox 36"/>
          <p:cNvSpPr txBox="1"/>
          <p:nvPr userDrawn="1"/>
        </p:nvSpPr>
        <p:spPr>
          <a:xfrm>
            <a:off x="1053695" y="156105"/>
            <a:ext cx="2920986" cy="473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algn="l" defTabSz="914400" rtl="0" eaLnBrk="1" latinLnBrk="0" hangingPunct="1">
              <a:lnSpc>
                <a:spcPts val="3960"/>
              </a:lnSpc>
            </a:pPr>
            <a:r>
              <a:rPr lang="zh-CN" alt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背景</a:t>
            </a:r>
            <a:r>
              <a:rPr 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问题与</a:t>
            </a:r>
            <a:r>
              <a:rPr lang="zh-CN" alt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分析</a:t>
            </a:r>
            <a:endParaRPr lang="en-US" sz="2900" b="1" kern="1200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4" name="TextBox 38"/>
          <p:cNvSpPr txBox="1"/>
          <p:nvPr userDrawn="1"/>
        </p:nvSpPr>
        <p:spPr>
          <a:xfrm>
            <a:off x="14934005" y="210206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模型优势态总结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grpSp>
        <p:nvGrpSpPr>
          <p:cNvPr id="7" name="Group 27"/>
          <p:cNvGrpSpPr/>
          <p:nvPr userDrawn="1"/>
        </p:nvGrpSpPr>
        <p:grpSpPr>
          <a:xfrm>
            <a:off x="-533400" y="-13659"/>
            <a:ext cx="18982578" cy="874676"/>
            <a:chOff x="33072" y="-22636"/>
            <a:chExt cx="25502598" cy="931082"/>
          </a:xfrm>
        </p:grpSpPr>
        <p:sp>
          <p:nvSpPr>
            <p:cNvPr id="8" name="Freeform 28"/>
            <p:cNvSpPr/>
            <p:nvPr/>
          </p:nvSpPr>
          <p:spPr>
            <a:xfrm>
              <a:off x="33072" y="-22636"/>
              <a:ext cx="25502598" cy="931082"/>
            </a:xfrm>
            <a:custGeom>
              <a:avLst/>
              <a:gdLst/>
              <a:ahLst/>
              <a:cxnLst/>
              <a:rect l="l" t="t" r="r" b="b"/>
              <a:pathLst>
                <a:path w="25502598" h="931082">
                  <a:moveTo>
                    <a:pt x="0" y="155131"/>
                  </a:moveTo>
                  <a:cubicBezTo>
                    <a:pt x="0" y="69428"/>
                    <a:pt x="68380" y="0"/>
                    <a:pt x="152789" y="0"/>
                  </a:cubicBezTo>
                  <a:lnTo>
                    <a:pt x="25349809" y="0"/>
                  </a:lnTo>
                  <a:cubicBezTo>
                    <a:pt x="25434218" y="0"/>
                    <a:pt x="25502598" y="69428"/>
                    <a:pt x="25502598" y="155131"/>
                  </a:cubicBezTo>
                  <a:lnTo>
                    <a:pt x="25502598" y="775951"/>
                  </a:lnTo>
                  <a:cubicBezTo>
                    <a:pt x="25502598" y="861654"/>
                    <a:pt x="25434218" y="931082"/>
                    <a:pt x="25349809" y="931082"/>
                  </a:cubicBezTo>
                  <a:lnTo>
                    <a:pt x="152789" y="931082"/>
                  </a:lnTo>
                  <a:cubicBezTo>
                    <a:pt x="68380" y="931082"/>
                    <a:pt x="0" y="861654"/>
                    <a:pt x="0" y="775951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" name="Freeform 4"/>
          <p:cNvSpPr/>
          <p:nvPr userDrawn="1"/>
        </p:nvSpPr>
        <p:spPr>
          <a:xfrm>
            <a:off x="3968268" y="-13659"/>
            <a:ext cx="3244786" cy="855091"/>
          </a:xfrm>
          <a:custGeom>
            <a:avLst/>
            <a:gdLst/>
            <a:ahLst/>
            <a:cxnLst/>
            <a:rect l="l" t="t" r="r" b="b"/>
            <a:pathLst>
              <a:path w="3244786" h="814768">
                <a:moveTo>
                  <a:pt x="0" y="0"/>
                </a:moveTo>
                <a:lnTo>
                  <a:pt x="3244786" y="0"/>
                </a:lnTo>
                <a:lnTo>
                  <a:pt x="3244786" y="814769"/>
                </a:lnTo>
                <a:lnTo>
                  <a:pt x="0" y="814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" name="TextBox 33"/>
          <p:cNvSpPr txBox="1"/>
          <p:nvPr userDrawn="1"/>
        </p:nvSpPr>
        <p:spPr>
          <a:xfrm>
            <a:off x="4316763" y="177283"/>
            <a:ext cx="2592724" cy="473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algn="l" defTabSz="914400" rtl="0" eaLnBrk="1" latinLnBrk="0" hangingPunct="1">
              <a:lnSpc>
                <a:spcPts val="3960"/>
              </a:lnSpc>
            </a:pPr>
            <a:r>
              <a:rPr 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数据源</a:t>
            </a:r>
            <a:r>
              <a:rPr lang="zh-CN" alt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分类运用</a:t>
            </a:r>
            <a:endParaRPr lang="en-US" sz="2900" b="1" kern="1200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1" name="TextBox 34"/>
          <p:cNvSpPr txBox="1"/>
          <p:nvPr userDrawn="1"/>
        </p:nvSpPr>
        <p:spPr>
          <a:xfrm>
            <a:off x="7823022" y="210206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建模算法与演示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  <p:sp>
        <p:nvSpPr>
          <p:cNvPr id="12" name="TextBox 35"/>
          <p:cNvSpPr txBox="1"/>
          <p:nvPr userDrawn="1"/>
        </p:nvSpPr>
        <p:spPr>
          <a:xfrm>
            <a:off x="11378513" y="210205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实验结果及分析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  <p:sp>
        <p:nvSpPr>
          <p:cNvPr id="13" name="TextBox 36"/>
          <p:cNvSpPr txBox="1"/>
          <p:nvPr userDrawn="1"/>
        </p:nvSpPr>
        <p:spPr>
          <a:xfrm>
            <a:off x="680566" y="261835"/>
            <a:ext cx="2920986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algn="ctr" defTabSz="914400" rtl="0" eaLnBrk="1" latinLnBrk="0" hangingPunct="1">
              <a:lnSpc>
                <a:spcPts val="3240"/>
              </a:lnSpc>
            </a:pP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背景</a:t>
            </a: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问题与</a:t>
            </a: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分析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4" name="TextBox 38"/>
          <p:cNvSpPr txBox="1"/>
          <p:nvPr userDrawn="1"/>
        </p:nvSpPr>
        <p:spPr>
          <a:xfrm>
            <a:off x="14934005" y="210206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模型优势态总结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grpSp>
        <p:nvGrpSpPr>
          <p:cNvPr id="15" name="Group 27"/>
          <p:cNvGrpSpPr/>
          <p:nvPr userDrawn="1"/>
        </p:nvGrpSpPr>
        <p:grpSpPr>
          <a:xfrm>
            <a:off x="-114300" y="-38100"/>
            <a:ext cx="18516600" cy="874676"/>
            <a:chOff x="1278315" y="-22636"/>
            <a:chExt cx="24207544" cy="931082"/>
          </a:xfrm>
        </p:grpSpPr>
        <p:sp>
          <p:nvSpPr>
            <p:cNvPr id="22" name="Freeform 28"/>
            <p:cNvSpPr/>
            <p:nvPr userDrawn="1"/>
          </p:nvSpPr>
          <p:spPr>
            <a:xfrm>
              <a:off x="1278315" y="-22636"/>
              <a:ext cx="24207544" cy="931082"/>
            </a:xfrm>
            <a:custGeom>
              <a:avLst/>
              <a:gdLst/>
              <a:ahLst/>
              <a:cxnLst/>
              <a:rect l="l" t="t" r="r" b="b"/>
              <a:pathLst>
                <a:path w="25502598" h="931082">
                  <a:moveTo>
                    <a:pt x="0" y="155131"/>
                  </a:moveTo>
                  <a:cubicBezTo>
                    <a:pt x="0" y="69428"/>
                    <a:pt x="68380" y="0"/>
                    <a:pt x="152789" y="0"/>
                  </a:cubicBezTo>
                  <a:lnTo>
                    <a:pt x="25349809" y="0"/>
                  </a:lnTo>
                  <a:cubicBezTo>
                    <a:pt x="25434218" y="0"/>
                    <a:pt x="25502598" y="69428"/>
                    <a:pt x="25502598" y="155131"/>
                  </a:cubicBezTo>
                  <a:lnTo>
                    <a:pt x="25502598" y="775951"/>
                  </a:lnTo>
                  <a:cubicBezTo>
                    <a:pt x="25502598" y="861654"/>
                    <a:pt x="25434218" y="931082"/>
                    <a:pt x="25349809" y="931082"/>
                  </a:cubicBezTo>
                  <a:lnTo>
                    <a:pt x="152789" y="931082"/>
                  </a:lnTo>
                  <a:cubicBezTo>
                    <a:pt x="68380" y="931082"/>
                    <a:pt x="0" y="861654"/>
                    <a:pt x="0" y="775951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" name="Freeform 4"/>
          <p:cNvSpPr/>
          <p:nvPr userDrawn="1"/>
        </p:nvSpPr>
        <p:spPr>
          <a:xfrm>
            <a:off x="7178557" y="-18515"/>
            <a:ext cx="3244786" cy="855091"/>
          </a:xfrm>
          <a:custGeom>
            <a:avLst/>
            <a:gdLst/>
            <a:ahLst/>
            <a:cxnLst/>
            <a:rect l="l" t="t" r="r" b="b"/>
            <a:pathLst>
              <a:path w="3244786" h="814768">
                <a:moveTo>
                  <a:pt x="0" y="0"/>
                </a:moveTo>
                <a:lnTo>
                  <a:pt x="3244786" y="0"/>
                </a:lnTo>
                <a:lnTo>
                  <a:pt x="3244786" y="814769"/>
                </a:lnTo>
                <a:lnTo>
                  <a:pt x="0" y="814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" name="TextBox 33"/>
          <p:cNvSpPr txBox="1"/>
          <p:nvPr userDrawn="1"/>
        </p:nvSpPr>
        <p:spPr>
          <a:xfrm>
            <a:off x="4025044" y="195556"/>
            <a:ext cx="25927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数据源</a:t>
            </a: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分类运用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18" name="TextBox 34"/>
          <p:cNvSpPr txBox="1"/>
          <p:nvPr userDrawn="1"/>
        </p:nvSpPr>
        <p:spPr>
          <a:xfrm>
            <a:off x="7524530" y="131216"/>
            <a:ext cx="2592724" cy="473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 rtl="0" eaLnBrk="1" latinLnBrk="0" hangingPunct="1">
              <a:lnSpc>
                <a:spcPts val="3960"/>
              </a:lnSpc>
            </a:pPr>
            <a:r>
              <a:rPr 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建模算法与演示</a:t>
            </a:r>
            <a:endParaRPr lang="en-US" sz="2900" b="1" kern="1200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9" name="TextBox 35"/>
          <p:cNvSpPr txBox="1"/>
          <p:nvPr userDrawn="1"/>
        </p:nvSpPr>
        <p:spPr>
          <a:xfrm>
            <a:off x="11082491" y="195557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实验结果及分析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  <p:sp>
        <p:nvSpPr>
          <p:cNvPr id="20" name="TextBox 36"/>
          <p:cNvSpPr txBox="1"/>
          <p:nvPr userDrawn="1"/>
        </p:nvSpPr>
        <p:spPr>
          <a:xfrm>
            <a:off x="758085" y="194053"/>
            <a:ext cx="2920986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914400" rtl="0" eaLnBrk="1" latinLnBrk="0" hangingPunct="1">
              <a:lnSpc>
                <a:spcPts val="3240"/>
              </a:lnSpc>
            </a:pP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背景</a:t>
            </a: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问题与</a:t>
            </a: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分析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21" name="TextBox 38"/>
          <p:cNvSpPr txBox="1"/>
          <p:nvPr userDrawn="1"/>
        </p:nvSpPr>
        <p:spPr>
          <a:xfrm>
            <a:off x="14637983" y="195558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模型优势态总结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grpSp>
        <p:nvGrpSpPr>
          <p:cNvPr id="8" name="Group 27"/>
          <p:cNvGrpSpPr/>
          <p:nvPr userDrawn="1"/>
        </p:nvGrpSpPr>
        <p:grpSpPr>
          <a:xfrm>
            <a:off x="-194889" y="-40342"/>
            <a:ext cx="18677778" cy="874676"/>
            <a:chOff x="33072" y="-22636"/>
            <a:chExt cx="25502598" cy="931082"/>
          </a:xfrm>
        </p:grpSpPr>
        <p:sp>
          <p:nvSpPr>
            <p:cNvPr id="9" name="Freeform 28"/>
            <p:cNvSpPr/>
            <p:nvPr userDrawn="1"/>
          </p:nvSpPr>
          <p:spPr>
            <a:xfrm>
              <a:off x="33072" y="-22636"/>
              <a:ext cx="25502598" cy="931082"/>
            </a:xfrm>
            <a:custGeom>
              <a:avLst/>
              <a:gdLst/>
              <a:ahLst/>
              <a:cxnLst/>
              <a:rect l="l" t="t" r="r" b="b"/>
              <a:pathLst>
                <a:path w="25502598" h="931082">
                  <a:moveTo>
                    <a:pt x="0" y="155131"/>
                  </a:moveTo>
                  <a:cubicBezTo>
                    <a:pt x="0" y="69428"/>
                    <a:pt x="68380" y="0"/>
                    <a:pt x="152789" y="0"/>
                  </a:cubicBezTo>
                  <a:lnTo>
                    <a:pt x="25349809" y="0"/>
                  </a:lnTo>
                  <a:cubicBezTo>
                    <a:pt x="25434218" y="0"/>
                    <a:pt x="25502598" y="69428"/>
                    <a:pt x="25502598" y="155131"/>
                  </a:cubicBezTo>
                  <a:lnTo>
                    <a:pt x="25502598" y="775951"/>
                  </a:lnTo>
                  <a:cubicBezTo>
                    <a:pt x="25502598" y="861654"/>
                    <a:pt x="25434218" y="931082"/>
                    <a:pt x="25349809" y="931082"/>
                  </a:cubicBezTo>
                  <a:lnTo>
                    <a:pt x="152789" y="931082"/>
                  </a:lnTo>
                  <a:cubicBezTo>
                    <a:pt x="68380" y="931082"/>
                    <a:pt x="0" y="861654"/>
                    <a:pt x="0" y="775951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0" name="Freeform 4"/>
          <p:cNvSpPr/>
          <p:nvPr userDrawn="1"/>
        </p:nvSpPr>
        <p:spPr>
          <a:xfrm>
            <a:off x="10749303" y="-18515"/>
            <a:ext cx="3244786" cy="855091"/>
          </a:xfrm>
          <a:custGeom>
            <a:avLst/>
            <a:gdLst/>
            <a:ahLst/>
            <a:cxnLst/>
            <a:rect l="l" t="t" r="r" b="b"/>
            <a:pathLst>
              <a:path w="3244786" h="814768">
                <a:moveTo>
                  <a:pt x="0" y="0"/>
                </a:moveTo>
                <a:lnTo>
                  <a:pt x="3244786" y="0"/>
                </a:lnTo>
                <a:lnTo>
                  <a:pt x="3244786" y="814769"/>
                </a:lnTo>
                <a:lnTo>
                  <a:pt x="0" y="814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" name="TextBox 33"/>
          <p:cNvSpPr txBox="1"/>
          <p:nvPr userDrawn="1"/>
        </p:nvSpPr>
        <p:spPr>
          <a:xfrm>
            <a:off x="4025044" y="195556"/>
            <a:ext cx="25927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数据源</a:t>
            </a: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分类运用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12" name="TextBox 34"/>
          <p:cNvSpPr txBox="1"/>
          <p:nvPr userDrawn="1"/>
        </p:nvSpPr>
        <p:spPr>
          <a:xfrm>
            <a:off x="7489437" y="191812"/>
            <a:ext cx="25927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914400" rtl="0" eaLnBrk="1" latinLnBrk="0" hangingPunct="1">
              <a:lnSpc>
                <a:spcPts val="3240"/>
              </a:lnSpc>
            </a:pP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建模算法与演示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3" name="TextBox 35"/>
          <p:cNvSpPr txBox="1"/>
          <p:nvPr userDrawn="1"/>
        </p:nvSpPr>
        <p:spPr>
          <a:xfrm>
            <a:off x="11075334" y="160393"/>
            <a:ext cx="2592724" cy="473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 rtl="0" eaLnBrk="1" latinLnBrk="0" hangingPunct="1">
              <a:lnSpc>
                <a:spcPts val="3960"/>
              </a:lnSpc>
            </a:pPr>
            <a:r>
              <a:rPr 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实验结果及分析</a:t>
            </a:r>
            <a:endParaRPr lang="en-US" sz="2900" b="1" kern="1200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4" name="TextBox 36"/>
          <p:cNvSpPr txBox="1"/>
          <p:nvPr userDrawn="1"/>
        </p:nvSpPr>
        <p:spPr>
          <a:xfrm>
            <a:off x="758085" y="194053"/>
            <a:ext cx="2920986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914400" rtl="0" eaLnBrk="1" latinLnBrk="0" hangingPunct="1">
              <a:lnSpc>
                <a:spcPts val="3240"/>
              </a:lnSpc>
            </a:pP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背景</a:t>
            </a: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问题与</a:t>
            </a: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分析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5" name="TextBox 38"/>
          <p:cNvSpPr txBox="1"/>
          <p:nvPr userDrawn="1"/>
        </p:nvSpPr>
        <p:spPr>
          <a:xfrm>
            <a:off x="14637983" y="195558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模型优势态总结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grpSp>
        <p:nvGrpSpPr>
          <p:cNvPr id="10" name="Group 27"/>
          <p:cNvGrpSpPr/>
          <p:nvPr userDrawn="1"/>
        </p:nvGrpSpPr>
        <p:grpSpPr>
          <a:xfrm>
            <a:off x="-80589" y="-12850"/>
            <a:ext cx="18449178" cy="874676"/>
            <a:chOff x="33072" y="-22636"/>
            <a:chExt cx="25502598" cy="931082"/>
          </a:xfrm>
        </p:grpSpPr>
        <p:sp>
          <p:nvSpPr>
            <p:cNvPr id="11" name="Freeform 28"/>
            <p:cNvSpPr/>
            <p:nvPr userDrawn="1"/>
          </p:nvSpPr>
          <p:spPr>
            <a:xfrm>
              <a:off x="33072" y="-22636"/>
              <a:ext cx="25502598" cy="931082"/>
            </a:xfrm>
            <a:custGeom>
              <a:avLst/>
              <a:gdLst/>
              <a:ahLst/>
              <a:cxnLst/>
              <a:rect l="l" t="t" r="r" b="b"/>
              <a:pathLst>
                <a:path w="25502598" h="931082">
                  <a:moveTo>
                    <a:pt x="0" y="155131"/>
                  </a:moveTo>
                  <a:cubicBezTo>
                    <a:pt x="0" y="69428"/>
                    <a:pt x="68380" y="0"/>
                    <a:pt x="152789" y="0"/>
                  </a:cubicBezTo>
                  <a:lnTo>
                    <a:pt x="25349809" y="0"/>
                  </a:lnTo>
                  <a:cubicBezTo>
                    <a:pt x="25434218" y="0"/>
                    <a:pt x="25502598" y="69428"/>
                    <a:pt x="25502598" y="155131"/>
                  </a:cubicBezTo>
                  <a:lnTo>
                    <a:pt x="25502598" y="775951"/>
                  </a:lnTo>
                  <a:cubicBezTo>
                    <a:pt x="25502598" y="861654"/>
                    <a:pt x="25434218" y="931082"/>
                    <a:pt x="25349809" y="931082"/>
                  </a:cubicBezTo>
                  <a:lnTo>
                    <a:pt x="152789" y="931082"/>
                  </a:lnTo>
                  <a:cubicBezTo>
                    <a:pt x="68380" y="931082"/>
                    <a:pt x="0" y="861654"/>
                    <a:pt x="0" y="775951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" name="Freeform 4"/>
          <p:cNvSpPr/>
          <p:nvPr userDrawn="1"/>
        </p:nvSpPr>
        <p:spPr>
          <a:xfrm>
            <a:off x="14262956" y="-8953"/>
            <a:ext cx="3244786" cy="855091"/>
          </a:xfrm>
          <a:custGeom>
            <a:avLst/>
            <a:gdLst/>
            <a:ahLst/>
            <a:cxnLst/>
            <a:rect l="l" t="t" r="r" b="b"/>
            <a:pathLst>
              <a:path w="3244786" h="814768">
                <a:moveTo>
                  <a:pt x="0" y="0"/>
                </a:moveTo>
                <a:lnTo>
                  <a:pt x="3244786" y="0"/>
                </a:lnTo>
                <a:lnTo>
                  <a:pt x="3244786" y="814769"/>
                </a:lnTo>
                <a:lnTo>
                  <a:pt x="0" y="814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" name="TextBox 33"/>
          <p:cNvSpPr txBox="1"/>
          <p:nvPr userDrawn="1"/>
        </p:nvSpPr>
        <p:spPr>
          <a:xfrm>
            <a:off x="4025044" y="195556"/>
            <a:ext cx="25927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数据源</a:t>
            </a: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分类运用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14" name="TextBox 34"/>
          <p:cNvSpPr txBox="1"/>
          <p:nvPr userDrawn="1"/>
        </p:nvSpPr>
        <p:spPr>
          <a:xfrm>
            <a:off x="7489437" y="191812"/>
            <a:ext cx="25927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914400" rtl="0" eaLnBrk="1" latinLnBrk="0" hangingPunct="1">
              <a:lnSpc>
                <a:spcPts val="3240"/>
              </a:lnSpc>
            </a:pP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建模算法与演示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5" name="TextBox 35"/>
          <p:cNvSpPr txBox="1"/>
          <p:nvPr userDrawn="1"/>
        </p:nvSpPr>
        <p:spPr>
          <a:xfrm>
            <a:off x="11049000" y="128003"/>
            <a:ext cx="2592724" cy="473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 rtl="0" eaLnBrk="1" latinLnBrk="0" hangingPunct="1">
              <a:lnSpc>
                <a:spcPts val="3960"/>
              </a:lnSpc>
            </a:pP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实验结果及分析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6" name="TextBox 36"/>
          <p:cNvSpPr txBox="1"/>
          <p:nvPr userDrawn="1"/>
        </p:nvSpPr>
        <p:spPr>
          <a:xfrm>
            <a:off x="758085" y="194053"/>
            <a:ext cx="2920986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914400" rtl="0" eaLnBrk="1" latinLnBrk="0" hangingPunct="1">
              <a:lnSpc>
                <a:spcPts val="3240"/>
              </a:lnSpc>
            </a:pP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背景</a:t>
            </a: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问题与</a:t>
            </a: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分析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7" name="TextBox 38"/>
          <p:cNvSpPr txBox="1"/>
          <p:nvPr userDrawn="1"/>
        </p:nvSpPr>
        <p:spPr>
          <a:xfrm>
            <a:off x="14588987" y="160393"/>
            <a:ext cx="2592724" cy="473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 rtl="0" eaLnBrk="1" latinLnBrk="0" hangingPunct="1">
              <a:lnSpc>
                <a:spcPts val="3960"/>
              </a:lnSpc>
            </a:pPr>
            <a:r>
              <a:rPr 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模型优势态总结</a:t>
            </a:r>
            <a:endParaRPr lang="en-US" sz="2900" b="1" kern="1200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7"/>
          <p:cNvGrpSpPr/>
          <p:nvPr userDrawn="1"/>
        </p:nvGrpSpPr>
        <p:grpSpPr>
          <a:xfrm>
            <a:off x="-533400" y="-13659"/>
            <a:ext cx="18982578" cy="874676"/>
            <a:chOff x="33072" y="-22636"/>
            <a:chExt cx="25502598" cy="931082"/>
          </a:xfrm>
        </p:grpSpPr>
        <p:sp>
          <p:nvSpPr>
            <p:cNvPr id="9" name="Freeform 28"/>
            <p:cNvSpPr/>
            <p:nvPr/>
          </p:nvSpPr>
          <p:spPr>
            <a:xfrm>
              <a:off x="33072" y="-22636"/>
              <a:ext cx="25502598" cy="931082"/>
            </a:xfrm>
            <a:custGeom>
              <a:avLst/>
              <a:gdLst/>
              <a:ahLst/>
              <a:cxnLst/>
              <a:rect l="l" t="t" r="r" b="b"/>
              <a:pathLst>
                <a:path w="25502598" h="931082">
                  <a:moveTo>
                    <a:pt x="0" y="155131"/>
                  </a:moveTo>
                  <a:cubicBezTo>
                    <a:pt x="0" y="69428"/>
                    <a:pt x="68380" y="0"/>
                    <a:pt x="152789" y="0"/>
                  </a:cubicBezTo>
                  <a:lnTo>
                    <a:pt x="25349809" y="0"/>
                  </a:lnTo>
                  <a:cubicBezTo>
                    <a:pt x="25434218" y="0"/>
                    <a:pt x="25502598" y="69428"/>
                    <a:pt x="25502598" y="155131"/>
                  </a:cubicBezTo>
                  <a:lnTo>
                    <a:pt x="25502598" y="775951"/>
                  </a:lnTo>
                  <a:cubicBezTo>
                    <a:pt x="25502598" y="861654"/>
                    <a:pt x="25434218" y="931082"/>
                    <a:pt x="25349809" y="931082"/>
                  </a:cubicBezTo>
                  <a:lnTo>
                    <a:pt x="152789" y="931082"/>
                  </a:lnTo>
                  <a:cubicBezTo>
                    <a:pt x="68380" y="931082"/>
                    <a:pt x="0" y="861654"/>
                    <a:pt x="0" y="775951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4"/>
          <p:cNvSpPr/>
          <p:nvPr userDrawn="1"/>
        </p:nvSpPr>
        <p:spPr>
          <a:xfrm>
            <a:off x="729895" y="-3867"/>
            <a:ext cx="3244786" cy="855091"/>
          </a:xfrm>
          <a:custGeom>
            <a:avLst/>
            <a:gdLst/>
            <a:ahLst/>
            <a:cxnLst/>
            <a:rect l="l" t="t" r="r" b="b"/>
            <a:pathLst>
              <a:path w="3244786" h="814768">
                <a:moveTo>
                  <a:pt x="0" y="0"/>
                </a:moveTo>
                <a:lnTo>
                  <a:pt x="3244786" y="0"/>
                </a:lnTo>
                <a:lnTo>
                  <a:pt x="3244786" y="814769"/>
                </a:lnTo>
                <a:lnTo>
                  <a:pt x="0" y="814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sp>
        <p:nvSpPr>
          <p:cNvPr id="10" name="TextBox 33"/>
          <p:cNvSpPr txBox="1"/>
          <p:nvPr userDrawn="1"/>
        </p:nvSpPr>
        <p:spPr>
          <a:xfrm>
            <a:off x="4321066" y="210204"/>
            <a:ext cx="25927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数据源</a:t>
            </a: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分类运用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11" name="TextBox 34"/>
          <p:cNvSpPr txBox="1"/>
          <p:nvPr userDrawn="1"/>
        </p:nvSpPr>
        <p:spPr>
          <a:xfrm>
            <a:off x="7823022" y="210206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建模算法与演示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  <p:sp>
        <p:nvSpPr>
          <p:cNvPr id="12" name="TextBox 35"/>
          <p:cNvSpPr txBox="1"/>
          <p:nvPr userDrawn="1"/>
        </p:nvSpPr>
        <p:spPr>
          <a:xfrm>
            <a:off x="11378513" y="210205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实验结果及分析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  <p:sp>
        <p:nvSpPr>
          <p:cNvPr id="13" name="TextBox 36"/>
          <p:cNvSpPr txBox="1"/>
          <p:nvPr userDrawn="1"/>
        </p:nvSpPr>
        <p:spPr>
          <a:xfrm>
            <a:off x="1053695" y="156105"/>
            <a:ext cx="2920986" cy="473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algn="l" defTabSz="914400" rtl="0" eaLnBrk="1" latinLnBrk="0" hangingPunct="1">
              <a:lnSpc>
                <a:spcPts val="3960"/>
              </a:lnSpc>
            </a:pPr>
            <a:r>
              <a:rPr lang="zh-CN" alt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背景</a:t>
            </a:r>
            <a:r>
              <a:rPr 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问题与</a:t>
            </a:r>
            <a:r>
              <a:rPr lang="zh-CN" alt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分析</a:t>
            </a:r>
            <a:endParaRPr lang="en-US" sz="2900" b="1" kern="1200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4" name="TextBox 38"/>
          <p:cNvSpPr txBox="1"/>
          <p:nvPr userDrawn="1"/>
        </p:nvSpPr>
        <p:spPr>
          <a:xfrm>
            <a:off x="14934005" y="210206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模型优势态总结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grpSp>
        <p:nvGrpSpPr>
          <p:cNvPr id="7" name="Group 27"/>
          <p:cNvGrpSpPr/>
          <p:nvPr userDrawn="1"/>
        </p:nvGrpSpPr>
        <p:grpSpPr>
          <a:xfrm>
            <a:off x="-533400" y="-13659"/>
            <a:ext cx="18982578" cy="874676"/>
            <a:chOff x="33072" y="-22636"/>
            <a:chExt cx="25502598" cy="931082"/>
          </a:xfrm>
        </p:grpSpPr>
        <p:sp>
          <p:nvSpPr>
            <p:cNvPr id="8" name="Freeform 28"/>
            <p:cNvSpPr/>
            <p:nvPr/>
          </p:nvSpPr>
          <p:spPr>
            <a:xfrm>
              <a:off x="33072" y="-22636"/>
              <a:ext cx="25502598" cy="931082"/>
            </a:xfrm>
            <a:custGeom>
              <a:avLst/>
              <a:gdLst/>
              <a:ahLst/>
              <a:cxnLst/>
              <a:rect l="l" t="t" r="r" b="b"/>
              <a:pathLst>
                <a:path w="25502598" h="931082">
                  <a:moveTo>
                    <a:pt x="0" y="155131"/>
                  </a:moveTo>
                  <a:cubicBezTo>
                    <a:pt x="0" y="69428"/>
                    <a:pt x="68380" y="0"/>
                    <a:pt x="152789" y="0"/>
                  </a:cubicBezTo>
                  <a:lnTo>
                    <a:pt x="25349809" y="0"/>
                  </a:lnTo>
                  <a:cubicBezTo>
                    <a:pt x="25434218" y="0"/>
                    <a:pt x="25502598" y="69428"/>
                    <a:pt x="25502598" y="155131"/>
                  </a:cubicBezTo>
                  <a:lnTo>
                    <a:pt x="25502598" y="775951"/>
                  </a:lnTo>
                  <a:cubicBezTo>
                    <a:pt x="25502598" y="861654"/>
                    <a:pt x="25434218" y="931082"/>
                    <a:pt x="25349809" y="931082"/>
                  </a:cubicBezTo>
                  <a:lnTo>
                    <a:pt x="152789" y="931082"/>
                  </a:lnTo>
                  <a:cubicBezTo>
                    <a:pt x="68380" y="931082"/>
                    <a:pt x="0" y="861654"/>
                    <a:pt x="0" y="775951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" name="Freeform 4"/>
          <p:cNvSpPr/>
          <p:nvPr userDrawn="1"/>
        </p:nvSpPr>
        <p:spPr>
          <a:xfrm>
            <a:off x="3968268" y="-13659"/>
            <a:ext cx="3244786" cy="855091"/>
          </a:xfrm>
          <a:custGeom>
            <a:avLst/>
            <a:gdLst/>
            <a:ahLst/>
            <a:cxnLst/>
            <a:rect l="l" t="t" r="r" b="b"/>
            <a:pathLst>
              <a:path w="3244786" h="814768">
                <a:moveTo>
                  <a:pt x="0" y="0"/>
                </a:moveTo>
                <a:lnTo>
                  <a:pt x="3244786" y="0"/>
                </a:lnTo>
                <a:lnTo>
                  <a:pt x="3244786" y="814769"/>
                </a:lnTo>
                <a:lnTo>
                  <a:pt x="0" y="814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" name="TextBox 33"/>
          <p:cNvSpPr txBox="1"/>
          <p:nvPr userDrawn="1"/>
        </p:nvSpPr>
        <p:spPr>
          <a:xfrm>
            <a:off x="4316763" y="177283"/>
            <a:ext cx="2592724" cy="473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algn="l" defTabSz="914400" rtl="0" eaLnBrk="1" latinLnBrk="0" hangingPunct="1">
              <a:lnSpc>
                <a:spcPts val="3960"/>
              </a:lnSpc>
            </a:pPr>
            <a:r>
              <a:rPr 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数据源</a:t>
            </a:r>
            <a:r>
              <a:rPr lang="zh-CN" alt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分类运用</a:t>
            </a:r>
            <a:endParaRPr lang="en-US" sz="2900" b="1" kern="1200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1" name="TextBox 34"/>
          <p:cNvSpPr txBox="1"/>
          <p:nvPr userDrawn="1"/>
        </p:nvSpPr>
        <p:spPr>
          <a:xfrm>
            <a:off x="7823022" y="210206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建模算法与演示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  <p:sp>
        <p:nvSpPr>
          <p:cNvPr id="12" name="TextBox 35"/>
          <p:cNvSpPr txBox="1"/>
          <p:nvPr userDrawn="1"/>
        </p:nvSpPr>
        <p:spPr>
          <a:xfrm>
            <a:off x="11378513" y="210205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实验结果及分析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  <p:sp>
        <p:nvSpPr>
          <p:cNvPr id="13" name="TextBox 36"/>
          <p:cNvSpPr txBox="1"/>
          <p:nvPr userDrawn="1"/>
        </p:nvSpPr>
        <p:spPr>
          <a:xfrm>
            <a:off x="680566" y="261835"/>
            <a:ext cx="2920986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algn="ctr" defTabSz="914400" rtl="0" eaLnBrk="1" latinLnBrk="0" hangingPunct="1">
              <a:lnSpc>
                <a:spcPts val="3240"/>
              </a:lnSpc>
            </a:pP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背景</a:t>
            </a: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问题与</a:t>
            </a: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分析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4" name="TextBox 38"/>
          <p:cNvSpPr txBox="1"/>
          <p:nvPr userDrawn="1"/>
        </p:nvSpPr>
        <p:spPr>
          <a:xfrm>
            <a:off x="14934005" y="210206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模型优势态总结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grpSp>
        <p:nvGrpSpPr>
          <p:cNvPr id="15" name="Group 27"/>
          <p:cNvGrpSpPr/>
          <p:nvPr userDrawn="1"/>
        </p:nvGrpSpPr>
        <p:grpSpPr>
          <a:xfrm>
            <a:off x="-114300" y="-38100"/>
            <a:ext cx="18516600" cy="874676"/>
            <a:chOff x="1278315" y="-22636"/>
            <a:chExt cx="24207544" cy="931082"/>
          </a:xfrm>
        </p:grpSpPr>
        <p:sp>
          <p:nvSpPr>
            <p:cNvPr id="22" name="Freeform 28"/>
            <p:cNvSpPr/>
            <p:nvPr userDrawn="1"/>
          </p:nvSpPr>
          <p:spPr>
            <a:xfrm>
              <a:off x="1278315" y="-22636"/>
              <a:ext cx="24207544" cy="931082"/>
            </a:xfrm>
            <a:custGeom>
              <a:avLst/>
              <a:gdLst/>
              <a:ahLst/>
              <a:cxnLst/>
              <a:rect l="l" t="t" r="r" b="b"/>
              <a:pathLst>
                <a:path w="25502598" h="931082">
                  <a:moveTo>
                    <a:pt x="0" y="155131"/>
                  </a:moveTo>
                  <a:cubicBezTo>
                    <a:pt x="0" y="69428"/>
                    <a:pt x="68380" y="0"/>
                    <a:pt x="152789" y="0"/>
                  </a:cubicBezTo>
                  <a:lnTo>
                    <a:pt x="25349809" y="0"/>
                  </a:lnTo>
                  <a:cubicBezTo>
                    <a:pt x="25434218" y="0"/>
                    <a:pt x="25502598" y="69428"/>
                    <a:pt x="25502598" y="155131"/>
                  </a:cubicBezTo>
                  <a:lnTo>
                    <a:pt x="25502598" y="775951"/>
                  </a:lnTo>
                  <a:cubicBezTo>
                    <a:pt x="25502598" y="861654"/>
                    <a:pt x="25434218" y="931082"/>
                    <a:pt x="25349809" y="931082"/>
                  </a:cubicBezTo>
                  <a:lnTo>
                    <a:pt x="152789" y="931082"/>
                  </a:lnTo>
                  <a:cubicBezTo>
                    <a:pt x="68380" y="931082"/>
                    <a:pt x="0" y="861654"/>
                    <a:pt x="0" y="775951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" name="Freeform 4"/>
          <p:cNvSpPr/>
          <p:nvPr userDrawn="1"/>
        </p:nvSpPr>
        <p:spPr>
          <a:xfrm>
            <a:off x="7178557" y="-18515"/>
            <a:ext cx="3244786" cy="855091"/>
          </a:xfrm>
          <a:custGeom>
            <a:avLst/>
            <a:gdLst/>
            <a:ahLst/>
            <a:cxnLst/>
            <a:rect l="l" t="t" r="r" b="b"/>
            <a:pathLst>
              <a:path w="3244786" h="814768">
                <a:moveTo>
                  <a:pt x="0" y="0"/>
                </a:moveTo>
                <a:lnTo>
                  <a:pt x="3244786" y="0"/>
                </a:lnTo>
                <a:lnTo>
                  <a:pt x="3244786" y="814769"/>
                </a:lnTo>
                <a:lnTo>
                  <a:pt x="0" y="814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" name="TextBox 33"/>
          <p:cNvSpPr txBox="1"/>
          <p:nvPr userDrawn="1"/>
        </p:nvSpPr>
        <p:spPr>
          <a:xfrm>
            <a:off x="4025044" y="195556"/>
            <a:ext cx="25927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数据源</a:t>
            </a: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分类运用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18" name="TextBox 34"/>
          <p:cNvSpPr txBox="1"/>
          <p:nvPr userDrawn="1"/>
        </p:nvSpPr>
        <p:spPr>
          <a:xfrm>
            <a:off x="7524530" y="131216"/>
            <a:ext cx="2592724" cy="473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 rtl="0" eaLnBrk="1" latinLnBrk="0" hangingPunct="1">
              <a:lnSpc>
                <a:spcPts val="3960"/>
              </a:lnSpc>
            </a:pPr>
            <a:r>
              <a:rPr 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建模算法与演示</a:t>
            </a:r>
            <a:endParaRPr lang="en-US" sz="2900" b="1" kern="1200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9" name="TextBox 35"/>
          <p:cNvSpPr txBox="1"/>
          <p:nvPr userDrawn="1"/>
        </p:nvSpPr>
        <p:spPr>
          <a:xfrm>
            <a:off x="11082491" y="195557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实验结果及分析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  <p:sp>
        <p:nvSpPr>
          <p:cNvPr id="20" name="TextBox 36"/>
          <p:cNvSpPr txBox="1"/>
          <p:nvPr userDrawn="1"/>
        </p:nvSpPr>
        <p:spPr>
          <a:xfrm>
            <a:off x="758085" y="194053"/>
            <a:ext cx="2920986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914400" rtl="0" eaLnBrk="1" latinLnBrk="0" hangingPunct="1">
              <a:lnSpc>
                <a:spcPts val="3240"/>
              </a:lnSpc>
            </a:pP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背景</a:t>
            </a: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问题与</a:t>
            </a: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分析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21" name="TextBox 38"/>
          <p:cNvSpPr txBox="1"/>
          <p:nvPr userDrawn="1"/>
        </p:nvSpPr>
        <p:spPr>
          <a:xfrm>
            <a:off x="14637983" y="195558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模型优势态总结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grpSp>
        <p:nvGrpSpPr>
          <p:cNvPr id="8" name="Group 27"/>
          <p:cNvGrpSpPr/>
          <p:nvPr userDrawn="1"/>
        </p:nvGrpSpPr>
        <p:grpSpPr>
          <a:xfrm>
            <a:off x="-194889" y="-40342"/>
            <a:ext cx="18677778" cy="874676"/>
            <a:chOff x="33072" y="-22636"/>
            <a:chExt cx="25502598" cy="931082"/>
          </a:xfrm>
        </p:grpSpPr>
        <p:sp>
          <p:nvSpPr>
            <p:cNvPr id="9" name="Freeform 28"/>
            <p:cNvSpPr/>
            <p:nvPr userDrawn="1"/>
          </p:nvSpPr>
          <p:spPr>
            <a:xfrm>
              <a:off x="33072" y="-22636"/>
              <a:ext cx="25502598" cy="931082"/>
            </a:xfrm>
            <a:custGeom>
              <a:avLst/>
              <a:gdLst/>
              <a:ahLst/>
              <a:cxnLst/>
              <a:rect l="l" t="t" r="r" b="b"/>
              <a:pathLst>
                <a:path w="25502598" h="931082">
                  <a:moveTo>
                    <a:pt x="0" y="155131"/>
                  </a:moveTo>
                  <a:cubicBezTo>
                    <a:pt x="0" y="69428"/>
                    <a:pt x="68380" y="0"/>
                    <a:pt x="152789" y="0"/>
                  </a:cubicBezTo>
                  <a:lnTo>
                    <a:pt x="25349809" y="0"/>
                  </a:lnTo>
                  <a:cubicBezTo>
                    <a:pt x="25434218" y="0"/>
                    <a:pt x="25502598" y="69428"/>
                    <a:pt x="25502598" y="155131"/>
                  </a:cubicBezTo>
                  <a:lnTo>
                    <a:pt x="25502598" y="775951"/>
                  </a:lnTo>
                  <a:cubicBezTo>
                    <a:pt x="25502598" y="861654"/>
                    <a:pt x="25434218" y="931082"/>
                    <a:pt x="25349809" y="931082"/>
                  </a:cubicBezTo>
                  <a:lnTo>
                    <a:pt x="152789" y="931082"/>
                  </a:lnTo>
                  <a:cubicBezTo>
                    <a:pt x="68380" y="931082"/>
                    <a:pt x="0" y="861654"/>
                    <a:pt x="0" y="775951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0" name="Freeform 4"/>
          <p:cNvSpPr/>
          <p:nvPr userDrawn="1"/>
        </p:nvSpPr>
        <p:spPr>
          <a:xfrm>
            <a:off x="10749303" y="-18515"/>
            <a:ext cx="3244786" cy="855091"/>
          </a:xfrm>
          <a:custGeom>
            <a:avLst/>
            <a:gdLst/>
            <a:ahLst/>
            <a:cxnLst/>
            <a:rect l="l" t="t" r="r" b="b"/>
            <a:pathLst>
              <a:path w="3244786" h="814768">
                <a:moveTo>
                  <a:pt x="0" y="0"/>
                </a:moveTo>
                <a:lnTo>
                  <a:pt x="3244786" y="0"/>
                </a:lnTo>
                <a:lnTo>
                  <a:pt x="3244786" y="814769"/>
                </a:lnTo>
                <a:lnTo>
                  <a:pt x="0" y="814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" name="TextBox 33"/>
          <p:cNvSpPr txBox="1"/>
          <p:nvPr userDrawn="1"/>
        </p:nvSpPr>
        <p:spPr>
          <a:xfrm>
            <a:off x="4025044" y="195556"/>
            <a:ext cx="25927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数据源</a:t>
            </a: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分类运用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12" name="TextBox 34"/>
          <p:cNvSpPr txBox="1"/>
          <p:nvPr userDrawn="1"/>
        </p:nvSpPr>
        <p:spPr>
          <a:xfrm>
            <a:off x="7489437" y="191812"/>
            <a:ext cx="25927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914400" rtl="0" eaLnBrk="1" latinLnBrk="0" hangingPunct="1">
              <a:lnSpc>
                <a:spcPts val="3240"/>
              </a:lnSpc>
            </a:pP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建模算法与演示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3" name="TextBox 35"/>
          <p:cNvSpPr txBox="1"/>
          <p:nvPr userDrawn="1"/>
        </p:nvSpPr>
        <p:spPr>
          <a:xfrm>
            <a:off x="11075334" y="160393"/>
            <a:ext cx="2592724" cy="473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 rtl="0" eaLnBrk="1" latinLnBrk="0" hangingPunct="1">
              <a:lnSpc>
                <a:spcPts val="3960"/>
              </a:lnSpc>
            </a:pPr>
            <a:r>
              <a:rPr 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实验结果及分析</a:t>
            </a:r>
            <a:endParaRPr lang="en-US" sz="2900" b="1" kern="1200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4" name="TextBox 36"/>
          <p:cNvSpPr txBox="1"/>
          <p:nvPr userDrawn="1"/>
        </p:nvSpPr>
        <p:spPr>
          <a:xfrm>
            <a:off x="758085" y="194053"/>
            <a:ext cx="2920986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914400" rtl="0" eaLnBrk="1" latinLnBrk="0" hangingPunct="1">
              <a:lnSpc>
                <a:spcPts val="3240"/>
              </a:lnSpc>
            </a:pP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背景</a:t>
            </a: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问题与</a:t>
            </a: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分析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5" name="TextBox 38"/>
          <p:cNvSpPr txBox="1"/>
          <p:nvPr userDrawn="1"/>
        </p:nvSpPr>
        <p:spPr>
          <a:xfrm>
            <a:off x="14637983" y="195558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模型优势态总结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grpSp>
        <p:nvGrpSpPr>
          <p:cNvPr id="10" name="Group 27"/>
          <p:cNvGrpSpPr/>
          <p:nvPr userDrawn="1"/>
        </p:nvGrpSpPr>
        <p:grpSpPr>
          <a:xfrm>
            <a:off x="-80589" y="-12850"/>
            <a:ext cx="18449178" cy="874676"/>
            <a:chOff x="33072" y="-22636"/>
            <a:chExt cx="25502598" cy="931082"/>
          </a:xfrm>
        </p:grpSpPr>
        <p:sp>
          <p:nvSpPr>
            <p:cNvPr id="11" name="Freeform 28"/>
            <p:cNvSpPr/>
            <p:nvPr userDrawn="1"/>
          </p:nvSpPr>
          <p:spPr>
            <a:xfrm>
              <a:off x="33072" y="-22636"/>
              <a:ext cx="25502598" cy="931082"/>
            </a:xfrm>
            <a:custGeom>
              <a:avLst/>
              <a:gdLst/>
              <a:ahLst/>
              <a:cxnLst/>
              <a:rect l="l" t="t" r="r" b="b"/>
              <a:pathLst>
                <a:path w="25502598" h="931082">
                  <a:moveTo>
                    <a:pt x="0" y="155131"/>
                  </a:moveTo>
                  <a:cubicBezTo>
                    <a:pt x="0" y="69428"/>
                    <a:pt x="68380" y="0"/>
                    <a:pt x="152789" y="0"/>
                  </a:cubicBezTo>
                  <a:lnTo>
                    <a:pt x="25349809" y="0"/>
                  </a:lnTo>
                  <a:cubicBezTo>
                    <a:pt x="25434218" y="0"/>
                    <a:pt x="25502598" y="69428"/>
                    <a:pt x="25502598" y="155131"/>
                  </a:cubicBezTo>
                  <a:lnTo>
                    <a:pt x="25502598" y="775951"/>
                  </a:lnTo>
                  <a:cubicBezTo>
                    <a:pt x="25502598" y="861654"/>
                    <a:pt x="25434218" y="931082"/>
                    <a:pt x="25349809" y="931082"/>
                  </a:cubicBezTo>
                  <a:lnTo>
                    <a:pt x="152789" y="931082"/>
                  </a:lnTo>
                  <a:cubicBezTo>
                    <a:pt x="68380" y="931082"/>
                    <a:pt x="0" y="861654"/>
                    <a:pt x="0" y="775951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" name="Freeform 4"/>
          <p:cNvSpPr/>
          <p:nvPr userDrawn="1"/>
        </p:nvSpPr>
        <p:spPr>
          <a:xfrm>
            <a:off x="14262956" y="-8953"/>
            <a:ext cx="3244786" cy="855091"/>
          </a:xfrm>
          <a:custGeom>
            <a:avLst/>
            <a:gdLst/>
            <a:ahLst/>
            <a:cxnLst/>
            <a:rect l="l" t="t" r="r" b="b"/>
            <a:pathLst>
              <a:path w="3244786" h="814768">
                <a:moveTo>
                  <a:pt x="0" y="0"/>
                </a:moveTo>
                <a:lnTo>
                  <a:pt x="3244786" y="0"/>
                </a:lnTo>
                <a:lnTo>
                  <a:pt x="3244786" y="814769"/>
                </a:lnTo>
                <a:lnTo>
                  <a:pt x="0" y="814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" name="TextBox 33"/>
          <p:cNvSpPr txBox="1"/>
          <p:nvPr userDrawn="1"/>
        </p:nvSpPr>
        <p:spPr>
          <a:xfrm>
            <a:off x="4025044" y="195556"/>
            <a:ext cx="25927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数据源</a:t>
            </a: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分类运用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14" name="TextBox 34"/>
          <p:cNvSpPr txBox="1"/>
          <p:nvPr userDrawn="1"/>
        </p:nvSpPr>
        <p:spPr>
          <a:xfrm>
            <a:off x="7489437" y="191812"/>
            <a:ext cx="25927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914400" rtl="0" eaLnBrk="1" latinLnBrk="0" hangingPunct="1">
              <a:lnSpc>
                <a:spcPts val="3240"/>
              </a:lnSpc>
            </a:pP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建模算法与演示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5" name="TextBox 35"/>
          <p:cNvSpPr txBox="1"/>
          <p:nvPr userDrawn="1"/>
        </p:nvSpPr>
        <p:spPr>
          <a:xfrm>
            <a:off x="11049000" y="128003"/>
            <a:ext cx="2592724" cy="473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 rtl="0" eaLnBrk="1" latinLnBrk="0" hangingPunct="1">
              <a:lnSpc>
                <a:spcPts val="3960"/>
              </a:lnSpc>
            </a:pP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实验结果及分析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6" name="TextBox 36"/>
          <p:cNvSpPr txBox="1"/>
          <p:nvPr userDrawn="1"/>
        </p:nvSpPr>
        <p:spPr>
          <a:xfrm>
            <a:off x="758085" y="194053"/>
            <a:ext cx="2920986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914400" rtl="0" eaLnBrk="1" latinLnBrk="0" hangingPunct="1">
              <a:lnSpc>
                <a:spcPts val="3240"/>
              </a:lnSpc>
            </a:pP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背景</a:t>
            </a: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问题与</a:t>
            </a: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分析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7" name="TextBox 38"/>
          <p:cNvSpPr txBox="1"/>
          <p:nvPr userDrawn="1"/>
        </p:nvSpPr>
        <p:spPr>
          <a:xfrm>
            <a:off x="14588987" y="160393"/>
            <a:ext cx="2592724" cy="473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 rtl="0" eaLnBrk="1" latinLnBrk="0" hangingPunct="1">
              <a:lnSpc>
                <a:spcPts val="3960"/>
              </a:lnSpc>
            </a:pPr>
            <a:r>
              <a:rPr 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模型优势态总结</a:t>
            </a:r>
            <a:endParaRPr lang="en-US" sz="2900" b="1" kern="1200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7"/>
          <p:cNvGrpSpPr/>
          <p:nvPr userDrawn="1"/>
        </p:nvGrpSpPr>
        <p:grpSpPr>
          <a:xfrm>
            <a:off x="-533400" y="-13659"/>
            <a:ext cx="18982578" cy="874676"/>
            <a:chOff x="33072" y="-22636"/>
            <a:chExt cx="25502598" cy="931082"/>
          </a:xfrm>
        </p:grpSpPr>
        <p:sp>
          <p:nvSpPr>
            <p:cNvPr id="9" name="Freeform 28"/>
            <p:cNvSpPr/>
            <p:nvPr/>
          </p:nvSpPr>
          <p:spPr>
            <a:xfrm>
              <a:off x="33072" y="-22636"/>
              <a:ext cx="25502598" cy="931082"/>
            </a:xfrm>
            <a:custGeom>
              <a:avLst/>
              <a:gdLst/>
              <a:ahLst/>
              <a:cxnLst/>
              <a:rect l="l" t="t" r="r" b="b"/>
              <a:pathLst>
                <a:path w="25502598" h="931082">
                  <a:moveTo>
                    <a:pt x="0" y="155131"/>
                  </a:moveTo>
                  <a:cubicBezTo>
                    <a:pt x="0" y="69428"/>
                    <a:pt x="68380" y="0"/>
                    <a:pt x="152789" y="0"/>
                  </a:cubicBezTo>
                  <a:lnTo>
                    <a:pt x="25349809" y="0"/>
                  </a:lnTo>
                  <a:cubicBezTo>
                    <a:pt x="25434218" y="0"/>
                    <a:pt x="25502598" y="69428"/>
                    <a:pt x="25502598" y="155131"/>
                  </a:cubicBezTo>
                  <a:lnTo>
                    <a:pt x="25502598" y="775951"/>
                  </a:lnTo>
                  <a:cubicBezTo>
                    <a:pt x="25502598" y="861654"/>
                    <a:pt x="25434218" y="931082"/>
                    <a:pt x="25349809" y="931082"/>
                  </a:cubicBezTo>
                  <a:lnTo>
                    <a:pt x="152789" y="931082"/>
                  </a:lnTo>
                  <a:cubicBezTo>
                    <a:pt x="68380" y="931082"/>
                    <a:pt x="0" y="861654"/>
                    <a:pt x="0" y="775951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4"/>
          <p:cNvSpPr/>
          <p:nvPr userDrawn="1"/>
        </p:nvSpPr>
        <p:spPr>
          <a:xfrm>
            <a:off x="729895" y="-3867"/>
            <a:ext cx="3244786" cy="855091"/>
          </a:xfrm>
          <a:custGeom>
            <a:avLst/>
            <a:gdLst/>
            <a:ahLst/>
            <a:cxnLst/>
            <a:rect l="l" t="t" r="r" b="b"/>
            <a:pathLst>
              <a:path w="3244786" h="814768">
                <a:moveTo>
                  <a:pt x="0" y="0"/>
                </a:moveTo>
                <a:lnTo>
                  <a:pt x="3244786" y="0"/>
                </a:lnTo>
                <a:lnTo>
                  <a:pt x="3244786" y="814769"/>
                </a:lnTo>
                <a:lnTo>
                  <a:pt x="0" y="814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sp>
        <p:nvSpPr>
          <p:cNvPr id="10" name="TextBox 33"/>
          <p:cNvSpPr txBox="1"/>
          <p:nvPr userDrawn="1"/>
        </p:nvSpPr>
        <p:spPr>
          <a:xfrm>
            <a:off x="4321066" y="210204"/>
            <a:ext cx="25927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数据源</a:t>
            </a: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分类运用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11" name="TextBox 34"/>
          <p:cNvSpPr txBox="1"/>
          <p:nvPr userDrawn="1"/>
        </p:nvSpPr>
        <p:spPr>
          <a:xfrm>
            <a:off x="7823022" y="210206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建模算法与演示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  <p:sp>
        <p:nvSpPr>
          <p:cNvPr id="12" name="TextBox 35"/>
          <p:cNvSpPr txBox="1"/>
          <p:nvPr userDrawn="1"/>
        </p:nvSpPr>
        <p:spPr>
          <a:xfrm>
            <a:off x="11378513" y="210205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实验结果及分析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  <p:sp>
        <p:nvSpPr>
          <p:cNvPr id="13" name="TextBox 36"/>
          <p:cNvSpPr txBox="1"/>
          <p:nvPr userDrawn="1"/>
        </p:nvSpPr>
        <p:spPr>
          <a:xfrm>
            <a:off x="1053695" y="156105"/>
            <a:ext cx="2920986" cy="473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algn="l" defTabSz="914400" rtl="0" eaLnBrk="1" latinLnBrk="0" hangingPunct="1">
              <a:lnSpc>
                <a:spcPts val="3960"/>
              </a:lnSpc>
            </a:pPr>
            <a:r>
              <a:rPr lang="zh-CN" alt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背景</a:t>
            </a:r>
            <a:r>
              <a:rPr 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问题与</a:t>
            </a:r>
            <a:r>
              <a:rPr lang="zh-CN" alt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分析</a:t>
            </a:r>
            <a:endParaRPr lang="en-US" sz="2900" b="1" kern="1200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4" name="TextBox 38"/>
          <p:cNvSpPr txBox="1"/>
          <p:nvPr userDrawn="1"/>
        </p:nvSpPr>
        <p:spPr>
          <a:xfrm>
            <a:off x="14934005" y="210206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模型优势态总结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grpSp>
        <p:nvGrpSpPr>
          <p:cNvPr id="7" name="Group 27"/>
          <p:cNvGrpSpPr/>
          <p:nvPr userDrawn="1"/>
        </p:nvGrpSpPr>
        <p:grpSpPr>
          <a:xfrm>
            <a:off x="-533400" y="-13659"/>
            <a:ext cx="18982578" cy="874676"/>
            <a:chOff x="33072" y="-22636"/>
            <a:chExt cx="25502598" cy="931082"/>
          </a:xfrm>
        </p:grpSpPr>
        <p:sp>
          <p:nvSpPr>
            <p:cNvPr id="8" name="Freeform 28"/>
            <p:cNvSpPr/>
            <p:nvPr/>
          </p:nvSpPr>
          <p:spPr>
            <a:xfrm>
              <a:off x="33072" y="-22636"/>
              <a:ext cx="25502598" cy="931082"/>
            </a:xfrm>
            <a:custGeom>
              <a:avLst/>
              <a:gdLst/>
              <a:ahLst/>
              <a:cxnLst/>
              <a:rect l="l" t="t" r="r" b="b"/>
              <a:pathLst>
                <a:path w="25502598" h="931082">
                  <a:moveTo>
                    <a:pt x="0" y="155131"/>
                  </a:moveTo>
                  <a:cubicBezTo>
                    <a:pt x="0" y="69428"/>
                    <a:pt x="68380" y="0"/>
                    <a:pt x="152789" y="0"/>
                  </a:cubicBezTo>
                  <a:lnTo>
                    <a:pt x="25349809" y="0"/>
                  </a:lnTo>
                  <a:cubicBezTo>
                    <a:pt x="25434218" y="0"/>
                    <a:pt x="25502598" y="69428"/>
                    <a:pt x="25502598" y="155131"/>
                  </a:cubicBezTo>
                  <a:lnTo>
                    <a:pt x="25502598" y="775951"/>
                  </a:lnTo>
                  <a:cubicBezTo>
                    <a:pt x="25502598" y="861654"/>
                    <a:pt x="25434218" y="931082"/>
                    <a:pt x="25349809" y="931082"/>
                  </a:cubicBezTo>
                  <a:lnTo>
                    <a:pt x="152789" y="931082"/>
                  </a:lnTo>
                  <a:cubicBezTo>
                    <a:pt x="68380" y="931082"/>
                    <a:pt x="0" y="861654"/>
                    <a:pt x="0" y="775951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" name="Freeform 4"/>
          <p:cNvSpPr/>
          <p:nvPr userDrawn="1"/>
        </p:nvSpPr>
        <p:spPr>
          <a:xfrm>
            <a:off x="3968268" y="-13659"/>
            <a:ext cx="3244786" cy="855091"/>
          </a:xfrm>
          <a:custGeom>
            <a:avLst/>
            <a:gdLst/>
            <a:ahLst/>
            <a:cxnLst/>
            <a:rect l="l" t="t" r="r" b="b"/>
            <a:pathLst>
              <a:path w="3244786" h="814768">
                <a:moveTo>
                  <a:pt x="0" y="0"/>
                </a:moveTo>
                <a:lnTo>
                  <a:pt x="3244786" y="0"/>
                </a:lnTo>
                <a:lnTo>
                  <a:pt x="3244786" y="814769"/>
                </a:lnTo>
                <a:lnTo>
                  <a:pt x="0" y="814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" name="TextBox 33"/>
          <p:cNvSpPr txBox="1"/>
          <p:nvPr userDrawn="1"/>
        </p:nvSpPr>
        <p:spPr>
          <a:xfrm>
            <a:off x="4316763" y="177283"/>
            <a:ext cx="2592724" cy="473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algn="l" defTabSz="914400" rtl="0" eaLnBrk="1" latinLnBrk="0" hangingPunct="1">
              <a:lnSpc>
                <a:spcPts val="3960"/>
              </a:lnSpc>
            </a:pPr>
            <a:r>
              <a:rPr 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数据源</a:t>
            </a:r>
            <a:r>
              <a:rPr lang="zh-CN" alt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分类运用</a:t>
            </a:r>
            <a:endParaRPr lang="en-US" sz="2900" b="1" kern="1200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1" name="TextBox 34"/>
          <p:cNvSpPr txBox="1"/>
          <p:nvPr userDrawn="1"/>
        </p:nvSpPr>
        <p:spPr>
          <a:xfrm>
            <a:off x="7823022" y="210206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建模算法与演示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  <p:sp>
        <p:nvSpPr>
          <p:cNvPr id="12" name="TextBox 35"/>
          <p:cNvSpPr txBox="1"/>
          <p:nvPr userDrawn="1"/>
        </p:nvSpPr>
        <p:spPr>
          <a:xfrm>
            <a:off x="11378513" y="210205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实验结果及分析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  <p:sp>
        <p:nvSpPr>
          <p:cNvPr id="13" name="TextBox 36"/>
          <p:cNvSpPr txBox="1"/>
          <p:nvPr userDrawn="1"/>
        </p:nvSpPr>
        <p:spPr>
          <a:xfrm>
            <a:off x="680566" y="261835"/>
            <a:ext cx="2920986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algn="ctr" defTabSz="914400" rtl="0" eaLnBrk="1" latinLnBrk="0" hangingPunct="1">
              <a:lnSpc>
                <a:spcPts val="3240"/>
              </a:lnSpc>
            </a:pP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背景</a:t>
            </a: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问题与</a:t>
            </a: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分析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4" name="TextBox 38"/>
          <p:cNvSpPr txBox="1"/>
          <p:nvPr userDrawn="1"/>
        </p:nvSpPr>
        <p:spPr>
          <a:xfrm>
            <a:off x="14934005" y="210206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模型优势态总结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grpSp>
        <p:nvGrpSpPr>
          <p:cNvPr id="15" name="Group 27"/>
          <p:cNvGrpSpPr/>
          <p:nvPr userDrawn="1"/>
        </p:nvGrpSpPr>
        <p:grpSpPr>
          <a:xfrm>
            <a:off x="-114300" y="-38100"/>
            <a:ext cx="18516600" cy="874676"/>
            <a:chOff x="1278315" y="-22636"/>
            <a:chExt cx="24207544" cy="931082"/>
          </a:xfrm>
        </p:grpSpPr>
        <p:sp>
          <p:nvSpPr>
            <p:cNvPr id="22" name="Freeform 28"/>
            <p:cNvSpPr/>
            <p:nvPr userDrawn="1"/>
          </p:nvSpPr>
          <p:spPr>
            <a:xfrm>
              <a:off x="1278315" y="-22636"/>
              <a:ext cx="24207544" cy="931082"/>
            </a:xfrm>
            <a:custGeom>
              <a:avLst/>
              <a:gdLst/>
              <a:ahLst/>
              <a:cxnLst/>
              <a:rect l="l" t="t" r="r" b="b"/>
              <a:pathLst>
                <a:path w="25502598" h="931082">
                  <a:moveTo>
                    <a:pt x="0" y="155131"/>
                  </a:moveTo>
                  <a:cubicBezTo>
                    <a:pt x="0" y="69428"/>
                    <a:pt x="68380" y="0"/>
                    <a:pt x="152789" y="0"/>
                  </a:cubicBezTo>
                  <a:lnTo>
                    <a:pt x="25349809" y="0"/>
                  </a:lnTo>
                  <a:cubicBezTo>
                    <a:pt x="25434218" y="0"/>
                    <a:pt x="25502598" y="69428"/>
                    <a:pt x="25502598" y="155131"/>
                  </a:cubicBezTo>
                  <a:lnTo>
                    <a:pt x="25502598" y="775951"/>
                  </a:lnTo>
                  <a:cubicBezTo>
                    <a:pt x="25502598" y="861654"/>
                    <a:pt x="25434218" y="931082"/>
                    <a:pt x="25349809" y="931082"/>
                  </a:cubicBezTo>
                  <a:lnTo>
                    <a:pt x="152789" y="931082"/>
                  </a:lnTo>
                  <a:cubicBezTo>
                    <a:pt x="68380" y="931082"/>
                    <a:pt x="0" y="861654"/>
                    <a:pt x="0" y="775951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" name="Freeform 4"/>
          <p:cNvSpPr/>
          <p:nvPr userDrawn="1"/>
        </p:nvSpPr>
        <p:spPr>
          <a:xfrm>
            <a:off x="7178557" y="-18515"/>
            <a:ext cx="3244786" cy="855091"/>
          </a:xfrm>
          <a:custGeom>
            <a:avLst/>
            <a:gdLst/>
            <a:ahLst/>
            <a:cxnLst/>
            <a:rect l="l" t="t" r="r" b="b"/>
            <a:pathLst>
              <a:path w="3244786" h="814768">
                <a:moveTo>
                  <a:pt x="0" y="0"/>
                </a:moveTo>
                <a:lnTo>
                  <a:pt x="3244786" y="0"/>
                </a:lnTo>
                <a:lnTo>
                  <a:pt x="3244786" y="814769"/>
                </a:lnTo>
                <a:lnTo>
                  <a:pt x="0" y="814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" name="TextBox 33"/>
          <p:cNvSpPr txBox="1"/>
          <p:nvPr userDrawn="1"/>
        </p:nvSpPr>
        <p:spPr>
          <a:xfrm>
            <a:off x="4025044" y="195556"/>
            <a:ext cx="25927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数据源</a:t>
            </a: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分类运用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18" name="TextBox 34"/>
          <p:cNvSpPr txBox="1"/>
          <p:nvPr userDrawn="1"/>
        </p:nvSpPr>
        <p:spPr>
          <a:xfrm>
            <a:off x="7524530" y="131216"/>
            <a:ext cx="2592724" cy="473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 rtl="0" eaLnBrk="1" latinLnBrk="0" hangingPunct="1">
              <a:lnSpc>
                <a:spcPts val="3960"/>
              </a:lnSpc>
            </a:pPr>
            <a:r>
              <a:rPr 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建模算法与演示</a:t>
            </a:r>
            <a:endParaRPr lang="en-US" sz="2900" b="1" kern="1200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9" name="TextBox 35"/>
          <p:cNvSpPr txBox="1"/>
          <p:nvPr userDrawn="1"/>
        </p:nvSpPr>
        <p:spPr>
          <a:xfrm>
            <a:off x="11082491" y="195557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实验结果及分析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  <p:sp>
        <p:nvSpPr>
          <p:cNvPr id="20" name="TextBox 36"/>
          <p:cNvSpPr txBox="1"/>
          <p:nvPr userDrawn="1"/>
        </p:nvSpPr>
        <p:spPr>
          <a:xfrm>
            <a:off x="758085" y="194053"/>
            <a:ext cx="2920986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914400" rtl="0" eaLnBrk="1" latinLnBrk="0" hangingPunct="1">
              <a:lnSpc>
                <a:spcPts val="3240"/>
              </a:lnSpc>
            </a:pP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背景</a:t>
            </a: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问题与</a:t>
            </a: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分析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21" name="TextBox 38"/>
          <p:cNvSpPr txBox="1"/>
          <p:nvPr userDrawn="1"/>
        </p:nvSpPr>
        <p:spPr>
          <a:xfrm>
            <a:off x="14637983" y="195558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模型优势态总结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grpSp>
        <p:nvGrpSpPr>
          <p:cNvPr id="8" name="Group 27"/>
          <p:cNvGrpSpPr/>
          <p:nvPr userDrawn="1"/>
        </p:nvGrpSpPr>
        <p:grpSpPr>
          <a:xfrm>
            <a:off x="-194889" y="-40342"/>
            <a:ext cx="18677778" cy="874676"/>
            <a:chOff x="33072" y="-22636"/>
            <a:chExt cx="25502598" cy="931082"/>
          </a:xfrm>
        </p:grpSpPr>
        <p:sp>
          <p:nvSpPr>
            <p:cNvPr id="9" name="Freeform 28"/>
            <p:cNvSpPr/>
            <p:nvPr userDrawn="1"/>
          </p:nvSpPr>
          <p:spPr>
            <a:xfrm>
              <a:off x="33072" y="-22636"/>
              <a:ext cx="25502598" cy="931082"/>
            </a:xfrm>
            <a:custGeom>
              <a:avLst/>
              <a:gdLst/>
              <a:ahLst/>
              <a:cxnLst/>
              <a:rect l="l" t="t" r="r" b="b"/>
              <a:pathLst>
                <a:path w="25502598" h="931082">
                  <a:moveTo>
                    <a:pt x="0" y="155131"/>
                  </a:moveTo>
                  <a:cubicBezTo>
                    <a:pt x="0" y="69428"/>
                    <a:pt x="68380" y="0"/>
                    <a:pt x="152789" y="0"/>
                  </a:cubicBezTo>
                  <a:lnTo>
                    <a:pt x="25349809" y="0"/>
                  </a:lnTo>
                  <a:cubicBezTo>
                    <a:pt x="25434218" y="0"/>
                    <a:pt x="25502598" y="69428"/>
                    <a:pt x="25502598" y="155131"/>
                  </a:cubicBezTo>
                  <a:lnTo>
                    <a:pt x="25502598" y="775951"/>
                  </a:lnTo>
                  <a:cubicBezTo>
                    <a:pt x="25502598" y="861654"/>
                    <a:pt x="25434218" y="931082"/>
                    <a:pt x="25349809" y="931082"/>
                  </a:cubicBezTo>
                  <a:lnTo>
                    <a:pt x="152789" y="931082"/>
                  </a:lnTo>
                  <a:cubicBezTo>
                    <a:pt x="68380" y="931082"/>
                    <a:pt x="0" y="861654"/>
                    <a:pt x="0" y="775951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0" name="Freeform 4"/>
          <p:cNvSpPr/>
          <p:nvPr userDrawn="1"/>
        </p:nvSpPr>
        <p:spPr>
          <a:xfrm>
            <a:off x="10749303" y="-18515"/>
            <a:ext cx="3244786" cy="855091"/>
          </a:xfrm>
          <a:custGeom>
            <a:avLst/>
            <a:gdLst/>
            <a:ahLst/>
            <a:cxnLst/>
            <a:rect l="l" t="t" r="r" b="b"/>
            <a:pathLst>
              <a:path w="3244786" h="814768">
                <a:moveTo>
                  <a:pt x="0" y="0"/>
                </a:moveTo>
                <a:lnTo>
                  <a:pt x="3244786" y="0"/>
                </a:lnTo>
                <a:lnTo>
                  <a:pt x="3244786" y="814769"/>
                </a:lnTo>
                <a:lnTo>
                  <a:pt x="0" y="814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" name="TextBox 33"/>
          <p:cNvSpPr txBox="1"/>
          <p:nvPr userDrawn="1"/>
        </p:nvSpPr>
        <p:spPr>
          <a:xfrm>
            <a:off x="4025044" y="195556"/>
            <a:ext cx="25927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数据源</a:t>
            </a: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分类运用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12" name="TextBox 34"/>
          <p:cNvSpPr txBox="1"/>
          <p:nvPr userDrawn="1"/>
        </p:nvSpPr>
        <p:spPr>
          <a:xfrm>
            <a:off x="7489437" y="191812"/>
            <a:ext cx="25927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914400" rtl="0" eaLnBrk="1" latinLnBrk="0" hangingPunct="1">
              <a:lnSpc>
                <a:spcPts val="3240"/>
              </a:lnSpc>
            </a:pP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建模算法与演示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3" name="TextBox 35"/>
          <p:cNvSpPr txBox="1"/>
          <p:nvPr userDrawn="1"/>
        </p:nvSpPr>
        <p:spPr>
          <a:xfrm>
            <a:off x="11075334" y="160393"/>
            <a:ext cx="2592724" cy="473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 rtl="0" eaLnBrk="1" latinLnBrk="0" hangingPunct="1">
              <a:lnSpc>
                <a:spcPts val="3960"/>
              </a:lnSpc>
            </a:pPr>
            <a:r>
              <a:rPr 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实验结果及分析</a:t>
            </a:r>
            <a:endParaRPr lang="en-US" sz="2900" b="1" kern="1200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4" name="TextBox 36"/>
          <p:cNvSpPr txBox="1"/>
          <p:nvPr userDrawn="1"/>
        </p:nvSpPr>
        <p:spPr>
          <a:xfrm>
            <a:off x="758085" y="194053"/>
            <a:ext cx="2920986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914400" rtl="0" eaLnBrk="1" latinLnBrk="0" hangingPunct="1">
              <a:lnSpc>
                <a:spcPts val="3240"/>
              </a:lnSpc>
            </a:pP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背景</a:t>
            </a: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问题与</a:t>
            </a: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分析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5" name="TextBox 38"/>
          <p:cNvSpPr txBox="1"/>
          <p:nvPr userDrawn="1"/>
        </p:nvSpPr>
        <p:spPr>
          <a:xfrm>
            <a:off x="14637983" y="195558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模型优势态总结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grpSp>
        <p:nvGrpSpPr>
          <p:cNvPr id="10" name="Group 27"/>
          <p:cNvGrpSpPr/>
          <p:nvPr userDrawn="1"/>
        </p:nvGrpSpPr>
        <p:grpSpPr>
          <a:xfrm>
            <a:off x="-80589" y="-12850"/>
            <a:ext cx="18449178" cy="874676"/>
            <a:chOff x="33072" y="-22636"/>
            <a:chExt cx="25502598" cy="931082"/>
          </a:xfrm>
        </p:grpSpPr>
        <p:sp>
          <p:nvSpPr>
            <p:cNvPr id="11" name="Freeform 28"/>
            <p:cNvSpPr/>
            <p:nvPr userDrawn="1"/>
          </p:nvSpPr>
          <p:spPr>
            <a:xfrm>
              <a:off x="33072" y="-22636"/>
              <a:ext cx="25502598" cy="931082"/>
            </a:xfrm>
            <a:custGeom>
              <a:avLst/>
              <a:gdLst/>
              <a:ahLst/>
              <a:cxnLst/>
              <a:rect l="l" t="t" r="r" b="b"/>
              <a:pathLst>
                <a:path w="25502598" h="931082">
                  <a:moveTo>
                    <a:pt x="0" y="155131"/>
                  </a:moveTo>
                  <a:cubicBezTo>
                    <a:pt x="0" y="69428"/>
                    <a:pt x="68380" y="0"/>
                    <a:pt x="152789" y="0"/>
                  </a:cubicBezTo>
                  <a:lnTo>
                    <a:pt x="25349809" y="0"/>
                  </a:lnTo>
                  <a:cubicBezTo>
                    <a:pt x="25434218" y="0"/>
                    <a:pt x="25502598" y="69428"/>
                    <a:pt x="25502598" y="155131"/>
                  </a:cubicBezTo>
                  <a:lnTo>
                    <a:pt x="25502598" y="775951"/>
                  </a:lnTo>
                  <a:cubicBezTo>
                    <a:pt x="25502598" y="861654"/>
                    <a:pt x="25434218" y="931082"/>
                    <a:pt x="25349809" y="931082"/>
                  </a:cubicBezTo>
                  <a:lnTo>
                    <a:pt x="152789" y="931082"/>
                  </a:lnTo>
                  <a:cubicBezTo>
                    <a:pt x="68380" y="931082"/>
                    <a:pt x="0" y="861654"/>
                    <a:pt x="0" y="775951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" name="Freeform 4"/>
          <p:cNvSpPr/>
          <p:nvPr userDrawn="1"/>
        </p:nvSpPr>
        <p:spPr>
          <a:xfrm>
            <a:off x="14262956" y="-8953"/>
            <a:ext cx="3244786" cy="855091"/>
          </a:xfrm>
          <a:custGeom>
            <a:avLst/>
            <a:gdLst/>
            <a:ahLst/>
            <a:cxnLst/>
            <a:rect l="l" t="t" r="r" b="b"/>
            <a:pathLst>
              <a:path w="3244786" h="814768">
                <a:moveTo>
                  <a:pt x="0" y="0"/>
                </a:moveTo>
                <a:lnTo>
                  <a:pt x="3244786" y="0"/>
                </a:lnTo>
                <a:lnTo>
                  <a:pt x="3244786" y="814769"/>
                </a:lnTo>
                <a:lnTo>
                  <a:pt x="0" y="814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" name="TextBox 33"/>
          <p:cNvSpPr txBox="1"/>
          <p:nvPr userDrawn="1"/>
        </p:nvSpPr>
        <p:spPr>
          <a:xfrm>
            <a:off x="4025044" y="195556"/>
            <a:ext cx="25927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数据源</a:t>
            </a: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分类运用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14" name="TextBox 34"/>
          <p:cNvSpPr txBox="1"/>
          <p:nvPr userDrawn="1"/>
        </p:nvSpPr>
        <p:spPr>
          <a:xfrm>
            <a:off x="7489437" y="191812"/>
            <a:ext cx="25927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914400" rtl="0" eaLnBrk="1" latinLnBrk="0" hangingPunct="1">
              <a:lnSpc>
                <a:spcPts val="3240"/>
              </a:lnSpc>
            </a:pP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建模算法与演示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5" name="TextBox 35"/>
          <p:cNvSpPr txBox="1"/>
          <p:nvPr userDrawn="1"/>
        </p:nvSpPr>
        <p:spPr>
          <a:xfrm>
            <a:off x="11049000" y="128003"/>
            <a:ext cx="2592724" cy="473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 rtl="0" eaLnBrk="1" latinLnBrk="0" hangingPunct="1">
              <a:lnSpc>
                <a:spcPts val="3960"/>
              </a:lnSpc>
            </a:pP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实验结果及分析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6" name="TextBox 36"/>
          <p:cNvSpPr txBox="1"/>
          <p:nvPr userDrawn="1"/>
        </p:nvSpPr>
        <p:spPr>
          <a:xfrm>
            <a:off x="758085" y="194053"/>
            <a:ext cx="2920986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914400" rtl="0" eaLnBrk="1" latinLnBrk="0" hangingPunct="1">
              <a:lnSpc>
                <a:spcPts val="3240"/>
              </a:lnSpc>
            </a:pP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背景</a:t>
            </a:r>
            <a:r>
              <a:rPr 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问题与</a:t>
            </a:r>
            <a:r>
              <a:rPr lang="zh-CN" altLang="en-US" sz="27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分析</a:t>
            </a:r>
            <a:endParaRPr lang="en-US" sz="27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  <p:sp>
        <p:nvSpPr>
          <p:cNvPr id="17" name="TextBox 38"/>
          <p:cNvSpPr txBox="1"/>
          <p:nvPr userDrawn="1"/>
        </p:nvSpPr>
        <p:spPr>
          <a:xfrm>
            <a:off x="14588987" y="160393"/>
            <a:ext cx="2592724" cy="473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 rtl="0" eaLnBrk="1" latinLnBrk="0" hangingPunct="1">
              <a:lnSpc>
                <a:spcPts val="3960"/>
              </a:lnSpc>
            </a:pPr>
            <a:r>
              <a:rPr lang="en-US" sz="2900" b="1" kern="1200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宋体 Bold" panose="02020700000000000000" charset="-122"/>
              </a:rPr>
              <a:t>模型优势态总结</a:t>
            </a:r>
            <a:endParaRPr lang="en-US" sz="2900" b="1" kern="1200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宋体 Bold" panose="0202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3" Type="http://schemas.openxmlformats.org/officeDocument/2006/relationships/slideLayout" Target="../slideLayouts/slideLayout6.xml"/><Relationship Id="rId32" Type="http://schemas.openxmlformats.org/officeDocument/2006/relationships/tags" Target="../tags/tag30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tags" Target="../tags/tag1.xml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image" Target="../media/image12.svg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svg"/><Relationship Id="rId8" Type="http://schemas.openxmlformats.org/officeDocument/2006/relationships/image" Target="../media/image18.png"/><Relationship Id="rId7" Type="http://schemas.openxmlformats.org/officeDocument/2006/relationships/image" Target="../media/image17.svg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37.xml"/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38.xml"/><Relationship Id="rId2" Type="http://schemas.openxmlformats.org/officeDocument/2006/relationships/image" Target="../media/image25.svg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39.xml"/><Relationship Id="rId2" Type="http://schemas.openxmlformats.org/officeDocument/2006/relationships/image" Target="../media/image25.svg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34.png"/><Relationship Id="rId4" Type="http://schemas.openxmlformats.org/officeDocument/2006/relationships/image" Target="../media/image29.png"/><Relationship Id="rId3" Type="http://schemas.openxmlformats.org/officeDocument/2006/relationships/image" Target="../media/image33.png"/><Relationship Id="rId2" Type="http://schemas.openxmlformats.org/officeDocument/2006/relationships/image" Target="../media/image24.svg"/><Relationship Id="rId1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25.svg"/><Relationship Id="rId2" Type="http://schemas.openxmlformats.org/officeDocument/2006/relationships/image" Target="../media/image32.png"/><Relationship Id="rId1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2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e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image" Target="../media/image48.png"/><Relationship Id="rId15" Type="http://schemas.openxmlformats.org/officeDocument/2006/relationships/slideLayout" Target="../slideLayouts/slideLayout5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53.svg"/><Relationship Id="rId4" Type="http://schemas.openxmlformats.org/officeDocument/2006/relationships/image" Target="../media/image8.png"/><Relationship Id="rId3" Type="http://schemas.openxmlformats.org/officeDocument/2006/relationships/image" Target="../media/image52.svg"/><Relationship Id="rId2" Type="http://schemas.openxmlformats.org/officeDocument/2006/relationships/image" Target="../media/image51.svg"/><Relationship Id="rId1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35389" y="0"/>
            <a:ext cx="9152572" cy="5587003"/>
            <a:chOff x="0" y="0"/>
            <a:chExt cx="12203430" cy="74493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03430" cy="7449332"/>
            </a:xfrm>
            <a:custGeom>
              <a:avLst/>
              <a:gdLst/>
              <a:ahLst/>
              <a:cxnLst/>
              <a:rect l="l" t="t" r="r" b="b"/>
              <a:pathLst>
                <a:path w="12203430" h="7449332">
                  <a:moveTo>
                    <a:pt x="0" y="3059557"/>
                  </a:moveTo>
                  <a:lnTo>
                    <a:pt x="0" y="5726557"/>
                  </a:lnTo>
                  <a:cubicBezTo>
                    <a:pt x="4356100" y="4743958"/>
                    <a:pt x="6592316" y="7839964"/>
                    <a:pt x="12203430" y="7407656"/>
                  </a:cubicBezTo>
                  <a:lnTo>
                    <a:pt x="12203430" y="0"/>
                  </a:lnTo>
                  <a:lnTo>
                    <a:pt x="489077" y="0"/>
                  </a:lnTo>
                  <a:lnTo>
                    <a:pt x="0" y="3059557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B4D7FF">
                    <a:alpha val="40000"/>
                  </a:srgbClr>
                </a:gs>
              </a:gsLst>
              <a:lin ang="144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35389" y="0"/>
            <a:ext cx="9152572" cy="4833328"/>
            <a:chOff x="0" y="0"/>
            <a:chExt cx="12203430" cy="644443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203430" cy="6444442"/>
            </a:xfrm>
            <a:custGeom>
              <a:avLst/>
              <a:gdLst/>
              <a:ahLst/>
              <a:cxnLst/>
              <a:rect l="l" t="t" r="r" b="b"/>
              <a:pathLst>
                <a:path w="12203430" h="6444442">
                  <a:moveTo>
                    <a:pt x="12203430" y="6013958"/>
                  </a:moveTo>
                  <a:lnTo>
                    <a:pt x="12203430" y="0"/>
                  </a:lnTo>
                  <a:lnTo>
                    <a:pt x="0" y="0"/>
                  </a:lnTo>
                  <a:lnTo>
                    <a:pt x="0" y="5947664"/>
                  </a:lnTo>
                  <a:cubicBezTo>
                    <a:pt x="4112260" y="4128897"/>
                    <a:pt x="6569329" y="7607554"/>
                    <a:pt x="12203430" y="601383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9152572" cy="5587003"/>
            <a:chOff x="0" y="0"/>
            <a:chExt cx="12203430" cy="74493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203430" cy="7449332"/>
            </a:xfrm>
            <a:custGeom>
              <a:avLst/>
              <a:gdLst/>
              <a:ahLst/>
              <a:cxnLst/>
              <a:rect l="l" t="t" r="r" b="b"/>
              <a:pathLst>
                <a:path w="12203430" h="7449332">
                  <a:moveTo>
                    <a:pt x="12203430" y="3059557"/>
                  </a:moveTo>
                  <a:lnTo>
                    <a:pt x="12203430" y="5726557"/>
                  </a:lnTo>
                  <a:cubicBezTo>
                    <a:pt x="7847330" y="4743958"/>
                    <a:pt x="5611241" y="7839964"/>
                    <a:pt x="0" y="7407656"/>
                  </a:cubicBezTo>
                  <a:lnTo>
                    <a:pt x="0" y="0"/>
                  </a:lnTo>
                  <a:lnTo>
                    <a:pt x="11714353" y="0"/>
                  </a:lnTo>
                  <a:lnTo>
                    <a:pt x="12203430" y="3059557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B4D7FF">
                    <a:alpha val="40000"/>
                  </a:srgbClr>
                </a:gs>
              </a:gsLst>
              <a:lin ang="144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9152572" cy="4833385"/>
            <a:chOff x="0" y="0"/>
            <a:chExt cx="12203430" cy="64445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03430" cy="6444508"/>
            </a:xfrm>
            <a:custGeom>
              <a:avLst/>
              <a:gdLst/>
              <a:ahLst/>
              <a:cxnLst/>
              <a:rect l="l" t="t" r="r" b="b"/>
              <a:pathLst>
                <a:path w="12203430" h="6444508">
                  <a:moveTo>
                    <a:pt x="0" y="6013958"/>
                  </a:moveTo>
                  <a:lnTo>
                    <a:pt x="0" y="0"/>
                  </a:lnTo>
                  <a:lnTo>
                    <a:pt x="12203430" y="0"/>
                  </a:lnTo>
                  <a:lnTo>
                    <a:pt x="12203430" y="5947664"/>
                  </a:lnTo>
                  <a:cubicBezTo>
                    <a:pt x="8091170" y="4128897"/>
                    <a:pt x="5634101" y="7607554"/>
                    <a:pt x="0" y="601395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18288000" cy="3819515"/>
            <a:chOff x="0" y="0"/>
            <a:chExt cx="24384000" cy="50926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0" cy="5092657"/>
            </a:xfrm>
            <a:custGeom>
              <a:avLst/>
              <a:gdLst/>
              <a:ahLst/>
              <a:cxnLst/>
              <a:rect l="l" t="t" r="r" b="b"/>
              <a:pathLst>
                <a:path w="24384000" h="5092657">
                  <a:moveTo>
                    <a:pt x="0" y="0"/>
                  </a:moveTo>
                  <a:lnTo>
                    <a:pt x="12180570" y="0"/>
                  </a:lnTo>
                  <a:lnTo>
                    <a:pt x="12203557" y="0"/>
                  </a:lnTo>
                  <a:lnTo>
                    <a:pt x="24384000" y="0"/>
                  </a:lnTo>
                  <a:lnTo>
                    <a:pt x="24384000" y="4739894"/>
                  </a:lnTo>
                  <a:cubicBezTo>
                    <a:pt x="18925921" y="6004687"/>
                    <a:pt x="16449421" y="3369691"/>
                    <a:pt x="12561316" y="4558411"/>
                  </a:cubicBezTo>
                  <a:lnTo>
                    <a:pt x="12203430" y="4677918"/>
                  </a:lnTo>
                  <a:lnTo>
                    <a:pt x="12203430" y="4685665"/>
                  </a:lnTo>
                  <a:lnTo>
                    <a:pt x="12192000" y="4681855"/>
                  </a:lnTo>
                  <a:lnTo>
                    <a:pt x="12180570" y="4685665"/>
                  </a:lnTo>
                  <a:lnTo>
                    <a:pt x="12180570" y="4677918"/>
                  </a:lnTo>
                  <a:lnTo>
                    <a:pt x="11822685" y="4558411"/>
                  </a:lnTo>
                  <a:cubicBezTo>
                    <a:pt x="7934579" y="3369818"/>
                    <a:pt x="5458079" y="6004687"/>
                    <a:pt x="0" y="4739894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7990837" y="1244565"/>
            <a:ext cx="856774" cy="2079688"/>
          </a:xfrm>
          <a:custGeom>
            <a:avLst/>
            <a:gdLst/>
            <a:ahLst/>
            <a:cxnLst/>
            <a:rect l="l" t="t" r="r" b="b"/>
            <a:pathLst>
              <a:path w="856774" h="2079688">
                <a:moveTo>
                  <a:pt x="0" y="0"/>
                </a:moveTo>
                <a:lnTo>
                  <a:pt x="856774" y="0"/>
                </a:lnTo>
                <a:lnTo>
                  <a:pt x="856774" y="2079689"/>
                </a:lnTo>
                <a:lnTo>
                  <a:pt x="0" y="207968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23" b="-123"/>
            </a:stretch>
          </a:blipFill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3570529" y="4833328"/>
            <a:ext cx="855221" cy="2079041"/>
          </a:xfrm>
          <a:custGeom>
            <a:avLst/>
            <a:gdLst/>
            <a:ahLst/>
            <a:cxnLst/>
            <a:rect l="l" t="t" r="r" b="b"/>
            <a:pathLst>
              <a:path w="855221" h="2079041">
                <a:moveTo>
                  <a:pt x="0" y="0"/>
                </a:moveTo>
                <a:lnTo>
                  <a:pt x="855221" y="0"/>
                </a:lnTo>
                <a:lnTo>
                  <a:pt x="855221" y="2079041"/>
                </a:lnTo>
                <a:lnTo>
                  <a:pt x="0" y="207904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8" b="-48"/>
            </a:stretch>
          </a:blipFill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8825570" y="3329111"/>
            <a:ext cx="636870" cy="149095"/>
          </a:xfrm>
          <a:custGeom>
            <a:avLst/>
            <a:gdLst/>
            <a:ahLst/>
            <a:cxnLst/>
            <a:rect l="l" t="t" r="r" b="b"/>
            <a:pathLst>
              <a:path w="636870" h="149095">
                <a:moveTo>
                  <a:pt x="0" y="0"/>
                </a:moveTo>
                <a:lnTo>
                  <a:pt x="636870" y="0"/>
                </a:lnTo>
                <a:lnTo>
                  <a:pt x="636870" y="149095"/>
                </a:lnTo>
                <a:lnTo>
                  <a:pt x="0" y="1490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003" b="-1003"/>
            </a:stretch>
          </a:blipFill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7258244" y="6579996"/>
            <a:ext cx="3289705" cy="3735947"/>
            <a:chOff x="0" y="0"/>
            <a:chExt cx="3548380" cy="402971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549650" cy="4028440"/>
            </a:xfrm>
            <a:custGeom>
              <a:avLst/>
              <a:gdLst/>
              <a:ahLst/>
              <a:cxnLst/>
              <a:rect l="l" t="t" r="r" b="b"/>
              <a:pathLst>
                <a:path w="3549650" h="4028440">
                  <a:moveTo>
                    <a:pt x="2153920" y="146050"/>
                  </a:moveTo>
                  <a:cubicBezTo>
                    <a:pt x="1924050" y="146050"/>
                    <a:pt x="1758950" y="275590"/>
                    <a:pt x="1659890" y="535940"/>
                  </a:cubicBezTo>
                  <a:cubicBezTo>
                    <a:pt x="1560830" y="796290"/>
                    <a:pt x="1511300" y="1226820"/>
                    <a:pt x="1511300" y="1827530"/>
                  </a:cubicBezTo>
                  <a:lnTo>
                    <a:pt x="1511300" y="2250440"/>
                  </a:lnTo>
                  <a:cubicBezTo>
                    <a:pt x="1511300" y="2786380"/>
                    <a:pt x="1568450" y="3171190"/>
                    <a:pt x="1684020" y="3403600"/>
                  </a:cubicBezTo>
                  <a:cubicBezTo>
                    <a:pt x="1798320" y="3636010"/>
                    <a:pt x="2010410" y="3752850"/>
                    <a:pt x="2319020" y="3752850"/>
                  </a:cubicBezTo>
                  <a:cubicBezTo>
                    <a:pt x="2627630" y="3752850"/>
                    <a:pt x="2872740" y="3644900"/>
                    <a:pt x="3055620" y="3427730"/>
                  </a:cubicBezTo>
                  <a:cubicBezTo>
                    <a:pt x="3238500" y="3210560"/>
                    <a:pt x="3355340" y="2964180"/>
                    <a:pt x="3408680" y="2688590"/>
                  </a:cubicBezTo>
                  <a:lnTo>
                    <a:pt x="3549650" y="2705100"/>
                  </a:lnTo>
                  <a:cubicBezTo>
                    <a:pt x="3450590" y="3171190"/>
                    <a:pt x="3267710" y="3506470"/>
                    <a:pt x="3001010" y="3712210"/>
                  </a:cubicBezTo>
                  <a:cubicBezTo>
                    <a:pt x="2729230" y="3923030"/>
                    <a:pt x="2355850" y="4028440"/>
                    <a:pt x="1880870" y="4028440"/>
                  </a:cubicBezTo>
                  <a:cubicBezTo>
                    <a:pt x="1275080" y="4028440"/>
                    <a:pt x="810260" y="3859530"/>
                    <a:pt x="486410" y="3520440"/>
                  </a:cubicBezTo>
                  <a:cubicBezTo>
                    <a:pt x="161290" y="3183890"/>
                    <a:pt x="0" y="2687320"/>
                    <a:pt x="0" y="2034540"/>
                  </a:cubicBezTo>
                  <a:cubicBezTo>
                    <a:pt x="0" y="1381760"/>
                    <a:pt x="184150" y="880110"/>
                    <a:pt x="552450" y="527050"/>
                  </a:cubicBezTo>
                  <a:cubicBezTo>
                    <a:pt x="920750" y="176530"/>
                    <a:pt x="1433830" y="0"/>
                    <a:pt x="2091690" y="0"/>
                  </a:cubicBezTo>
                  <a:cubicBezTo>
                    <a:pt x="2556510" y="0"/>
                    <a:pt x="2910840" y="93980"/>
                    <a:pt x="3157220" y="280670"/>
                  </a:cubicBezTo>
                  <a:cubicBezTo>
                    <a:pt x="3402330" y="467360"/>
                    <a:pt x="3525520" y="702310"/>
                    <a:pt x="3525520" y="982980"/>
                  </a:cubicBezTo>
                  <a:cubicBezTo>
                    <a:pt x="3525520" y="1264920"/>
                    <a:pt x="3467100" y="1470660"/>
                    <a:pt x="3348990" y="1600200"/>
                  </a:cubicBezTo>
                  <a:cubicBezTo>
                    <a:pt x="3230880" y="1729740"/>
                    <a:pt x="3069590" y="1795780"/>
                    <a:pt x="2863850" y="1795780"/>
                  </a:cubicBezTo>
                  <a:cubicBezTo>
                    <a:pt x="2658110" y="1795780"/>
                    <a:pt x="2491740" y="1738630"/>
                    <a:pt x="2366010" y="1625600"/>
                  </a:cubicBezTo>
                  <a:cubicBezTo>
                    <a:pt x="2240280" y="1511300"/>
                    <a:pt x="2178050" y="1343660"/>
                    <a:pt x="2178050" y="1121410"/>
                  </a:cubicBezTo>
                  <a:cubicBezTo>
                    <a:pt x="2178050" y="1023620"/>
                    <a:pt x="2190750" y="925830"/>
                    <a:pt x="2217420" y="829310"/>
                  </a:cubicBezTo>
                  <a:lnTo>
                    <a:pt x="2476500" y="829310"/>
                  </a:lnTo>
                  <a:cubicBezTo>
                    <a:pt x="2513330" y="721360"/>
                    <a:pt x="2531110" y="623570"/>
                    <a:pt x="2531110" y="537210"/>
                  </a:cubicBezTo>
                  <a:cubicBezTo>
                    <a:pt x="2529840" y="276860"/>
                    <a:pt x="2405380" y="146050"/>
                    <a:pt x="2153920" y="14605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9000"/>
                  </a:srgbClr>
                </a:gs>
                <a:gs pos="100000">
                  <a:srgbClr val="B4D7FF">
                    <a:alpha val="19600"/>
                  </a:srgbClr>
                </a:gs>
              </a:gsLst>
              <a:lin ang="144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129991" y="6616083"/>
            <a:ext cx="3437849" cy="3691233"/>
            <a:chOff x="0" y="0"/>
            <a:chExt cx="5341620" cy="57353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342890" cy="5736590"/>
            </a:xfrm>
            <a:custGeom>
              <a:avLst/>
              <a:gdLst/>
              <a:ahLst/>
              <a:cxnLst/>
              <a:rect l="l" t="t" r="r" b="b"/>
              <a:pathLst>
                <a:path w="5342890" h="5736590">
                  <a:moveTo>
                    <a:pt x="3336290" y="5581650"/>
                  </a:moveTo>
                  <a:lnTo>
                    <a:pt x="2764790" y="3826510"/>
                  </a:lnTo>
                  <a:lnTo>
                    <a:pt x="1214120" y="3826510"/>
                  </a:lnTo>
                  <a:lnTo>
                    <a:pt x="610870" y="5581650"/>
                  </a:lnTo>
                  <a:lnTo>
                    <a:pt x="1198880" y="5581650"/>
                  </a:lnTo>
                  <a:lnTo>
                    <a:pt x="1198880" y="5736590"/>
                  </a:lnTo>
                  <a:lnTo>
                    <a:pt x="0" y="5736590"/>
                  </a:lnTo>
                  <a:lnTo>
                    <a:pt x="0" y="5581650"/>
                  </a:lnTo>
                  <a:lnTo>
                    <a:pt x="368300" y="5581650"/>
                  </a:lnTo>
                  <a:lnTo>
                    <a:pt x="2366010" y="0"/>
                  </a:lnTo>
                  <a:lnTo>
                    <a:pt x="3008630" y="0"/>
                  </a:lnTo>
                  <a:lnTo>
                    <a:pt x="4982210" y="5581650"/>
                  </a:lnTo>
                  <a:lnTo>
                    <a:pt x="5342890" y="5581650"/>
                  </a:lnTo>
                  <a:lnTo>
                    <a:pt x="5342890" y="5736590"/>
                  </a:lnTo>
                  <a:lnTo>
                    <a:pt x="2781300" y="5736590"/>
                  </a:lnTo>
                  <a:lnTo>
                    <a:pt x="2781300" y="5581650"/>
                  </a:lnTo>
                  <a:lnTo>
                    <a:pt x="3336290" y="5581650"/>
                  </a:lnTo>
                  <a:close/>
                  <a:moveTo>
                    <a:pt x="2020570" y="1518920"/>
                  </a:moveTo>
                  <a:lnTo>
                    <a:pt x="1283970" y="3647440"/>
                  </a:lnTo>
                  <a:lnTo>
                    <a:pt x="2701290" y="3647440"/>
                  </a:lnTo>
                  <a:lnTo>
                    <a:pt x="2020570" y="151892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9000"/>
                  </a:srgbClr>
                </a:gs>
                <a:gs pos="100000">
                  <a:srgbClr val="B4D7FF">
                    <a:alpha val="19600"/>
                  </a:srgbClr>
                </a:gs>
              </a:gsLst>
              <a:lin ang="144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585960" y="6595767"/>
            <a:ext cx="2497010" cy="3691233"/>
            <a:chOff x="0" y="0"/>
            <a:chExt cx="2307590" cy="34112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07590" cy="3412490"/>
            </a:xfrm>
            <a:custGeom>
              <a:avLst/>
              <a:gdLst/>
              <a:ahLst/>
              <a:cxnLst/>
              <a:rect l="l" t="t" r="r" b="b"/>
              <a:pathLst>
                <a:path w="2307590" h="3412490">
                  <a:moveTo>
                    <a:pt x="2307590" y="2264410"/>
                  </a:moveTo>
                  <a:lnTo>
                    <a:pt x="2307590" y="0"/>
                  </a:lnTo>
                  <a:lnTo>
                    <a:pt x="1521460" y="0"/>
                  </a:lnTo>
                  <a:lnTo>
                    <a:pt x="1521460" y="2244090"/>
                  </a:lnTo>
                  <a:cubicBezTo>
                    <a:pt x="1521460" y="2397760"/>
                    <a:pt x="1488440" y="2512060"/>
                    <a:pt x="1423670" y="2585720"/>
                  </a:cubicBezTo>
                  <a:cubicBezTo>
                    <a:pt x="1360170" y="2656840"/>
                    <a:pt x="1271270" y="2689860"/>
                    <a:pt x="1150620" y="2689860"/>
                  </a:cubicBezTo>
                  <a:cubicBezTo>
                    <a:pt x="1029970" y="2689860"/>
                    <a:pt x="942340" y="2655570"/>
                    <a:pt x="880110" y="2585720"/>
                  </a:cubicBezTo>
                  <a:cubicBezTo>
                    <a:pt x="815340" y="2512060"/>
                    <a:pt x="783590" y="2397760"/>
                    <a:pt x="783590" y="2244090"/>
                  </a:cubicBezTo>
                  <a:lnTo>
                    <a:pt x="783590" y="0"/>
                  </a:lnTo>
                  <a:lnTo>
                    <a:pt x="0" y="0"/>
                  </a:lnTo>
                  <a:lnTo>
                    <a:pt x="0" y="2264410"/>
                  </a:lnTo>
                  <a:cubicBezTo>
                    <a:pt x="0" y="2446020"/>
                    <a:pt x="26670" y="2609850"/>
                    <a:pt x="78740" y="2750820"/>
                  </a:cubicBezTo>
                  <a:cubicBezTo>
                    <a:pt x="132080" y="2895600"/>
                    <a:pt x="209550" y="3017520"/>
                    <a:pt x="311150" y="3116580"/>
                  </a:cubicBezTo>
                  <a:cubicBezTo>
                    <a:pt x="411480" y="3214370"/>
                    <a:pt x="534670" y="3289300"/>
                    <a:pt x="678180" y="3338830"/>
                  </a:cubicBezTo>
                  <a:cubicBezTo>
                    <a:pt x="817880" y="3387090"/>
                    <a:pt x="976630" y="3412490"/>
                    <a:pt x="1151890" y="3412490"/>
                  </a:cubicBezTo>
                  <a:cubicBezTo>
                    <a:pt x="1325880" y="3412490"/>
                    <a:pt x="1485900" y="3388360"/>
                    <a:pt x="1625600" y="3340100"/>
                  </a:cubicBezTo>
                  <a:cubicBezTo>
                    <a:pt x="1769110" y="3290570"/>
                    <a:pt x="1893570" y="3215640"/>
                    <a:pt x="1995170" y="3117850"/>
                  </a:cubicBezTo>
                  <a:cubicBezTo>
                    <a:pt x="2096770" y="3020060"/>
                    <a:pt x="2175510" y="2896870"/>
                    <a:pt x="2228850" y="2753360"/>
                  </a:cubicBezTo>
                  <a:cubicBezTo>
                    <a:pt x="2280920" y="2609850"/>
                    <a:pt x="2307590" y="2446020"/>
                    <a:pt x="2307590" y="226441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9000"/>
                  </a:srgbClr>
                </a:gs>
                <a:gs pos="100000">
                  <a:srgbClr val="B4D7FF">
                    <a:alpha val="19600"/>
                  </a:srgbClr>
                </a:gs>
              </a:gsLst>
              <a:lin ang="144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205367" y="6607455"/>
            <a:ext cx="2682407" cy="3708488"/>
            <a:chOff x="0" y="0"/>
            <a:chExt cx="2426970" cy="33553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26970" cy="3355340"/>
            </a:xfrm>
            <a:custGeom>
              <a:avLst/>
              <a:gdLst/>
              <a:ahLst/>
              <a:cxnLst/>
              <a:rect l="l" t="t" r="r" b="b"/>
              <a:pathLst>
                <a:path w="2426970" h="3355340">
                  <a:moveTo>
                    <a:pt x="1653540" y="3244850"/>
                  </a:moveTo>
                  <a:cubicBezTo>
                    <a:pt x="1819910" y="3169920"/>
                    <a:pt x="1963420" y="3056890"/>
                    <a:pt x="2077720" y="2908300"/>
                  </a:cubicBezTo>
                  <a:cubicBezTo>
                    <a:pt x="2190750" y="2763520"/>
                    <a:pt x="2278380" y="2580640"/>
                    <a:pt x="2338070" y="2366010"/>
                  </a:cubicBezTo>
                  <a:cubicBezTo>
                    <a:pt x="2396490" y="2155190"/>
                    <a:pt x="2426970" y="1908810"/>
                    <a:pt x="2426970" y="1631950"/>
                  </a:cubicBezTo>
                  <a:cubicBezTo>
                    <a:pt x="2426970" y="1369060"/>
                    <a:pt x="2396490" y="1135380"/>
                    <a:pt x="2338070" y="935990"/>
                  </a:cubicBezTo>
                  <a:cubicBezTo>
                    <a:pt x="2278380" y="732790"/>
                    <a:pt x="2189480" y="560070"/>
                    <a:pt x="2076450" y="421640"/>
                  </a:cubicBezTo>
                  <a:cubicBezTo>
                    <a:pt x="1960880" y="281940"/>
                    <a:pt x="1818640" y="173990"/>
                    <a:pt x="1651000" y="104140"/>
                  </a:cubicBezTo>
                  <a:cubicBezTo>
                    <a:pt x="1487170" y="35560"/>
                    <a:pt x="1301750" y="0"/>
                    <a:pt x="1098550" y="0"/>
                  </a:cubicBezTo>
                  <a:lnTo>
                    <a:pt x="0" y="0"/>
                  </a:lnTo>
                  <a:lnTo>
                    <a:pt x="0" y="3355340"/>
                  </a:lnTo>
                  <a:lnTo>
                    <a:pt x="1098550" y="3355340"/>
                  </a:lnTo>
                  <a:cubicBezTo>
                    <a:pt x="1301750" y="3355340"/>
                    <a:pt x="1488440" y="3318510"/>
                    <a:pt x="1653540" y="3244850"/>
                  </a:cubicBezTo>
                  <a:close/>
                  <a:moveTo>
                    <a:pt x="1043940" y="739140"/>
                  </a:moveTo>
                  <a:cubicBezTo>
                    <a:pt x="1134110" y="739140"/>
                    <a:pt x="1215390" y="754380"/>
                    <a:pt x="1285240" y="786130"/>
                  </a:cubicBezTo>
                  <a:cubicBezTo>
                    <a:pt x="1355090" y="816610"/>
                    <a:pt x="1412240" y="861060"/>
                    <a:pt x="1461770" y="922020"/>
                  </a:cubicBezTo>
                  <a:cubicBezTo>
                    <a:pt x="1512570" y="984250"/>
                    <a:pt x="1551940" y="1064260"/>
                    <a:pt x="1579880" y="1160780"/>
                  </a:cubicBezTo>
                  <a:cubicBezTo>
                    <a:pt x="1609090" y="1261110"/>
                    <a:pt x="1623060" y="1381760"/>
                    <a:pt x="1623060" y="1518920"/>
                  </a:cubicBezTo>
                  <a:lnTo>
                    <a:pt x="1623060" y="1746250"/>
                  </a:lnTo>
                  <a:cubicBezTo>
                    <a:pt x="1623060" y="1899920"/>
                    <a:pt x="1607820" y="2035810"/>
                    <a:pt x="1578610" y="2148840"/>
                  </a:cubicBezTo>
                  <a:cubicBezTo>
                    <a:pt x="1550670" y="2258060"/>
                    <a:pt x="1510030" y="2348230"/>
                    <a:pt x="1459230" y="2418080"/>
                  </a:cubicBezTo>
                  <a:cubicBezTo>
                    <a:pt x="1409700" y="2485390"/>
                    <a:pt x="1351280" y="2534920"/>
                    <a:pt x="1282700" y="2567940"/>
                  </a:cubicBezTo>
                  <a:cubicBezTo>
                    <a:pt x="1212850" y="2600960"/>
                    <a:pt x="1132840" y="2618740"/>
                    <a:pt x="1045210" y="2618740"/>
                  </a:cubicBezTo>
                  <a:lnTo>
                    <a:pt x="783590" y="2618740"/>
                  </a:lnTo>
                  <a:lnTo>
                    <a:pt x="783590" y="739140"/>
                  </a:lnTo>
                  <a:lnTo>
                    <a:pt x="1043940" y="73914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9000"/>
                  </a:srgbClr>
                </a:gs>
                <a:gs pos="100000">
                  <a:srgbClr val="B4D7FF">
                    <a:alpha val="19600"/>
                  </a:srgbClr>
                </a:gs>
              </a:gsLst>
              <a:lin ang="144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0" y="6607455"/>
            <a:ext cx="2661472" cy="3679545"/>
            <a:chOff x="0" y="0"/>
            <a:chExt cx="2426970" cy="3355340"/>
          </a:xfrm>
        </p:grpSpPr>
        <p:sp>
          <p:nvSpPr>
            <p:cNvPr id="26" name="Freeform 26"/>
            <p:cNvSpPr/>
            <p:nvPr/>
          </p:nvSpPr>
          <p:spPr>
            <a:xfrm>
              <a:off x="0" y="2540"/>
              <a:ext cx="2426970" cy="3355340"/>
            </a:xfrm>
            <a:custGeom>
              <a:avLst/>
              <a:gdLst/>
              <a:ahLst/>
              <a:cxnLst/>
              <a:rect l="l" t="t" r="r" b="b"/>
              <a:pathLst>
                <a:path w="2426970" h="3355340">
                  <a:moveTo>
                    <a:pt x="1798320" y="3290570"/>
                  </a:moveTo>
                  <a:cubicBezTo>
                    <a:pt x="1920240" y="3248660"/>
                    <a:pt x="2029460" y="3185160"/>
                    <a:pt x="2122170" y="3102610"/>
                  </a:cubicBezTo>
                  <a:cubicBezTo>
                    <a:pt x="2214880" y="3020060"/>
                    <a:pt x="2289810" y="2919730"/>
                    <a:pt x="2344420" y="2802890"/>
                  </a:cubicBezTo>
                  <a:cubicBezTo>
                    <a:pt x="2399030" y="2684780"/>
                    <a:pt x="2426970" y="2550160"/>
                    <a:pt x="2426970" y="2402840"/>
                  </a:cubicBezTo>
                  <a:cubicBezTo>
                    <a:pt x="2426970" y="2292350"/>
                    <a:pt x="2411730" y="2188210"/>
                    <a:pt x="2381250" y="2091690"/>
                  </a:cubicBezTo>
                  <a:cubicBezTo>
                    <a:pt x="2350770" y="1995170"/>
                    <a:pt x="2307590" y="1908810"/>
                    <a:pt x="2251710" y="1832610"/>
                  </a:cubicBezTo>
                  <a:cubicBezTo>
                    <a:pt x="2197100" y="1756410"/>
                    <a:pt x="2131060" y="1690370"/>
                    <a:pt x="2056130" y="1637030"/>
                  </a:cubicBezTo>
                  <a:cubicBezTo>
                    <a:pt x="2039620" y="1624330"/>
                    <a:pt x="2021840" y="1612900"/>
                    <a:pt x="2004060" y="1602740"/>
                  </a:cubicBezTo>
                  <a:cubicBezTo>
                    <a:pt x="2012950" y="1596390"/>
                    <a:pt x="2021840" y="1590040"/>
                    <a:pt x="2029460" y="1583690"/>
                  </a:cubicBezTo>
                  <a:cubicBezTo>
                    <a:pt x="2095500" y="1532890"/>
                    <a:pt x="2152650" y="1471930"/>
                    <a:pt x="2200910" y="1403350"/>
                  </a:cubicBezTo>
                  <a:cubicBezTo>
                    <a:pt x="2249170" y="1334770"/>
                    <a:pt x="2287270" y="1254760"/>
                    <a:pt x="2313940" y="1168400"/>
                  </a:cubicBezTo>
                  <a:cubicBezTo>
                    <a:pt x="2340610" y="1082040"/>
                    <a:pt x="2354580" y="986790"/>
                    <a:pt x="2354580" y="885190"/>
                  </a:cubicBezTo>
                  <a:cubicBezTo>
                    <a:pt x="2354580" y="754380"/>
                    <a:pt x="2330450" y="633730"/>
                    <a:pt x="2282190" y="524510"/>
                  </a:cubicBezTo>
                  <a:cubicBezTo>
                    <a:pt x="2233930" y="415290"/>
                    <a:pt x="2167890" y="321310"/>
                    <a:pt x="2082800" y="243840"/>
                  </a:cubicBezTo>
                  <a:cubicBezTo>
                    <a:pt x="1998980" y="166370"/>
                    <a:pt x="1898650" y="106680"/>
                    <a:pt x="1785620" y="63500"/>
                  </a:cubicBezTo>
                  <a:cubicBezTo>
                    <a:pt x="1672590" y="21590"/>
                    <a:pt x="1548130" y="0"/>
                    <a:pt x="1416050" y="0"/>
                  </a:cubicBezTo>
                  <a:lnTo>
                    <a:pt x="0" y="0"/>
                  </a:lnTo>
                  <a:lnTo>
                    <a:pt x="0" y="3355340"/>
                  </a:lnTo>
                  <a:lnTo>
                    <a:pt x="1417320" y="3355340"/>
                  </a:lnTo>
                  <a:cubicBezTo>
                    <a:pt x="1550670" y="3352800"/>
                    <a:pt x="1678940" y="3332480"/>
                    <a:pt x="1798320" y="3290570"/>
                  </a:cubicBezTo>
                  <a:close/>
                  <a:moveTo>
                    <a:pt x="1539240" y="1102360"/>
                  </a:moveTo>
                  <a:cubicBezTo>
                    <a:pt x="1527810" y="1135380"/>
                    <a:pt x="1511300" y="1162050"/>
                    <a:pt x="1487170" y="1186180"/>
                  </a:cubicBezTo>
                  <a:cubicBezTo>
                    <a:pt x="1464310" y="1210310"/>
                    <a:pt x="1433830" y="1230630"/>
                    <a:pt x="1397000" y="1245870"/>
                  </a:cubicBezTo>
                  <a:cubicBezTo>
                    <a:pt x="1360170" y="1261110"/>
                    <a:pt x="1314450" y="1268730"/>
                    <a:pt x="1259840" y="1268730"/>
                  </a:cubicBezTo>
                  <a:lnTo>
                    <a:pt x="783590" y="1268730"/>
                  </a:lnTo>
                  <a:lnTo>
                    <a:pt x="783590" y="736600"/>
                  </a:lnTo>
                  <a:lnTo>
                    <a:pt x="1289050" y="736600"/>
                  </a:lnTo>
                  <a:cubicBezTo>
                    <a:pt x="1375410" y="736600"/>
                    <a:pt x="1441450" y="756920"/>
                    <a:pt x="1490980" y="800100"/>
                  </a:cubicBezTo>
                  <a:cubicBezTo>
                    <a:pt x="1535430" y="839470"/>
                    <a:pt x="1558290" y="900430"/>
                    <a:pt x="1558290" y="988060"/>
                  </a:cubicBezTo>
                  <a:cubicBezTo>
                    <a:pt x="1558290" y="1028700"/>
                    <a:pt x="1551940" y="1068070"/>
                    <a:pt x="1539240" y="1102360"/>
                  </a:cubicBezTo>
                  <a:close/>
                  <a:moveTo>
                    <a:pt x="1606550" y="2194560"/>
                  </a:moveTo>
                  <a:cubicBezTo>
                    <a:pt x="1620520" y="2236470"/>
                    <a:pt x="1628140" y="2280920"/>
                    <a:pt x="1628140" y="2327910"/>
                  </a:cubicBezTo>
                  <a:cubicBezTo>
                    <a:pt x="1628140" y="2377440"/>
                    <a:pt x="1620520" y="2419350"/>
                    <a:pt x="1605280" y="2454910"/>
                  </a:cubicBezTo>
                  <a:cubicBezTo>
                    <a:pt x="1590040" y="2490470"/>
                    <a:pt x="1570990" y="2518410"/>
                    <a:pt x="1545590" y="2541270"/>
                  </a:cubicBezTo>
                  <a:cubicBezTo>
                    <a:pt x="1518920" y="2565400"/>
                    <a:pt x="1489710" y="2583180"/>
                    <a:pt x="1452880" y="2594610"/>
                  </a:cubicBezTo>
                  <a:cubicBezTo>
                    <a:pt x="1414780" y="2607310"/>
                    <a:pt x="1371600" y="2614930"/>
                    <a:pt x="1324610" y="2614930"/>
                  </a:cubicBezTo>
                  <a:lnTo>
                    <a:pt x="783590" y="2614930"/>
                  </a:lnTo>
                  <a:lnTo>
                    <a:pt x="783590" y="2001520"/>
                  </a:lnTo>
                  <a:lnTo>
                    <a:pt x="1297940" y="2001520"/>
                  </a:lnTo>
                  <a:cubicBezTo>
                    <a:pt x="1357630" y="2001520"/>
                    <a:pt x="1408430" y="2010410"/>
                    <a:pt x="1450340" y="2026920"/>
                  </a:cubicBezTo>
                  <a:cubicBezTo>
                    <a:pt x="1490980" y="2043430"/>
                    <a:pt x="1522730" y="2065020"/>
                    <a:pt x="1548130" y="2092960"/>
                  </a:cubicBezTo>
                  <a:cubicBezTo>
                    <a:pt x="1573530" y="2123440"/>
                    <a:pt x="1592580" y="2156460"/>
                    <a:pt x="1606550" y="219456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9000"/>
                  </a:srgbClr>
                </a:gs>
                <a:gs pos="100000">
                  <a:srgbClr val="B4D7FF">
                    <a:alpha val="19600"/>
                  </a:srgbClr>
                </a:gs>
              </a:gsLst>
              <a:lin ang="144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2080895" y="5143500"/>
            <a:ext cx="14048105" cy="275844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7920"/>
              </a:lnSpc>
            </a:pPr>
            <a:r>
              <a:rPr lang="en-US" sz="6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97000">
                      <a:srgbClr val="05407E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基于超声影像的乳腺肿瘤分类分割</a:t>
            </a:r>
            <a:endParaRPr lang="en-US" sz="66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97000">
                    <a:srgbClr val="05407E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  <a:p>
            <a:pPr algn="ctr">
              <a:lnSpc>
                <a:spcPts val="7920"/>
              </a:lnSpc>
            </a:pPr>
            <a:r>
              <a:rPr lang="en-US" sz="6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97000">
                      <a:srgbClr val="05407E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辅助诊断系统设计</a:t>
            </a:r>
            <a:endParaRPr lang="en-US" sz="66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97000">
                    <a:srgbClr val="05407E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7619972" y="199217"/>
            <a:ext cx="3129894" cy="3129894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761" r="-761"/>
              </a:stretch>
            </a:blip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" y="1"/>
            <a:ext cx="5238207" cy="10287000"/>
          </a:xfrm>
          <a:custGeom>
            <a:avLst/>
            <a:gdLst/>
            <a:ahLst/>
            <a:cxnLst/>
            <a:rect l="l" t="t" r="r" b="b"/>
            <a:pathLst>
              <a:path w="5238207" h="10287000">
                <a:moveTo>
                  <a:pt x="0" y="0"/>
                </a:moveTo>
                <a:lnTo>
                  <a:pt x="5238207" y="0"/>
                </a:lnTo>
                <a:lnTo>
                  <a:pt x="523820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5" r="-5"/>
            </a:stretch>
          </a:blipFill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059315" y="3873475"/>
            <a:ext cx="1132865" cy="2540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目</a:t>
            </a:r>
            <a:endParaRPr lang="en-US" sz="81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  <a:p>
            <a:pPr algn="ctr">
              <a:lnSpc>
                <a:spcPts val="9720"/>
              </a:lnSpc>
            </a:pPr>
            <a:r>
              <a:rPr lang="en-US" sz="8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录</a:t>
            </a:r>
            <a:endParaRPr lang="en-US" sz="81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 rot="5400000">
            <a:off x="-2492006" y="4636951"/>
            <a:ext cx="7936801" cy="101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b="1" dirty="0">
                <a:gradFill>
                  <a:gsLst>
                    <a:gs pos="0">
                      <a:srgbClr val="FFFFFF">
                        <a:alpha val="45185"/>
                      </a:srgbClr>
                    </a:gs>
                    <a:gs pos="69000">
                      <a:srgbClr val="FFFFFF">
                        <a:alpha val="2204"/>
                      </a:srgbClr>
                    </a:gs>
                  </a:gsLst>
                  <a:lin ang="54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CATALOG PAGE</a:t>
            </a:r>
            <a:endParaRPr lang="en-US" sz="6600" b="1" dirty="0">
              <a:gradFill>
                <a:gsLst>
                  <a:gs pos="0">
                    <a:srgbClr val="FFFFFF">
                      <a:alpha val="45185"/>
                    </a:srgbClr>
                  </a:gs>
                  <a:gs pos="69000">
                    <a:srgbClr val="FFFFFF">
                      <a:alpha val="2204"/>
                    </a:srgbClr>
                  </a:gs>
                </a:gsLst>
                <a:lin ang="54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grpSp>
        <p:nvGrpSpPr>
          <p:cNvPr id="5" name="Group 5"/>
          <p:cNvGrpSpPr/>
          <p:nvPr/>
        </p:nvGrpSpPr>
        <p:grpSpPr>
          <a:xfrm rot="31620">
            <a:off x="2103196" y="2883227"/>
            <a:ext cx="1045093" cy="9525"/>
            <a:chOff x="0" y="0"/>
            <a:chExt cx="1393457" cy="127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93444" cy="12700"/>
            </a:xfrm>
            <a:custGeom>
              <a:avLst/>
              <a:gdLst/>
              <a:ahLst/>
              <a:cxnLst/>
              <a:rect l="l" t="t" r="r" b="b"/>
              <a:pathLst>
                <a:path w="1393444" h="12700">
                  <a:moveTo>
                    <a:pt x="6350" y="0"/>
                  </a:moveTo>
                  <a:lnTo>
                    <a:pt x="1387094" y="0"/>
                  </a:lnTo>
                  <a:cubicBezTo>
                    <a:pt x="1390650" y="0"/>
                    <a:pt x="1393444" y="2794"/>
                    <a:pt x="1393444" y="6350"/>
                  </a:cubicBezTo>
                  <a:cubicBezTo>
                    <a:pt x="1393444" y="9906"/>
                    <a:pt x="1390650" y="12700"/>
                    <a:pt x="1387094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 rot="8100000">
            <a:off x="2583485" y="3455079"/>
            <a:ext cx="84582" cy="84582"/>
            <a:chOff x="0" y="0"/>
            <a:chExt cx="112776" cy="11277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2776" cy="112776"/>
            </a:xfrm>
            <a:custGeom>
              <a:avLst/>
              <a:gdLst/>
              <a:ahLst/>
              <a:cxnLst/>
              <a:rect l="l" t="t" r="r" b="b"/>
              <a:pathLst>
                <a:path w="112776" h="112776">
                  <a:moveTo>
                    <a:pt x="6350" y="0"/>
                  </a:moveTo>
                  <a:lnTo>
                    <a:pt x="106426" y="0"/>
                  </a:lnTo>
                  <a:cubicBezTo>
                    <a:pt x="109982" y="0"/>
                    <a:pt x="112776" y="2794"/>
                    <a:pt x="112776" y="6350"/>
                  </a:cubicBezTo>
                  <a:lnTo>
                    <a:pt x="112776" y="106426"/>
                  </a:lnTo>
                  <a:cubicBezTo>
                    <a:pt x="112776" y="109982"/>
                    <a:pt x="109982" y="112776"/>
                    <a:pt x="106426" y="112776"/>
                  </a:cubicBezTo>
                  <a:lnTo>
                    <a:pt x="6350" y="112776"/>
                  </a:lnTo>
                  <a:cubicBezTo>
                    <a:pt x="2794" y="112776"/>
                    <a:pt x="0" y="109982"/>
                    <a:pt x="0" y="106426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06426"/>
                  </a:lnTo>
                  <a:lnTo>
                    <a:pt x="6350" y="106426"/>
                  </a:lnTo>
                  <a:lnTo>
                    <a:pt x="6350" y="100076"/>
                  </a:lnTo>
                  <a:lnTo>
                    <a:pt x="106426" y="100076"/>
                  </a:lnTo>
                  <a:lnTo>
                    <a:pt x="106426" y="106426"/>
                  </a:lnTo>
                  <a:lnTo>
                    <a:pt x="100076" y="106426"/>
                  </a:lnTo>
                  <a:lnTo>
                    <a:pt x="100076" y="6350"/>
                  </a:lnTo>
                  <a:lnTo>
                    <a:pt x="106426" y="6350"/>
                  </a:lnTo>
                  <a:lnTo>
                    <a:pt x="106426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8100000">
            <a:off x="2555281" y="3426876"/>
            <a:ext cx="140970" cy="140970"/>
            <a:chOff x="0" y="0"/>
            <a:chExt cx="187960" cy="1879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7960" cy="187960"/>
            </a:xfrm>
            <a:custGeom>
              <a:avLst/>
              <a:gdLst/>
              <a:ahLst/>
              <a:cxnLst/>
              <a:rect l="l" t="t" r="r" b="b"/>
              <a:pathLst>
                <a:path w="187960" h="187960">
                  <a:moveTo>
                    <a:pt x="6350" y="0"/>
                  </a:moveTo>
                  <a:lnTo>
                    <a:pt x="181610" y="0"/>
                  </a:lnTo>
                  <a:cubicBezTo>
                    <a:pt x="185166" y="0"/>
                    <a:pt x="187960" y="2794"/>
                    <a:pt x="187960" y="6350"/>
                  </a:cubicBezTo>
                  <a:lnTo>
                    <a:pt x="187960" y="181610"/>
                  </a:lnTo>
                  <a:cubicBezTo>
                    <a:pt x="187960" y="185166"/>
                    <a:pt x="185166" y="187960"/>
                    <a:pt x="181610" y="187960"/>
                  </a:cubicBezTo>
                  <a:lnTo>
                    <a:pt x="6350" y="187960"/>
                  </a:lnTo>
                  <a:cubicBezTo>
                    <a:pt x="2794" y="187960"/>
                    <a:pt x="0" y="185166"/>
                    <a:pt x="0" y="18161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81610"/>
                  </a:lnTo>
                  <a:lnTo>
                    <a:pt x="6350" y="181610"/>
                  </a:lnTo>
                  <a:lnTo>
                    <a:pt x="6350" y="175260"/>
                  </a:lnTo>
                  <a:lnTo>
                    <a:pt x="181610" y="175260"/>
                  </a:lnTo>
                  <a:lnTo>
                    <a:pt x="181610" y="181610"/>
                  </a:lnTo>
                  <a:lnTo>
                    <a:pt x="175260" y="181610"/>
                  </a:lnTo>
                  <a:lnTo>
                    <a:pt x="175260" y="6350"/>
                  </a:lnTo>
                  <a:lnTo>
                    <a:pt x="181610" y="6350"/>
                  </a:lnTo>
                  <a:lnTo>
                    <a:pt x="18161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31620">
            <a:off x="2103196" y="7384723"/>
            <a:ext cx="1045093" cy="9525"/>
            <a:chOff x="0" y="0"/>
            <a:chExt cx="1393457" cy="127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93444" cy="12700"/>
            </a:xfrm>
            <a:custGeom>
              <a:avLst/>
              <a:gdLst/>
              <a:ahLst/>
              <a:cxnLst/>
              <a:rect l="l" t="t" r="r" b="b"/>
              <a:pathLst>
                <a:path w="1393444" h="12700">
                  <a:moveTo>
                    <a:pt x="6350" y="0"/>
                  </a:moveTo>
                  <a:lnTo>
                    <a:pt x="1387094" y="0"/>
                  </a:lnTo>
                  <a:cubicBezTo>
                    <a:pt x="1390650" y="0"/>
                    <a:pt x="1393444" y="2794"/>
                    <a:pt x="1393444" y="6350"/>
                  </a:cubicBezTo>
                  <a:cubicBezTo>
                    <a:pt x="1393444" y="9906"/>
                    <a:pt x="1390650" y="12700"/>
                    <a:pt x="1387094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2700000">
            <a:off x="2583456" y="6747310"/>
            <a:ext cx="84582" cy="84582"/>
            <a:chOff x="0" y="0"/>
            <a:chExt cx="112776" cy="1127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2776" cy="112776"/>
            </a:xfrm>
            <a:custGeom>
              <a:avLst/>
              <a:gdLst/>
              <a:ahLst/>
              <a:cxnLst/>
              <a:rect l="l" t="t" r="r" b="b"/>
              <a:pathLst>
                <a:path w="112776" h="112776">
                  <a:moveTo>
                    <a:pt x="106426" y="12700"/>
                  </a:moveTo>
                  <a:lnTo>
                    <a:pt x="6350" y="12700"/>
                  </a:lnTo>
                  <a:lnTo>
                    <a:pt x="6350" y="6350"/>
                  </a:lnTo>
                  <a:lnTo>
                    <a:pt x="12700" y="6350"/>
                  </a:lnTo>
                  <a:lnTo>
                    <a:pt x="12700" y="106426"/>
                  </a:lnTo>
                  <a:lnTo>
                    <a:pt x="6350" y="106426"/>
                  </a:lnTo>
                  <a:lnTo>
                    <a:pt x="6350" y="100076"/>
                  </a:lnTo>
                  <a:lnTo>
                    <a:pt x="106426" y="100076"/>
                  </a:lnTo>
                  <a:lnTo>
                    <a:pt x="106426" y="106426"/>
                  </a:lnTo>
                  <a:lnTo>
                    <a:pt x="100076" y="106426"/>
                  </a:lnTo>
                  <a:lnTo>
                    <a:pt x="100076" y="6350"/>
                  </a:lnTo>
                  <a:lnTo>
                    <a:pt x="106426" y="6350"/>
                  </a:lnTo>
                  <a:lnTo>
                    <a:pt x="106426" y="12700"/>
                  </a:lnTo>
                  <a:moveTo>
                    <a:pt x="106426" y="0"/>
                  </a:moveTo>
                  <a:cubicBezTo>
                    <a:pt x="109982" y="0"/>
                    <a:pt x="112776" y="2794"/>
                    <a:pt x="112776" y="6350"/>
                  </a:cubicBezTo>
                  <a:lnTo>
                    <a:pt x="112776" y="106426"/>
                  </a:lnTo>
                  <a:cubicBezTo>
                    <a:pt x="112776" y="109982"/>
                    <a:pt x="109982" y="112776"/>
                    <a:pt x="106426" y="112776"/>
                  </a:cubicBezTo>
                  <a:lnTo>
                    <a:pt x="6350" y="112776"/>
                  </a:lnTo>
                  <a:cubicBezTo>
                    <a:pt x="2794" y="112776"/>
                    <a:pt x="0" y="109982"/>
                    <a:pt x="0" y="106426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lnTo>
                    <a:pt x="1064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2700000">
            <a:off x="2555253" y="6719125"/>
            <a:ext cx="140970" cy="140970"/>
            <a:chOff x="0" y="0"/>
            <a:chExt cx="187960" cy="1879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7960" cy="187960"/>
            </a:xfrm>
            <a:custGeom>
              <a:avLst/>
              <a:gdLst/>
              <a:ahLst/>
              <a:cxnLst/>
              <a:rect l="l" t="t" r="r" b="b"/>
              <a:pathLst>
                <a:path w="187960" h="187960">
                  <a:moveTo>
                    <a:pt x="181610" y="12700"/>
                  </a:moveTo>
                  <a:lnTo>
                    <a:pt x="6350" y="12700"/>
                  </a:lnTo>
                  <a:lnTo>
                    <a:pt x="6350" y="6350"/>
                  </a:lnTo>
                  <a:lnTo>
                    <a:pt x="12700" y="6350"/>
                  </a:lnTo>
                  <a:lnTo>
                    <a:pt x="12700" y="181610"/>
                  </a:lnTo>
                  <a:lnTo>
                    <a:pt x="6350" y="181610"/>
                  </a:lnTo>
                  <a:lnTo>
                    <a:pt x="6350" y="175260"/>
                  </a:lnTo>
                  <a:lnTo>
                    <a:pt x="181610" y="175260"/>
                  </a:lnTo>
                  <a:lnTo>
                    <a:pt x="181610" y="181610"/>
                  </a:lnTo>
                  <a:lnTo>
                    <a:pt x="175260" y="181610"/>
                  </a:lnTo>
                  <a:lnTo>
                    <a:pt x="175260" y="6350"/>
                  </a:lnTo>
                  <a:lnTo>
                    <a:pt x="181610" y="6350"/>
                  </a:lnTo>
                  <a:lnTo>
                    <a:pt x="181610" y="12700"/>
                  </a:lnTo>
                  <a:moveTo>
                    <a:pt x="181610" y="0"/>
                  </a:moveTo>
                  <a:cubicBezTo>
                    <a:pt x="185166" y="0"/>
                    <a:pt x="187960" y="2794"/>
                    <a:pt x="187960" y="6350"/>
                  </a:cubicBezTo>
                  <a:lnTo>
                    <a:pt x="187960" y="181610"/>
                  </a:lnTo>
                  <a:cubicBezTo>
                    <a:pt x="187960" y="185166"/>
                    <a:pt x="185166" y="187960"/>
                    <a:pt x="181610" y="187960"/>
                  </a:cubicBezTo>
                  <a:lnTo>
                    <a:pt x="6350" y="187960"/>
                  </a:lnTo>
                  <a:cubicBezTo>
                    <a:pt x="2794" y="187960"/>
                    <a:pt x="0" y="185166"/>
                    <a:pt x="0" y="18161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lnTo>
                    <a:pt x="1816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" name="Group 19"/>
          <p:cNvGrpSpPr/>
          <p:nvPr>
            <p:custDataLst>
              <p:tags r:id="rId3"/>
            </p:custDataLst>
          </p:nvPr>
        </p:nvGrpSpPr>
        <p:grpSpPr>
          <a:xfrm>
            <a:off x="6698275" y="1456477"/>
            <a:ext cx="914400" cy="1018794"/>
            <a:chOff x="0" y="0"/>
            <a:chExt cx="1219200" cy="1358392"/>
          </a:xfrm>
        </p:grpSpPr>
        <p:sp>
          <p:nvSpPr>
            <p:cNvPr id="20" name="Freeform 20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219200" cy="1358392"/>
            </a:xfrm>
            <a:custGeom>
              <a:avLst/>
              <a:gdLst/>
              <a:ahLst/>
              <a:cxnLst/>
              <a:rect l="l" t="t" r="r" b="b"/>
              <a:pathLst>
                <a:path w="1219200" h="1358392">
                  <a:moveTo>
                    <a:pt x="666623" y="0"/>
                  </a:moveTo>
                  <a:lnTo>
                    <a:pt x="708533" y="0"/>
                  </a:lnTo>
                  <a:lnTo>
                    <a:pt x="754888" y="4699"/>
                  </a:lnTo>
                  <a:lnTo>
                    <a:pt x="766191" y="0"/>
                  </a:lnTo>
                  <a:lnTo>
                    <a:pt x="1138936" y="0"/>
                  </a:lnTo>
                  <a:cubicBezTo>
                    <a:pt x="1183259" y="0"/>
                    <a:pt x="1219200" y="35941"/>
                    <a:pt x="1219200" y="80264"/>
                  </a:cubicBezTo>
                  <a:lnTo>
                    <a:pt x="1219200" y="526796"/>
                  </a:lnTo>
                  <a:lnTo>
                    <a:pt x="1219200" y="831596"/>
                  </a:lnTo>
                  <a:lnTo>
                    <a:pt x="1219200" y="1278128"/>
                  </a:lnTo>
                  <a:cubicBezTo>
                    <a:pt x="1219200" y="1322451"/>
                    <a:pt x="1183259" y="1358392"/>
                    <a:pt x="1138936" y="1358392"/>
                  </a:cubicBezTo>
                  <a:lnTo>
                    <a:pt x="766191" y="1358392"/>
                  </a:lnTo>
                  <a:lnTo>
                    <a:pt x="754888" y="1353693"/>
                  </a:lnTo>
                  <a:lnTo>
                    <a:pt x="708533" y="1358392"/>
                  </a:lnTo>
                  <a:lnTo>
                    <a:pt x="666623" y="1358392"/>
                  </a:lnTo>
                  <a:cubicBezTo>
                    <a:pt x="298450" y="1358392"/>
                    <a:pt x="0" y="1059942"/>
                    <a:pt x="0" y="691769"/>
                  </a:cubicBezTo>
                  <a:lnTo>
                    <a:pt x="2540" y="679196"/>
                  </a:lnTo>
                  <a:lnTo>
                    <a:pt x="0" y="666623"/>
                  </a:lnTo>
                  <a:cubicBezTo>
                    <a:pt x="0" y="298450"/>
                    <a:pt x="298450" y="0"/>
                    <a:pt x="66662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1" name="TextBox 21"/>
          <p:cNvSpPr txBox="1"/>
          <p:nvPr>
            <p:custDataLst>
              <p:tags r:id="rId5"/>
            </p:custDataLst>
          </p:nvPr>
        </p:nvSpPr>
        <p:spPr>
          <a:xfrm>
            <a:off x="6804584" y="1665341"/>
            <a:ext cx="876662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01</a:t>
            </a:r>
            <a:endParaRPr lang="en-US" sz="3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grpSp>
        <p:nvGrpSpPr>
          <p:cNvPr id="22" name="Group 22"/>
          <p:cNvGrpSpPr/>
          <p:nvPr>
            <p:custDataLst>
              <p:tags r:id="rId6"/>
            </p:custDataLst>
          </p:nvPr>
        </p:nvGrpSpPr>
        <p:grpSpPr>
          <a:xfrm>
            <a:off x="7670340" y="1458268"/>
            <a:ext cx="108013" cy="1015174"/>
            <a:chOff x="0" y="0"/>
            <a:chExt cx="144018" cy="1353566"/>
          </a:xfrm>
        </p:grpSpPr>
        <p:sp>
          <p:nvSpPr>
            <p:cNvPr id="23" name="Freeform 23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44018" cy="1353566"/>
            </a:xfrm>
            <a:custGeom>
              <a:avLst/>
              <a:gdLst/>
              <a:ahLst/>
              <a:cxnLst/>
              <a:rect l="l" t="t" r="r" b="b"/>
              <a:pathLst>
                <a:path w="144018" h="1353566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cubicBezTo>
                    <a:pt x="111760" y="0"/>
                    <a:pt x="144018" y="32258"/>
                    <a:pt x="144018" y="72009"/>
                  </a:cubicBezTo>
                  <a:lnTo>
                    <a:pt x="144018" y="1281557"/>
                  </a:lnTo>
                  <a:cubicBezTo>
                    <a:pt x="144018" y="1321308"/>
                    <a:pt x="111760" y="1353566"/>
                    <a:pt x="72009" y="1353566"/>
                  </a:cubicBezTo>
                  <a:cubicBezTo>
                    <a:pt x="32258" y="1353566"/>
                    <a:pt x="0" y="1321308"/>
                    <a:pt x="0" y="1281557"/>
                  </a:cubicBezTo>
                  <a:close/>
                </a:path>
              </a:pathLst>
            </a:custGeom>
            <a:solidFill>
              <a:srgbClr val="B4D7FF">
                <a:alpha val="2353"/>
              </a:srgbClr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4" name="TextBox 24"/>
          <p:cNvSpPr txBox="1"/>
          <p:nvPr>
            <p:custDataLst>
              <p:tags r:id="rId8"/>
            </p:custDataLst>
          </p:nvPr>
        </p:nvSpPr>
        <p:spPr>
          <a:xfrm>
            <a:off x="7961630" y="1714500"/>
            <a:ext cx="3910965" cy="5710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背景问题与分析</a:t>
            </a:r>
            <a:endParaRPr lang="en-US" sz="39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grpSp>
        <p:nvGrpSpPr>
          <p:cNvPr id="26" name="Group 26"/>
          <p:cNvGrpSpPr/>
          <p:nvPr>
            <p:custDataLst>
              <p:tags r:id="rId9"/>
            </p:custDataLst>
          </p:nvPr>
        </p:nvGrpSpPr>
        <p:grpSpPr>
          <a:xfrm>
            <a:off x="6698275" y="3042933"/>
            <a:ext cx="914400" cy="1018794"/>
            <a:chOff x="0" y="0"/>
            <a:chExt cx="1219200" cy="1358392"/>
          </a:xfrm>
        </p:grpSpPr>
        <p:sp>
          <p:nvSpPr>
            <p:cNvPr id="27" name="Freeform 27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" cy="1358392"/>
            </a:xfrm>
            <a:custGeom>
              <a:avLst/>
              <a:gdLst/>
              <a:ahLst/>
              <a:cxnLst/>
              <a:rect l="l" t="t" r="r" b="b"/>
              <a:pathLst>
                <a:path w="1219200" h="1358392">
                  <a:moveTo>
                    <a:pt x="666623" y="0"/>
                  </a:moveTo>
                  <a:lnTo>
                    <a:pt x="708533" y="0"/>
                  </a:lnTo>
                  <a:lnTo>
                    <a:pt x="754888" y="4699"/>
                  </a:lnTo>
                  <a:lnTo>
                    <a:pt x="766191" y="0"/>
                  </a:lnTo>
                  <a:lnTo>
                    <a:pt x="1138936" y="0"/>
                  </a:lnTo>
                  <a:cubicBezTo>
                    <a:pt x="1183259" y="0"/>
                    <a:pt x="1219200" y="35941"/>
                    <a:pt x="1219200" y="80264"/>
                  </a:cubicBezTo>
                  <a:lnTo>
                    <a:pt x="1219200" y="526796"/>
                  </a:lnTo>
                  <a:lnTo>
                    <a:pt x="1219200" y="831596"/>
                  </a:lnTo>
                  <a:lnTo>
                    <a:pt x="1219200" y="1278128"/>
                  </a:lnTo>
                  <a:cubicBezTo>
                    <a:pt x="1219200" y="1322451"/>
                    <a:pt x="1183259" y="1358392"/>
                    <a:pt x="1138936" y="1358392"/>
                  </a:cubicBezTo>
                  <a:lnTo>
                    <a:pt x="766191" y="1358392"/>
                  </a:lnTo>
                  <a:lnTo>
                    <a:pt x="754888" y="1353693"/>
                  </a:lnTo>
                  <a:lnTo>
                    <a:pt x="708533" y="1358392"/>
                  </a:lnTo>
                  <a:lnTo>
                    <a:pt x="666623" y="1358392"/>
                  </a:lnTo>
                  <a:cubicBezTo>
                    <a:pt x="298450" y="1358392"/>
                    <a:pt x="0" y="1059942"/>
                    <a:pt x="0" y="691769"/>
                  </a:cubicBezTo>
                  <a:lnTo>
                    <a:pt x="2540" y="679196"/>
                  </a:lnTo>
                  <a:lnTo>
                    <a:pt x="0" y="666623"/>
                  </a:lnTo>
                  <a:cubicBezTo>
                    <a:pt x="0" y="298450"/>
                    <a:pt x="298450" y="0"/>
                    <a:pt x="66662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8" name="TextBox 28"/>
          <p:cNvSpPr txBox="1"/>
          <p:nvPr>
            <p:custDataLst>
              <p:tags r:id="rId11"/>
            </p:custDataLst>
          </p:nvPr>
        </p:nvSpPr>
        <p:spPr>
          <a:xfrm>
            <a:off x="6804584" y="3251797"/>
            <a:ext cx="876662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02</a:t>
            </a:r>
            <a:endParaRPr lang="en-US" sz="3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grpSp>
        <p:nvGrpSpPr>
          <p:cNvPr id="29" name="Group 29"/>
          <p:cNvGrpSpPr/>
          <p:nvPr>
            <p:custDataLst>
              <p:tags r:id="rId12"/>
            </p:custDataLst>
          </p:nvPr>
        </p:nvGrpSpPr>
        <p:grpSpPr>
          <a:xfrm>
            <a:off x="7670340" y="3044723"/>
            <a:ext cx="108013" cy="1015174"/>
            <a:chOff x="0" y="0"/>
            <a:chExt cx="144018" cy="1353566"/>
          </a:xfrm>
        </p:grpSpPr>
        <p:sp>
          <p:nvSpPr>
            <p:cNvPr id="30" name="Freeform 30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44018" cy="1353566"/>
            </a:xfrm>
            <a:custGeom>
              <a:avLst/>
              <a:gdLst/>
              <a:ahLst/>
              <a:cxnLst/>
              <a:rect l="l" t="t" r="r" b="b"/>
              <a:pathLst>
                <a:path w="144018" h="1353566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cubicBezTo>
                    <a:pt x="111760" y="0"/>
                    <a:pt x="144018" y="32258"/>
                    <a:pt x="144018" y="72009"/>
                  </a:cubicBezTo>
                  <a:lnTo>
                    <a:pt x="144018" y="1281557"/>
                  </a:lnTo>
                  <a:cubicBezTo>
                    <a:pt x="144018" y="1321308"/>
                    <a:pt x="111760" y="1353566"/>
                    <a:pt x="72009" y="1353566"/>
                  </a:cubicBezTo>
                  <a:cubicBezTo>
                    <a:pt x="32258" y="1353566"/>
                    <a:pt x="0" y="1321308"/>
                    <a:pt x="0" y="1281557"/>
                  </a:cubicBezTo>
                  <a:close/>
                </a:path>
              </a:pathLst>
            </a:custGeom>
            <a:solidFill>
              <a:srgbClr val="B4D7FF">
                <a:alpha val="2353"/>
              </a:srgbClr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1" name="TextBox 31"/>
          <p:cNvSpPr txBox="1"/>
          <p:nvPr>
            <p:custDataLst>
              <p:tags r:id="rId14"/>
            </p:custDataLst>
          </p:nvPr>
        </p:nvSpPr>
        <p:spPr>
          <a:xfrm>
            <a:off x="7972425" y="3252470"/>
            <a:ext cx="3910330" cy="5710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数据源</a:t>
            </a:r>
            <a:r>
              <a:rPr lang="zh-CN" altLang="en-US" sz="39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分类运用</a:t>
            </a:r>
            <a:endParaRPr lang="en-US" sz="39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grpSp>
        <p:nvGrpSpPr>
          <p:cNvPr id="33" name="Group 33"/>
          <p:cNvGrpSpPr/>
          <p:nvPr>
            <p:custDataLst>
              <p:tags r:id="rId15"/>
            </p:custDataLst>
          </p:nvPr>
        </p:nvGrpSpPr>
        <p:grpSpPr>
          <a:xfrm>
            <a:off x="6698275" y="4629388"/>
            <a:ext cx="914400" cy="1018794"/>
            <a:chOff x="0" y="0"/>
            <a:chExt cx="1219200" cy="1358392"/>
          </a:xfrm>
        </p:grpSpPr>
        <p:sp>
          <p:nvSpPr>
            <p:cNvPr id="34" name="Freeform 34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219200" cy="1358392"/>
            </a:xfrm>
            <a:custGeom>
              <a:avLst/>
              <a:gdLst/>
              <a:ahLst/>
              <a:cxnLst/>
              <a:rect l="l" t="t" r="r" b="b"/>
              <a:pathLst>
                <a:path w="1219200" h="1358392">
                  <a:moveTo>
                    <a:pt x="666623" y="0"/>
                  </a:moveTo>
                  <a:lnTo>
                    <a:pt x="708533" y="0"/>
                  </a:lnTo>
                  <a:lnTo>
                    <a:pt x="754888" y="4699"/>
                  </a:lnTo>
                  <a:lnTo>
                    <a:pt x="766191" y="0"/>
                  </a:lnTo>
                  <a:lnTo>
                    <a:pt x="1138936" y="0"/>
                  </a:lnTo>
                  <a:cubicBezTo>
                    <a:pt x="1183259" y="0"/>
                    <a:pt x="1219200" y="35941"/>
                    <a:pt x="1219200" y="80264"/>
                  </a:cubicBezTo>
                  <a:lnTo>
                    <a:pt x="1219200" y="526796"/>
                  </a:lnTo>
                  <a:lnTo>
                    <a:pt x="1219200" y="831596"/>
                  </a:lnTo>
                  <a:lnTo>
                    <a:pt x="1219200" y="1278128"/>
                  </a:lnTo>
                  <a:cubicBezTo>
                    <a:pt x="1219200" y="1322451"/>
                    <a:pt x="1183259" y="1358392"/>
                    <a:pt x="1138936" y="1358392"/>
                  </a:cubicBezTo>
                  <a:lnTo>
                    <a:pt x="766191" y="1358392"/>
                  </a:lnTo>
                  <a:lnTo>
                    <a:pt x="754888" y="1353693"/>
                  </a:lnTo>
                  <a:lnTo>
                    <a:pt x="708533" y="1358392"/>
                  </a:lnTo>
                  <a:lnTo>
                    <a:pt x="666623" y="1358392"/>
                  </a:lnTo>
                  <a:cubicBezTo>
                    <a:pt x="298450" y="1358392"/>
                    <a:pt x="0" y="1059942"/>
                    <a:pt x="0" y="691769"/>
                  </a:cubicBezTo>
                  <a:lnTo>
                    <a:pt x="2540" y="679196"/>
                  </a:lnTo>
                  <a:lnTo>
                    <a:pt x="0" y="666623"/>
                  </a:lnTo>
                  <a:cubicBezTo>
                    <a:pt x="0" y="298450"/>
                    <a:pt x="298450" y="0"/>
                    <a:pt x="66662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5" name="TextBox 35"/>
          <p:cNvSpPr txBox="1"/>
          <p:nvPr>
            <p:custDataLst>
              <p:tags r:id="rId17"/>
            </p:custDataLst>
          </p:nvPr>
        </p:nvSpPr>
        <p:spPr>
          <a:xfrm>
            <a:off x="6804584" y="4838252"/>
            <a:ext cx="876662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03</a:t>
            </a:r>
            <a:endParaRPr lang="en-US" sz="3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grpSp>
        <p:nvGrpSpPr>
          <p:cNvPr id="36" name="Group 36"/>
          <p:cNvGrpSpPr/>
          <p:nvPr>
            <p:custDataLst>
              <p:tags r:id="rId18"/>
            </p:custDataLst>
          </p:nvPr>
        </p:nvGrpSpPr>
        <p:grpSpPr>
          <a:xfrm>
            <a:off x="7670340" y="4631179"/>
            <a:ext cx="108013" cy="1015174"/>
            <a:chOff x="0" y="0"/>
            <a:chExt cx="144018" cy="1353566"/>
          </a:xfrm>
        </p:grpSpPr>
        <p:sp>
          <p:nvSpPr>
            <p:cNvPr id="37" name="Freeform 37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144018" cy="1353566"/>
            </a:xfrm>
            <a:custGeom>
              <a:avLst/>
              <a:gdLst/>
              <a:ahLst/>
              <a:cxnLst/>
              <a:rect l="l" t="t" r="r" b="b"/>
              <a:pathLst>
                <a:path w="144018" h="1353566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cubicBezTo>
                    <a:pt x="111760" y="0"/>
                    <a:pt x="144018" y="32258"/>
                    <a:pt x="144018" y="72009"/>
                  </a:cubicBezTo>
                  <a:lnTo>
                    <a:pt x="144018" y="1281557"/>
                  </a:lnTo>
                  <a:cubicBezTo>
                    <a:pt x="144018" y="1321308"/>
                    <a:pt x="111760" y="1353566"/>
                    <a:pt x="72009" y="1353566"/>
                  </a:cubicBezTo>
                  <a:cubicBezTo>
                    <a:pt x="32258" y="1353566"/>
                    <a:pt x="0" y="1321308"/>
                    <a:pt x="0" y="1281557"/>
                  </a:cubicBezTo>
                  <a:close/>
                </a:path>
              </a:pathLst>
            </a:custGeom>
            <a:solidFill>
              <a:srgbClr val="B4D7FF">
                <a:alpha val="2353"/>
              </a:srgbClr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8" name="TextBox 38"/>
          <p:cNvSpPr txBox="1"/>
          <p:nvPr>
            <p:custDataLst>
              <p:tags r:id="rId20"/>
            </p:custDataLst>
          </p:nvPr>
        </p:nvSpPr>
        <p:spPr>
          <a:xfrm>
            <a:off x="7961630" y="4839335"/>
            <a:ext cx="3910965" cy="5710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建模算法与演示</a:t>
            </a:r>
            <a:endParaRPr lang="en-US" sz="39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grpSp>
        <p:nvGrpSpPr>
          <p:cNvPr id="40" name="Group 40"/>
          <p:cNvGrpSpPr/>
          <p:nvPr>
            <p:custDataLst>
              <p:tags r:id="rId21"/>
            </p:custDataLst>
          </p:nvPr>
        </p:nvGrpSpPr>
        <p:grpSpPr>
          <a:xfrm>
            <a:off x="6698275" y="6215844"/>
            <a:ext cx="914400" cy="1018794"/>
            <a:chOff x="0" y="0"/>
            <a:chExt cx="1219200" cy="1358392"/>
          </a:xfrm>
        </p:grpSpPr>
        <p:sp>
          <p:nvSpPr>
            <p:cNvPr id="41" name="Freeform 41"/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1219200" cy="1358392"/>
            </a:xfrm>
            <a:custGeom>
              <a:avLst/>
              <a:gdLst/>
              <a:ahLst/>
              <a:cxnLst/>
              <a:rect l="l" t="t" r="r" b="b"/>
              <a:pathLst>
                <a:path w="1219200" h="1358392">
                  <a:moveTo>
                    <a:pt x="666623" y="0"/>
                  </a:moveTo>
                  <a:lnTo>
                    <a:pt x="708533" y="0"/>
                  </a:lnTo>
                  <a:lnTo>
                    <a:pt x="754888" y="4699"/>
                  </a:lnTo>
                  <a:lnTo>
                    <a:pt x="766191" y="0"/>
                  </a:lnTo>
                  <a:lnTo>
                    <a:pt x="1138936" y="0"/>
                  </a:lnTo>
                  <a:cubicBezTo>
                    <a:pt x="1183259" y="0"/>
                    <a:pt x="1219200" y="35941"/>
                    <a:pt x="1219200" y="80264"/>
                  </a:cubicBezTo>
                  <a:lnTo>
                    <a:pt x="1219200" y="526796"/>
                  </a:lnTo>
                  <a:lnTo>
                    <a:pt x="1219200" y="831596"/>
                  </a:lnTo>
                  <a:lnTo>
                    <a:pt x="1219200" y="1278128"/>
                  </a:lnTo>
                  <a:cubicBezTo>
                    <a:pt x="1219200" y="1322451"/>
                    <a:pt x="1183259" y="1358392"/>
                    <a:pt x="1138936" y="1358392"/>
                  </a:cubicBezTo>
                  <a:lnTo>
                    <a:pt x="766191" y="1358392"/>
                  </a:lnTo>
                  <a:lnTo>
                    <a:pt x="754888" y="1353693"/>
                  </a:lnTo>
                  <a:lnTo>
                    <a:pt x="708533" y="1358392"/>
                  </a:lnTo>
                  <a:lnTo>
                    <a:pt x="666623" y="1358392"/>
                  </a:lnTo>
                  <a:cubicBezTo>
                    <a:pt x="298450" y="1358392"/>
                    <a:pt x="0" y="1059942"/>
                    <a:pt x="0" y="691769"/>
                  </a:cubicBezTo>
                  <a:lnTo>
                    <a:pt x="2540" y="679196"/>
                  </a:lnTo>
                  <a:lnTo>
                    <a:pt x="0" y="666623"/>
                  </a:lnTo>
                  <a:cubicBezTo>
                    <a:pt x="0" y="298450"/>
                    <a:pt x="298450" y="0"/>
                    <a:pt x="66662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2" name="TextBox 42"/>
          <p:cNvSpPr txBox="1"/>
          <p:nvPr>
            <p:custDataLst>
              <p:tags r:id="rId23"/>
            </p:custDataLst>
          </p:nvPr>
        </p:nvSpPr>
        <p:spPr>
          <a:xfrm>
            <a:off x="6804584" y="6424708"/>
            <a:ext cx="876662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04</a:t>
            </a:r>
            <a:endParaRPr lang="en-US" sz="3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grpSp>
        <p:nvGrpSpPr>
          <p:cNvPr id="43" name="Group 43"/>
          <p:cNvGrpSpPr/>
          <p:nvPr>
            <p:custDataLst>
              <p:tags r:id="rId24"/>
            </p:custDataLst>
          </p:nvPr>
        </p:nvGrpSpPr>
        <p:grpSpPr>
          <a:xfrm>
            <a:off x="7670340" y="6217634"/>
            <a:ext cx="108013" cy="1015174"/>
            <a:chOff x="0" y="0"/>
            <a:chExt cx="144018" cy="1353566"/>
          </a:xfrm>
        </p:grpSpPr>
        <p:sp>
          <p:nvSpPr>
            <p:cNvPr id="44" name="Freeform 44"/>
            <p:cNvSpPr/>
            <p:nvPr>
              <p:custDataLst>
                <p:tags r:id="rId25"/>
              </p:custDataLst>
            </p:nvPr>
          </p:nvSpPr>
          <p:spPr>
            <a:xfrm>
              <a:off x="0" y="0"/>
              <a:ext cx="144018" cy="1353566"/>
            </a:xfrm>
            <a:custGeom>
              <a:avLst/>
              <a:gdLst/>
              <a:ahLst/>
              <a:cxnLst/>
              <a:rect l="l" t="t" r="r" b="b"/>
              <a:pathLst>
                <a:path w="144018" h="1353566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cubicBezTo>
                    <a:pt x="111760" y="0"/>
                    <a:pt x="144018" y="32258"/>
                    <a:pt x="144018" y="72009"/>
                  </a:cubicBezTo>
                  <a:lnTo>
                    <a:pt x="144018" y="1281557"/>
                  </a:lnTo>
                  <a:cubicBezTo>
                    <a:pt x="144018" y="1321308"/>
                    <a:pt x="111760" y="1353566"/>
                    <a:pt x="72009" y="1353566"/>
                  </a:cubicBezTo>
                  <a:cubicBezTo>
                    <a:pt x="32258" y="1353566"/>
                    <a:pt x="0" y="1321308"/>
                    <a:pt x="0" y="1281557"/>
                  </a:cubicBezTo>
                  <a:close/>
                </a:path>
              </a:pathLst>
            </a:custGeom>
            <a:solidFill>
              <a:srgbClr val="B4D7FF">
                <a:alpha val="2353"/>
              </a:srgbClr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5" name="TextBox 45"/>
          <p:cNvSpPr txBox="1"/>
          <p:nvPr>
            <p:custDataLst>
              <p:tags r:id="rId26"/>
            </p:custDataLst>
          </p:nvPr>
        </p:nvSpPr>
        <p:spPr>
          <a:xfrm>
            <a:off x="8004810" y="6426200"/>
            <a:ext cx="3909695" cy="5710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实验结果及分析</a:t>
            </a:r>
            <a:endParaRPr lang="en-US" sz="39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grpSp>
        <p:nvGrpSpPr>
          <p:cNvPr id="47" name="Group 47"/>
          <p:cNvGrpSpPr/>
          <p:nvPr>
            <p:custDataLst>
              <p:tags r:id="rId27"/>
            </p:custDataLst>
          </p:nvPr>
        </p:nvGrpSpPr>
        <p:grpSpPr>
          <a:xfrm>
            <a:off x="6698275" y="7802299"/>
            <a:ext cx="914400" cy="1018794"/>
            <a:chOff x="0" y="0"/>
            <a:chExt cx="1219200" cy="1358392"/>
          </a:xfrm>
        </p:grpSpPr>
        <p:sp>
          <p:nvSpPr>
            <p:cNvPr id="48" name="Freeform 48"/>
            <p:cNvSpPr/>
            <p:nvPr>
              <p:custDataLst>
                <p:tags r:id="rId28"/>
              </p:custDataLst>
            </p:nvPr>
          </p:nvSpPr>
          <p:spPr>
            <a:xfrm>
              <a:off x="0" y="0"/>
              <a:ext cx="1219200" cy="1358392"/>
            </a:xfrm>
            <a:custGeom>
              <a:avLst/>
              <a:gdLst/>
              <a:ahLst/>
              <a:cxnLst/>
              <a:rect l="l" t="t" r="r" b="b"/>
              <a:pathLst>
                <a:path w="1219200" h="1358392">
                  <a:moveTo>
                    <a:pt x="666623" y="0"/>
                  </a:moveTo>
                  <a:lnTo>
                    <a:pt x="708533" y="0"/>
                  </a:lnTo>
                  <a:lnTo>
                    <a:pt x="754888" y="4699"/>
                  </a:lnTo>
                  <a:lnTo>
                    <a:pt x="766191" y="0"/>
                  </a:lnTo>
                  <a:lnTo>
                    <a:pt x="1138936" y="0"/>
                  </a:lnTo>
                  <a:cubicBezTo>
                    <a:pt x="1183259" y="0"/>
                    <a:pt x="1219200" y="35941"/>
                    <a:pt x="1219200" y="80264"/>
                  </a:cubicBezTo>
                  <a:lnTo>
                    <a:pt x="1219200" y="526796"/>
                  </a:lnTo>
                  <a:lnTo>
                    <a:pt x="1219200" y="831596"/>
                  </a:lnTo>
                  <a:lnTo>
                    <a:pt x="1219200" y="1278128"/>
                  </a:lnTo>
                  <a:cubicBezTo>
                    <a:pt x="1219200" y="1322451"/>
                    <a:pt x="1183259" y="1358392"/>
                    <a:pt x="1138936" y="1358392"/>
                  </a:cubicBezTo>
                  <a:lnTo>
                    <a:pt x="766191" y="1358392"/>
                  </a:lnTo>
                  <a:lnTo>
                    <a:pt x="754888" y="1353693"/>
                  </a:lnTo>
                  <a:lnTo>
                    <a:pt x="708533" y="1358392"/>
                  </a:lnTo>
                  <a:lnTo>
                    <a:pt x="666623" y="1358392"/>
                  </a:lnTo>
                  <a:cubicBezTo>
                    <a:pt x="298450" y="1358392"/>
                    <a:pt x="0" y="1059942"/>
                    <a:pt x="0" y="691769"/>
                  </a:cubicBezTo>
                  <a:lnTo>
                    <a:pt x="2540" y="679196"/>
                  </a:lnTo>
                  <a:lnTo>
                    <a:pt x="0" y="666623"/>
                  </a:lnTo>
                  <a:cubicBezTo>
                    <a:pt x="0" y="298450"/>
                    <a:pt x="298450" y="0"/>
                    <a:pt x="66662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9" name="TextBox 49"/>
          <p:cNvSpPr txBox="1"/>
          <p:nvPr>
            <p:custDataLst>
              <p:tags r:id="rId29"/>
            </p:custDataLst>
          </p:nvPr>
        </p:nvSpPr>
        <p:spPr>
          <a:xfrm>
            <a:off x="6804584" y="8011163"/>
            <a:ext cx="876662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05</a:t>
            </a:r>
            <a:endParaRPr lang="en-US" sz="3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grpSp>
        <p:nvGrpSpPr>
          <p:cNvPr id="50" name="Group 50"/>
          <p:cNvGrpSpPr/>
          <p:nvPr>
            <p:custDataLst>
              <p:tags r:id="rId30"/>
            </p:custDataLst>
          </p:nvPr>
        </p:nvGrpSpPr>
        <p:grpSpPr>
          <a:xfrm>
            <a:off x="7670340" y="7804090"/>
            <a:ext cx="108013" cy="1015174"/>
            <a:chOff x="0" y="0"/>
            <a:chExt cx="144018" cy="1353566"/>
          </a:xfrm>
        </p:grpSpPr>
        <p:sp>
          <p:nvSpPr>
            <p:cNvPr id="51" name="Freeform 51"/>
            <p:cNvSpPr/>
            <p:nvPr>
              <p:custDataLst>
                <p:tags r:id="rId31"/>
              </p:custDataLst>
            </p:nvPr>
          </p:nvSpPr>
          <p:spPr>
            <a:xfrm>
              <a:off x="0" y="0"/>
              <a:ext cx="144018" cy="1353566"/>
            </a:xfrm>
            <a:custGeom>
              <a:avLst/>
              <a:gdLst/>
              <a:ahLst/>
              <a:cxnLst/>
              <a:rect l="l" t="t" r="r" b="b"/>
              <a:pathLst>
                <a:path w="144018" h="1353566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cubicBezTo>
                    <a:pt x="111760" y="0"/>
                    <a:pt x="144018" y="32258"/>
                    <a:pt x="144018" y="72009"/>
                  </a:cubicBezTo>
                  <a:lnTo>
                    <a:pt x="144018" y="1281557"/>
                  </a:lnTo>
                  <a:cubicBezTo>
                    <a:pt x="144018" y="1321308"/>
                    <a:pt x="111760" y="1353566"/>
                    <a:pt x="72009" y="1353566"/>
                  </a:cubicBezTo>
                  <a:cubicBezTo>
                    <a:pt x="32258" y="1353566"/>
                    <a:pt x="0" y="1321308"/>
                    <a:pt x="0" y="1281557"/>
                  </a:cubicBezTo>
                  <a:close/>
                </a:path>
              </a:pathLst>
            </a:custGeom>
            <a:solidFill>
              <a:srgbClr val="B4D7FF">
                <a:alpha val="2353"/>
              </a:srgbClr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2" name="TextBox 52"/>
          <p:cNvSpPr txBox="1"/>
          <p:nvPr>
            <p:custDataLst>
              <p:tags r:id="rId32"/>
            </p:custDataLst>
          </p:nvPr>
        </p:nvSpPr>
        <p:spPr>
          <a:xfrm>
            <a:off x="7961630" y="8039100"/>
            <a:ext cx="3910965" cy="5710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模型优势态总结</a:t>
            </a:r>
            <a:endParaRPr lang="en-US" sz="39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过程 6"/>
          <p:cNvSpPr/>
          <p:nvPr/>
        </p:nvSpPr>
        <p:spPr>
          <a:xfrm>
            <a:off x="8233249" y="5897783"/>
            <a:ext cx="2767728" cy="2777402"/>
          </a:xfrm>
          <a:prstGeom prst="flowChartProcess">
            <a:avLst/>
          </a:prstGeom>
          <a:solidFill>
            <a:schemeClr val="bg1">
              <a:alpha val="0"/>
            </a:schemeClr>
          </a:solidFill>
          <a:ln w="44450">
            <a:solidFill>
              <a:srgbClr val="003F88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流程图: 过程 5"/>
          <p:cNvSpPr/>
          <p:nvPr/>
        </p:nvSpPr>
        <p:spPr>
          <a:xfrm>
            <a:off x="4716460" y="5897783"/>
            <a:ext cx="2767728" cy="2777402"/>
          </a:xfrm>
          <a:prstGeom prst="flowChartProcess">
            <a:avLst/>
          </a:prstGeom>
          <a:solidFill>
            <a:schemeClr val="bg1">
              <a:alpha val="0"/>
            </a:schemeClr>
          </a:solidFill>
          <a:ln w="44450">
            <a:solidFill>
              <a:srgbClr val="003F88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1199671" y="5897783"/>
            <a:ext cx="2767728" cy="2777402"/>
          </a:xfrm>
          <a:prstGeom prst="flowChartProcess">
            <a:avLst/>
          </a:prstGeom>
          <a:solidFill>
            <a:schemeClr val="bg1">
              <a:alpha val="0"/>
            </a:schemeClr>
          </a:solidFill>
          <a:ln w="44450">
            <a:solidFill>
              <a:srgbClr val="003F88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1036320" y="4051300"/>
            <a:ext cx="3768725" cy="5334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990600" y="2019300"/>
            <a:ext cx="1828800" cy="5334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6" name="Group 46"/>
          <p:cNvGrpSpPr/>
          <p:nvPr/>
        </p:nvGrpSpPr>
        <p:grpSpPr>
          <a:xfrm>
            <a:off x="11201400" y="1668145"/>
            <a:ext cx="6329680" cy="7260590"/>
            <a:chOff x="0" y="0"/>
            <a:chExt cx="8261769" cy="988145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261731" cy="9881489"/>
            </a:xfrm>
            <a:custGeom>
              <a:avLst/>
              <a:gdLst/>
              <a:ahLst/>
              <a:cxnLst/>
              <a:rect l="l" t="t" r="r" b="b"/>
              <a:pathLst>
                <a:path w="8261731" h="9881489">
                  <a:moveTo>
                    <a:pt x="0" y="0"/>
                  </a:moveTo>
                  <a:lnTo>
                    <a:pt x="8261731" y="0"/>
                  </a:lnTo>
                  <a:lnTo>
                    <a:pt x="8261731" y="9881489"/>
                  </a:lnTo>
                  <a:lnTo>
                    <a:pt x="0" y="9881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90" b="-89"/>
              </a:stretch>
            </a:blip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8" name="Freeform 28"/>
          <p:cNvSpPr/>
          <p:nvPr/>
        </p:nvSpPr>
        <p:spPr>
          <a:xfrm>
            <a:off x="-596490" y="9069686"/>
            <a:ext cx="19126948" cy="698312"/>
          </a:xfrm>
          <a:custGeom>
            <a:avLst/>
            <a:gdLst/>
            <a:ahLst/>
            <a:cxnLst/>
            <a:rect l="l" t="t" r="r" b="b"/>
            <a:pathLst>
              <a:path w="25502598" h="931082">
                <a:moveTo>
                  <a:pt x="0" y="155131"/>
                </a:moveTo>
                <a:cubicBezTo>
                  <a:pt x="0" y="69428"/>
                  <a:pt x="68380" y="0"/>
                  <a:pt x="152789" y="0"/>
                </a:cubicBezTo>
                <a:lnTo>
                  <a:pt x="25349809" y="0"/>
                </a:lnTo>
                <a:cubicBezTo>
                  <a:pt x="25434218" y="0"/>
                  <a:pt x="25502598" y="69428"/>
                  <a:pt x="25502598" y="155131"/>
                </a:cubicBezTo>
                <a:lnTo>
                  <a:pt x="25502598" y="775951"/>
                </a:lnTo>
                <a:cubicBezTo>
                  <a:pt x="25502598" y="861654"/>
                  <a:pt x="25434218" y="931082"/>
                  <a:pt x="25349809" y="931082"/>
                </a:cubicBezTo>
                <a:lnTo>
                  <a:pt x="152789" y="931082"/>
                </a:lnTo>
                <a:cubicBezTo>
                  <a:pt x="68380" y="931082"/>
                  <a:pt x="0" y="861654"/>
                  <a:pt x="0" y="775951"/>
                </a:cubicBezTo>
                <a:close/>
              </a:path>
            </a:pathLst>
          </a:custGeom>
          <a:gradFill rotWithShape="1">
            <a:gsLst>
              <a:gs pos="0">
                <a:srgbClr val="003F88">
                  <a:alpha val="100000"/>
                </a:srgbClr>
              </a:gs>
              <a:gs pos="100000">
                <a:srgbClr val="05407E">
                  <a:alpha val="100000"/>
                </a:srgbClr>
              </a:gs>
            </a:gsLst>
            <a:lin ang="2700000"/>
          </a:gradFill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48" name="Group 27"/>
          <p:cNvGrpSpPr/>
          <p:nvPr/>
        </p:nvGrpSpPr>
        <p:grpSpPr>
          <a:xfrm>
            <a:off x="-224585" y="0"/>
            <a:ext cx="18982579" cy="874676"/>
            <a:chOff x="0" y="0"/>
            <a:chExt cx="25502599" cy="931082"/>
          </a:xfrm>
        </p:grpSpPr>
        <p:sp>
          <p:nvSpPr>
            <p:cNvPr id="49" name="Freeform 28"/>
            <p:cNvSpPr/>
            <p:nvPr/>
          </p:nvSpPr>
          <p:spPr>
            <a:xfrm>
              <a:off x="0" y="0"/>
              <a:ext cx="25502598" cy="931082"/>
            </a:xfrm>
            <a:custGeom>
              <a:avLst/>
              <a:gdLst/>
              <a:ahLst/>
              <a:cxnLst/>
              <a:rect l="l" t="t" r="r" b="b"/>
              <a:pathLst>
                <a:path w="25502598" h="931082">
                  <a:moveTo>
                    <a:pt x="0" y="155131"/>
                  </a:moveTo>
                  <a:cubicBezTo>
                    <a:pt x="0" y="69428"/>
                    <a:pt x="68380" y="0"/>
                    <a:pt x="152789" y="0"/>
                  </a:cubicBezTo>
                  <a:lnTo>
                    <a:pt x="25349809" y="0"/>
                  </a:lnTo>
                  <a:cubicBezTo>
                    <a:pt x="25434218" y="0"/>
                    <a:pt x="25502598" y="69428"/>
                    <a:pt x="25502598" y="155131"/>
                  </a:cubicBezTo>
                  <a:lnTo>
                    <a:pt x="25502598" y="775951"/>
                  </a:lnTo>
                  <a:cubicBezTo>
                    <a:pt x="25502598" y="861654"/>
                    <a:pt x="25434218" y="931082"/>
                    <a:pt x="25349809" y="931082"/>
                  </a:cubicBezTo>
                  <a:lnTo>
                    <a:pt x="152789" y="931082"/>
                  </a:lnTo>
                  <a:cubicBezTo>
                    <a:pt x="68380" y="931082"/>
                    <a:pt x="0" y="861654"/>
                    <a:pt x="0" y="775951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" name="Freeform 4"/>
          <p:cNvSpPr/>
          <p:nvPr/>
        </p:nvSpPr>
        <p:spPr>
          <a:xfrm>
            <a:off x="608871" y="29954"/>
            <a:ext cx="3244786" cy="814768"/>
          </a:xfrm>
          <a:custGeom>
            <a:avLst/>
            <a:gdLst/>
            <a:ahLst/>
            <a:cxnLst/>
            <a:rect l="l" t="t" r="r" b="b"/>
            <a:pathLst>
              <a:path w="3244786" h="814768">
                <a:moveTo>
                  <a:pt x="0" y="0"/>
                </a:moveTo>
                <a:lnTo>
                  <a:pt x="3244786" y="0"/>
                </a:lnTo>
                <a:lnTo>
                  <a:pt x="3244786" y="814769"/>
                </a:lnTo>
                <a:lnTo>
                  <a:pt x="0" y="814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781288" y="1500016"/>
            <a:ext cx="121539" cy="121539"/>
            <a:chOff x="0" y="0"/>
            <a:chExt cx="162052" cy="1620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80000">
                  <a:srgbClr val="FC6804">
                    <a:alpha val="100000"/>
                  </a:srgbClr>
                </a:gs>
              </a:gsLst>
              <a:lin ang="36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6060">
            <a:off x="1199706" y="5632706"/>
            <a:ext cx="10172297" cy="48571"/>
            <a:chOff x="0" y="0"/>
            <a:chExt cx="10800016" cy="5156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99953" cy="51568"/>
            </a:xfrm>
            <a:custGeom>
              <a:avLst/>
              <a:gdLst/>
              <a:ahLst/>
              <a:cxnLst/>
              <a:rect l="l" t="t" r="r" b="b"/>
              <a:pathLst>
                <a:path w="10799953" h="51568">
                  <a:moveTo>
                    <a:pt x="6350" y="0"/>
                  </a:moveTo>
                  <a:lnTo>
                    <a:pt x="10793603" y="0"/>
                  </a:lnTo>
                  <a:cubicBezTo>
                    <a:pt x="10797160" y="0"/>
                    <a:pt x="10799953" y="11345"/>
                    <a:pt x="10799953" y="25784"/>
                  </a:cubicBezTo>
                  <a:cubicBezTo>
                    <a:pt x="10799953" y="40223"/>
                    <a:pt x="10797160" y="51568"/>
                    <a:pt x="10793603" y="51568"/>
                  </a:cubicBezTo>
                  <a:lnTo>
                    <a:pt x="6350" y="51568"/>
                  </a:lnTo>
                  <a:cubicBezTo>
                    <a:pt x="2794" y="51568"/>
                    <a:pt x="0" y="40223"/>
                    <a:pt x="0" y="25784"/>
                  </a:cubicBezTo>
                  <a:cubicBezTo>
                    <a:pt x="0" y="11345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003F88"/>
            </a:solidFill>
            <a:ln>
              <a:solidFill>
                <a:srgbClr val="003F88"/>
              </a:solidFill>
            </a:ln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259956" y="6171861"/>
            <a:ext cx="706469" cy="706469"/>
            <a:chOff x="0" y="0"/>
            <a:chExt cx="941959" cy="94195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41959" cy="941959"/>
            </a:xfrm>
            <a:custGeom>
              <a:avLst/>
              <a:gdLst/>
              <a:ahLst/>
              <a:cxnLst/>
              <a:rect l="l" t="t" r="r" b="b"/>
              <a:pathLst>
                <a:path w="941959" h="941959">
                  <a:moveTo>
                    <a:pt x="0" y="471043"/>
                  </a:moveTo>
                  <a:cubicBezTo>
                    <a:pt x="0" y="210820"/>
                    <a:pt x="210820" y="0"/>
                    <a:pt x="471043" y="0"/>
                  </a:cubicBezTo>
                  <a:cubicBezTo>
                    <a:pt x="731266" y="0"/>
                    <a:pt x="941959" y="210820"/>
                    <a:pt x="941959" y="471043"/>
                  </a:cubicBezTo>
                  <a:cubicBezTo>
                    <a:pt x="941959" y="731266"/>
                    <a:pt x="731139" y="941959"/>
                    <a:pt x="471043" y="941959"/>
                  </a:cubicBezTo>
                  <a:cubicBezTo>
                    <a:pt x="210947" y="941959"/>
                    <a:pt x="0" y="731139"/>
                    <a:pt x="0" y="471043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2379508" y="6326061"/>
            <a:ext cx="413709" cy="398069"/>
          </a:xfrm>
          <a:custGeom>
            <a:avLst/>
            <a:gdLst/>
            <a:ahLst/>
            <a:cxnLst/>
            <a:rect l="l" t="t" r="r" b="b"/>
            <a:pathLst>
              <a:path w="413709" h="398069">
                <a:moveTo>
                  <a:pt x="0" y="0"/>
                </a:moveTo>
                <a:lnTo>
                  <a:pt x="413709" y="0"/>
                </a:lnTo>
                <a:lnTo>
                  <a:pt x="413709" y="398069"/>
                </a:lnTo>
                <a:lnTo>
                  <a:pt x="0" y="3980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00" r="-400"/>
            </a:stretch>
          </a:blipFill>
        </p:spPr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9266705" y="6086047"/>
            <a:ext cx="706469" cy="706469"/>
            <a:chOff x="0" y="0"/>
            <a:chExt cx="941959" cy="94195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41959" cy="941959"/>
            </a:xfrm>
            <a:custGeom>
              <a:avLst/>
              <a:gdLst/>
              <a:ahLst/>
              <a:cxnLst/>
              <a:rect l="l" t="t" r="r" b="b"/>
              <a:pathLst>
                <a:path w="941959" h="941959">
                  <a:moveTo>
                    <a:pt x="0" y="471043"/>
                  </a:moveTo>
                  <a:cubicBezTo>
                    <a:pt x="0" y="210820"/>
                    <a:pt x="210820" y="0"/>
                    <a:pt x="471043" y="0"/>
                  </a:cubicBezTo>
                  <a:cubicBezTo>
                    <a:pt x="731266" y="0"/>
                    <a:pt x="941959" y="210820"/>
                    <a:pt x="941959" y="471043"/>
                  </a:cubicBezTo>
                  <a:cubicBezTo>
                    <a:pt x="941959" y="731266"/>
                    <a:pt x="731139" y="941959"/>
                    <a:pt x="471043" y="941959"/>
                  </a:cubicBezTo>
                  <a:cubicBezTo>
                    <a:pt x="210947" y="941959"/>
                    <a:pt x="0" y="731139"/>
                    <a:pt x="0" y="471043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460873" y="6255887"/>
            <a:ext cx="322136" cy="366789"/>
          </a:xfrm>
          <a:custGeom>
            <a:avLst/>
            <a:gdLst/>
            <a:ahLst/>
            <a:cxnLst/>
            <a:rect l="l" t="t" r="r" b="b"/>
            <a:pathLst>
              <a:path w="322136" h="366789">
                <a:moveTo>
                  <a:pt x="0" y="0"/>
                </a:moveTo>
                <a:lnTo>
                  <a:pt x="322136" y="0"/>
                </a:lnTo>
                <a:lnTo>
                  <a:pt x="322136" y="366789"/>
                </a:lnTo>
                <a:lnTo>
                  <a:pt x="0" y="3667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371" b="-371"/>
            </a:stretch>
          </a:blipFill>
        </p:spPr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5743197" y="6171861"/>
            <a:ext cx="706469" cy="706469"/>
            <a:chOff x="0" y="0"/>
            <a:chExt cx="941959" cy="94195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41959" cy="941959"/>
            </a:xfrm>
            <a:custGeom>
              <a:avLst/>
              <a:gdLst/>
              <a:ahLst/>
              <a:cxnLst/>
              <a:rect l="l" t="t" r="r" b="b"/>
              <a:pathLst>
                <a:path w="941959" h="941959">
                  <a:moveTo>
                    <a:pt x="0" y="471043"/>
                  </a:moveTo>
                  <a:cubicBezTo>
                    <a:pt x="0" y="210820"/>
                    <a:pt x="210820" y="0"/>
                    <a:pt x="471043" y="0"/>
                  </a:cubicBezTo>
                  <a:cubicBezTo>
                    <a:pt x="731266" y="0"/>
                    <a:pt x="941959" y="210820"/>
                    <a:pt x="941959" y="471043"/>
                  </a:cubicBezTo>
                  <a:cubicBezTo>
                    <a:pt x="941959" y="731266"/>
                    <a:pt x="731139" y="941959"/>
                    <a:pt x="471043" y="941959"/>
                  </a:cubicBezTo>
                  <a:cubicBezTo>
                    <a:pt x="210947" y="941959"/>
                    <a:pt x="0" y="731139"/>
                    <a:pt x="0" y="471043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Freeform 26"/>
          <p:cNvSpPr/>
          <p:nvPr/>
        </p:nvSpPr>
        <p:spPr>
          <a:xfrm>
            <a:off x="5920447" y="6373019"/>
            <a:ext cx="351111" cy="351111"/>
          </a:xfrm>
          <a:custGeom>
            <a:avLst/>
            <a:gdLst/>
            <a:ahLst/>
            <a:cxnLst/>
            <a:rect l="l" t="t" r="r" b="b"/>
            <a:pathLst>
              <a:path w="351111" h="351111">
                <a:moveTo>
                  <a:pt x="0" y="0"/>
                </a:moveTo>
                <a:lnTo>
                  <a:pt x="351111" y="0"/>
                </a:lnTo>
                <a:lnTo>
                  <a:pt x="351111" y="351111"/>
                </a:lnTo>
                <a:lnTo>
                  <a:pt x="0" y="351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707278" y="9069686"/>
            <a:ext cx="126986" cy="698312"/>
            <a:chOff x="0" y="0"/>
            <a:chExt cx="144018" cy="79197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44018" cy="791972"/>
            </a:xfrm>
            <a:custGeom>
              <a:avLst/>
              <a:gdLst/>
              <a:ahLst/>
              <a:cxnLst/>
              <a:rect l="l" t="t" r="r" b="b"/>
              <a:pathLst>
                <a:path w="144018" h="791972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cubicBezTo>
                    <a:pt x="111760" y="0"/>
                    <a:pt x="144018" y="32258"/>
                    <a:pt x="144018" y="72009"/>
                  </a:cubicBezTo>
                  <a:lnTo>
                    <a:pt x="144018" y="719963"/>
                  </a:lnTo>
                  <a:cubicBezTo>
                    <a:pt x="144018" y="759714"/>
                    <a:pt x="111760" y="791972"/>
                    <a:pt x="72009" y="791972"/>
                  </a:cubicBezTo>
                  <a:cubicBezTo>
                    <a:pt x="32258" y="791972"/>
                    <a:pt x="0" y="759714"/>
                    <a:pt x="0" y="719963"/>
                  </a:cubicBezTo>
                  <a:close/>
                </a:path>
              </a:pathLst>
            </a:custGeom>
            <a:solidFill>
              <a:srgbClr val="B4D7FF">
                <a:alpha val="2353"/>
              </a:srgbClr>
            </a:solidFill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92134" y="2483419"/>
            <a:ext cx="10518866" cy="1015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0" lvl="1" indent="-237490" algn="l">
              <a:lnSpc>
                <a:spcPts val="3960"/>
              </a:lnSpc>
              <a:buAutoNum type="arabicPeriod"/>
            </a:pPr>
            <a:r>
              <a:rPr lang="en-US" sz="2400" b="1" dirty="0">
                <a:solidFill>
                  <a:srgbClr val="D33F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 Bold" panose="020B0800000000000000" charset="-122"/>
              </a:rPr>
              <a:t>高发病率</a:t>
            </a:r>
            <a:r>
              <a:rPr lang="en-US" sz="2400" b="1" dirty="0">
                <a:solidFill>
                  <a:srgbClr val="D33F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：</a:t>
            </a:r>
            <a:r>
              <a:rPr 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全球每年新发乳腺癌病例超</a:t>
            </a:r>
            <a:r>
              <a:rPr lang="en-US" sz="2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 </a:t>
            </a:r>
            <a:r>
              <a:rPr lang="en-US" sz="2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 Bold" panose="020B0800000000000000" charset="-122"/>
              </a:rPr>
              <a:t>230 万</a:t>
            </a:r>
            <a:r>
              <a:rPr lang="en-US" sz="2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，占女性癌症发病率的 </a:t>
            </a:r>
            <a:r>
              <a:rPr lang="en-US" sz="2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 Bold" panose="020B0800000000000000" charset="-122"/>
              </a:rPr>
              <a:t>24.5%</a:t>
            </a:r>
            <a:r>
              <a:rPr lang="en-US" sz="2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。</a:t>
            </a:r>
            <a:endParaRPr lang="en-US" sz="22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1" panose="020B0500000000000000" charset="-122"/>
            </a:endParaRPr>
          </a:p>
          <a:p>
            <a:pPr marL="474980" lvl="1" indent="-237490" algn="l">
              <a:lnSpc>
                <a:spcPts val="3960"/>
              </a:lnSpc>
              <a:buAutoNum type="arabicPeriod"/>
            </a:pPr>
            <a:r>
              <a:rPr lang="en-US" sz="2400" b="1" dirty="0">
                <a:solidFill>
                  <a:srgbClr val="D33F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 Bold" panose="020B0800000000000000" charset="-122"/>
              </a:rPr>
              <a:t>生存率对比</a:t>
            </a:r>
            <a:r>
              <a:rPr lang="en-US" sz="2400" dirty="0">
                <a:solidFill>
                  <a:srgbClr val="D33F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：</a:t>
            </a:r>
            <a:r>
              <a:rPr lang="en-US" sz="2200" dirty="0">
                <a:solidFill>
                  <a:srgbClr val="D33F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  </a:t>
            </a:r>
            <a:endParaRPr lang="en-US" sz="2200" dirty="0">
              <a:solidFill>
                <a:srgbClr val="D33F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1" panose="020B05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216660" y="7030720"/>
            <a:ext cx="2658110" cy="1756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27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主观性强</a:t>
            </a:r>
            <a:endParaRPr lang="en-US" sz="27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  <a:p>
            <a:pPr algn="ctr">
              <a:lnSpc>
                <a:spcPts val="2700"/>
              </a:lnSpc>
            </a:pPr>
            <a:r>
              <a:rPr 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诊断高度依赖医师经验</a:t>
            </a:r>
            <a:endParaRPr 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  <a:p>
            <a:pPr algn="ctr">
              <a:lnSpc>
                <a:spcPts val="2700"/>
              </a:lnSpc>
            </a:pPr>
            <a:r>
              <a:rPr 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一致性较差</a:t>
            </a:r>
            <a:endParaRPr 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  <a:p>
            <a:pPr algn="ctr">
              <a:lnSpc>
                <a:spcPts val="4250"/>
              </a:lnSpc>
            </a:pPr>
            <a:endParaRPr lang="en-US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4310288" y="222185"/>
            <a:ext cx="259272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数据源</a:t>
            </a: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分类运用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670622" y="222185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建模算法与演示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1248443" y="224780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实验结果及分析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36656" y="224780"/>
            <a:ext cx="2920986" cy="4251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zh-CN" altLang="en-US" sz="27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背景</a:t>
            </a:r>
            <a:r>
              <a:rPr lang="en-US" sz="29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问题与</a:t>
            </a:r>
            <a:r>
              <a:rPr lang="zh-CN" altLang="en-US" sz="27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分析</a:t>
            </a:r>
            <a:endParaRPr lang="en-US" sz="29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036320" y="1352550"/>
            <a:ext cx="6812915" cy="3968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lang="en-US" sz="33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乳腺癌临床现状与超声诊断痛点</a:t>
            </a:r>
            <a:endParaRPr lang="en-US" sz="33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4630400" y="202479"/>
            <a:ext cx="25927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模型优势态总结</a:t>
            </a:r>
            <a:endParaRPr 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199672" y="1976702"/>
            <a:ext cx="2932186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 b="1" dirty="0"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临床现状</a:t>
            </a:r>
            <a:endParaRPr lang="en-US" sz="2700" b="1" dirty="0"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8433435" y="7030720"/>
            <a:ext cx="2449195" cy="1724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27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基层薄弱</a:t>
            </a:r>
            <a:endParaRPr lang="en-US" sz="27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  <a:p>
            <a:pPr algn="ctr">
              <a:lnSpc>
                <a:spcPts val="2700"/>
              </a:lnSpc>
            </a:pPr>
            <a:r>
              <a:rPr 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县域及以下机构</a:t>
            </a:r>
            <a:endParaRPr 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  <a:p>
            <a:pPr algn="ctr">
              <a:lnSpc>
                <a:spcPts val="2700"/>
              </a:lnSpc>
            </a:pPr>
            <a:r>
              <a:rPr 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缺乏经验丰富医师</a:t>
            </a:r>
            <a:endParaRPr 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  <a:p>
            <a:pPr algn="ctr">
              <a:lnSpc>
                <a:spcPts val="4000"/>
              </a:lnSpc>
            </a:pPr>
            <a:endParaRPr lang="en-US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5241023" y="7040801"/>
            <a:ext cx="1661989" cy="1724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27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负荷巨大</a:t>
            </a:r>
            <a:endParaRPr lang="en-US" sz="27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  <a:p>
            <a:pPr algn="ctr">
              <a:lnSpc>
                <a:spcPts val="2700"/>
              </a:lnSpc>
            </a:pPr>
            <a:r>
              <a:rPr 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医师资源紧张</a:t>
            </a:r>
            <a:endParaRPr 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  <a:p>
            <a:pPr algn="ctr">
              <a:lnSpc>
                <a:spcPts val="2700"/>
              </a:lnSpc>
            </a:pPr>
            <a:r>
              <a:rPr 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易疲劳误诊</a:t>
            </a:r>
            <a:endParaRPr 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  <a:p>
            <a:pPr algn="ctr">
              <a:lnSpc>
                <a:spcPts val="4000"/>
              </a:lnSpc>
            </a:pPr>
            <a:endParaRPr lang="en-US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757840" y="9007306"/>
            <a:ext cx="17115115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2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思源黑体 1 Bold" panose="020B0800000000000000" charset="-122"/>
                <a:sym typeface="思源黑体 1 Bold" panose="020B0800000000000000" charset="-122"/>
              </a:rPr>
              <a:t>挑战总结：人工诊断的</a:t>
            </a:r>
            <a:r>
              <a:rPr 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思源黑体 1 Bold" panose="020B0800000000000000" charset="-122"/>
                <a:sym typeface="思源黑体 1 Bold" panose="020B0800000000000000" charset="-122"/>
              </a:rPr>
              <a:t>局限性</a:t>
            </a:r>
            <a:r>
              <a:rPr lang="en-US" sz="2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思源黑体 1 Bold" panose="020B0800000000000000" charset="-122"/>
                <a:sym typeface="思源黑体 1 Bold" panose="020B0800000000000000" charset="-122"/>
              </a:rPr>
              <a:t>已成为乳腺癌早期筛查与精准诊疗的瓶颈，亟待AI赋能以提升效率与准确性。</a:t>
            </a:r>
            <a:endParaRPr lang="en-US" sz="28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199672" y="4039803"/>
            <a:ext cx="4036581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 b="1" dirty="0">
                <a:latin typeface="微软雅黑" panose="020B0503020204020204" pitchFamily="34" charset="-122"/>
                <a:ea typeface="微软雅黑" panose="020B0503020204020204" pitchFamily="34" charset="-122"/>
                <a:sym typeface="思源宋体 Bold" panose="02020700000000000000" charset="-122"/>
              </a:rPr>
              <a:t>超声图像自身技术挑战</a:t>
            </a:r>
            <a:endParaRPr lang="en-US" sz="2700" b="1" dirty="0">
              <a:latin typeface="微软雅黑" panose="020B0503020204020204" pitchFamily="34" charset="-122"/>
              <a:ea typeface="微软雅黑" panose="020B0503020204020204" pitchFamily="34" charset="-122"/>
              <a:sym typeface="思源宋体 Bold" panose="02020700000000000000" charset="-122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484272" y="4553021"/>
            <a:ext cx="7192323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 panose="020B0800000000000000" charset="-122"/>
                <a:sym typeface="思源黑体 1 Bold" panose="020B0800000000000000" charset="-122"/>
              </a:rPr>
              <a:t>低对比度、散斑噪声、病灶尺度差异大、边界不清</a:t>
            </a:r>
            <a:endParaRPr lang="en-US" sz="24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 Bold" panose="020B0800000000000000" charset="-122"/>
              <a:sym typeface="思源黑体 1 Bold" panose="020B0800000000000000" charset="-122"/>
            </a:endParaRPr>
          </a:p>
          <a:p>
            <a:pPr algn="l">
              <a:lnSpc>
                <a:spcPts val="3960"/>
              </a:lnSpc>
            </a:pPr>
            <a:r>
              <a:rPr 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 panose="020B0500000000000000" charset="-122"/>
                <a:sym typeface="思源黑体 1" panose="020B0500000000000000" charset="-122"/>
              </a:rPr>
              <a:t>小弱的恶性病灶易漏诊</a:t>
            </a:r>
            <a:endParaRPr lang="en-US" sz="2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3418493" y="2959669"/>
            <a:ext cx="7192323" cy="964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0" lvl="1" indent="-237490" algn="l">
              <a:lnSpc>
                <a:spcPts val="3960"/>
              </a:lnSpc>
              <a:buFont typeface="Arial" panose="020B0604020202020204"/>
              <a:buChar char="•"/>
            </a:pPr>
            <a:r>
              <a:rPr 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早期诊断：5 年生存率可达 </a:t>
            </a:r>
            <a:r>
              <a:rPr 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 Bold" panose="020B0800000000000000" charset="-122"/>
              </a:rPr>
              <a:t>90% </a:t>
            </a:r>
            <a:r>
              <a:rPr 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以上。</a:t>
            </a:r>
            <a:endParaRPr lang="en-US" sz="2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1" panose="020B0500000000000000" charset="-122"/>
            </a:endParaRPr>
          </a:p>
          <a:p>
            <a:pPr marL="474980" lvl="1" indent="-237490" algn="l">
              <a:lnSpc>
                <a:spcPts val="3960"/>
              </a:lnSpc>
              <a:buFont typeface="Arial" panose="020B0604020202020204"/>
              <a:buChar char="•"/>
            </a:pPr>
            <a:r>
              <a:rPr 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晚期诊断：5 年生存率不足</a:t>
            </a:r>
            <a:r>
              <a:rPr 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 Bold" panose="020B0800000000000000" charset="-122"/>
              </a:rPr>
              <a:t> 30%</a:t>
            </a:r>
            <a:r>
              <a:rPr 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。</a:t>
            </a:r>
            <a:endParaRPr lang="en-US" sz="2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1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: 圆角 39"/>
          <p:cNvSpPr/>
          <p:nvPr>
            <p:custDataLst>
              <p:tags r:id="rId1"/>
            </p:custDataLst>
          </p:nvPr>
        </p:nvSpPr>
        <p:spPr>
          <a:xfrm>
            <a:off x="9766935" y="2640965"/>
            <a:ext cx="7542530" cy="6474460"/>
          </a:xfrm>
          <a:prstGeom prst="round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: 圆角 38"/>
          <p:cNvSpPr/>
          <p:nvPr>
            <p:custDataLst>
              <p:tags r:id="rId2"/>
            </p:custDataLst>
          </p:nvPr>
        </p:nvSpPr>
        <p:spPr>
          <a:xfrm>
            <a:off x="1120140" y="2641600"/>
            <a:ext cx="7875270" cy="6473190"/>
          </a:xfrm>
          <a:prstGeom prst="round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2524" y="1519810"/>
            <a:ext cx="18288000" cy="625030"/>
            <a:chOff x="0" y="0"/>
            <a:chExt cx="24384000" cy="833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33374"/>
            </a:xfrm>
            <a:custGeom>
              <a:avLst/>
              <a:gdLst/>
              <a:ahLst/>
              <a:cxnLst/>
              <a:rect l="l" t="t" r="r" b="b"/>
              <a:pathLst>
                <a:path w="24384000" h="833374">
                  <a:moveTo>
                    <a:pt x="0" y="0"/>
                  </a:moveTo>
                  <a:lnTo>
                    <a:pt x="24384000" y="0"/>
                  </a:lnTo>
                  <a:lnTo>
                    <a:pt x="24384000" y="833374"/>
                  </a:lnTo>
                  <a:lnTo>
                    <a:pt x="0" y="833374"/>
                  </a:lnTo>
                  <a:close/>
                </a:path>
              </a:pathLst>
            </a:custGeom>
            <a:solidFill>
              <a:srgbClr val="003F88">
                <a:alpha val="0"/>
              </a:srgbClr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1288" y="1804816"/>
            <a:ext cx="121539" cy="121539"/>
            <a:chOff x="0" y="0"/>
            <a:chExt cx="162052" cy="1620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solidFill>
              <a:srgbClr val="003F88">
                <a:alpha val="392"/>
              </a:srgbClr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90232" y="1796967"/>
            <a:ext cx="121539" cy="121539"/>
            <a:chOff x="0" y="0"/>
            <a:chExt cx="162052" cy="1620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80000">
                  <a:srgbClr val="FC6804">
                    <a:alpha val="100000"/>
                  </a:srgbClr>
                </a:gs>
              </a:gsLst>
              <a:lin ang="3600000"/>
            </a:gradFill>
          </p:spPr>
          <p:txBody>
            <a:bodyPr/>
            <a:lstStyle/>
            <a:p>
              <a:endParaRPr lang="zh-CN" altLang="en-US" sz="5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" name="Group 16"/>
          <p:cNvGrpSpPr/>
          <p:nvPr>
            <p:custDataLst>
              <p:tags r:id="rId3"/>
            </p:custDataLst>
          </p:nvPr>
        </p:nvGrpSpPr>
        <p:grpSpPr>
          <a:xfrm>
            <a:off x="1451033" y="4403973"/>
            <a:ext cx="7284777" cy="2593477"/>
            <a:chOff x="0" y="0"/>
            <a:chExt cx="9713036" cy="3457969"/>
          </a:xfrm>
        </p:grpSpPr>
        <p:sp>
          <p:nvSpPr>
            <p:cNvPr id="17" name="Freeform 17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9713087" cy="3457956"/>
            </a:xfrm>
            <a:custGeom>
              <a:avLst/>
              <a:gdLst/>
              <a:ahLst/>
              <a:cxnLst/>
              <a:rect l="l" t="t" r="r" b="b"/>
              <a:pathLst>
                <a:path w="9713087" h="3457956">
                  <a:moveTo>
                    <a:pt x="0" y="216789"/>
                  </a:moveTo>
                  <a:cubicBezTo>
                    <a:pt x="0" y="97028"/>
                    <a:pt x="50165" y="0"/>
                    <a:pt x="112014" y="0"/>
                  </a:cubicBezTo>
                  <a:lnTo>
                    <a:pt x="9601073" y="0"/>
                  </a:lnTo>
                  <a:cubicBezTo>
                    <a:pt x="9662922" y="0"/>
                    <a:pt x="9713087" y="97028"/>
                    <a:pt x="9713087" y="216789"/>
                  </a:cubicBezTo>
                  <a:lnTo>
                    <a:pt x="9713087" y="3241167"/>
                  </a:lnTo>
                  <a:cubicBezTo>
                    <a:pt x="9713087" y="3360928"/>
                    <a:pt x="9662922" y="3457956"/>
                    <a:pt x="9601073" y="3457956"/>
                  </a:cubicBezTo>
                  <a:lnTo>
                    <a:pt x="112014" y="3457956"/>
                  </a:lnTo>
                  <a:cubicBezTo>
                    <a:pt x="50165" y="3457956"/>
                    <a:pt x="0" y="3360928"/>
                    <a:pt x="0" y="3241167"/>
                  </a:cubicBezTo>
                  <a:close/>
                </a:path>
              </a:pathLst>
            </a:custGeom>
            <a:solidFill>
              <a:srgbClr val="003F88">
                <a:alpha val="0"/>
              </a:srgbClr>
            </a:solidFill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287010" y="4076811"/>
            <a:ext cx="6612636" cy="3489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📁 样本构成：共</a:t>
            </a:r>
            <a:r>
              <a:rPr lang="en-US" sz="3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647</a:t>
            </a:r>
            <a:r>
              <a:rPr lang="en-US" sz="3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张图像 (良性 437 例 / 恶性 210 例)。</a:t>
            </a:r>
            <a:endParaRPr lang="en-US" sz="32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1" panose="020B0500000000000000" charset="-122"/>
            </a:endParaRPr>
          </a:p>
          <a:p>
            <a:pPr algn="l">
              <a:lnSpc>
                <a:spcPct val="90000"/>
              </a:lnSpc>
            </a:pPr>
            <a:endParaRPr lang="en-US" sz="32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1" panose="020B0500000000000000" charset="-122"/>
            </a:endParaRPr>
          </a:p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🔒 核心目的：通过内部验证和外部验证</a:t>
            </a:r>
            <a:r>
              <a:rPr lang="zh-CN" altLang="en-US" sz="3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，</a:t>
            </a:r>
            <a:r>
              <a:rPr lang="en-US" sz="3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交叉验证模型的鲁棒性。</a:t>
            </a:r>
            <a:endParaRPr lang="en-US" sz="32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1" panose="020B05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85240" y="1649730"/>
            <a:ext cx="2070100" cy="507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44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数据集</a:t>
            </a:r>
            <a:endParaRPr lang="en-US" sz="44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647530" y="4153148"/>
            <a:ext cx="7198462" cy="4314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📊 样本规模：包含</a:t>
            </a:r>
            <a:r>
              <a:rPr lang="en-US" sz="3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1,875</a:t>
            </a:r>
            <a:r>
              <a:rPr lang="en-US" sz="3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 张超声图像，覆盖</a:t>
            </a:r>
            <a:r>
              <a:rPr lang="en-US" sz="3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1,064</a:t>
            </a:r>
            <a:r>
              <a:rPr lang="en-US" sz="3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例临床确诊病例。</a:t>
            </a:r>
            <a:endParaRPr lang="en-US" sz="32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1" panose="020B0500000000000000" charset="-122"/>
            </a:endParaRPr>
          </a:p>
          <a:p>
            <a:pPr algn="l">
              <a:lnSpc>
                <a:spcPct val="70000"/>
              </a:lnSpc>
            </a:pPr>
            <a:endParaRPr lang="en-US" sz="32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1" panose="020B0500000000000000" charset="-122"/>
            </a:endParaRPr>
          </a:p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🔄 验证策略：将全部病例分成</a:t>
            </a:r>
            <a:r>
              <a:rPr lang="en-US" sz="3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 </a:t>
            </a:r>
            <a:r>
              <a:rPr lang="en-US" sz="3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5 份</a:t>
            </a:r>
            <a:r>
              <a:rPr lang="en-US" sz="3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做</a:t>
            </a:r>
            <a:endParaRPr lang="en-US" sz="32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1" panose="020B0500000000000000" charset="-122"/>
            </a:endParaRPr>
          </a:p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 5 折模型的交叉验证，强化模型输出的鲁棒性。</a:t>
            </a:r>
            <a:endParaRPr lang="en-US" sz="32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1" panose="020B0500000000000000" charset="-122"/>
            </a:endParaRPr>
          </a:p>
        </p:txBody>
      </p:sp>
      <p:sp>
        <p:nvSpPr>
          <p:cNvPr id="30" name="TextBox 30"/>
          <p:cNvSpPr txBox="1"/>
          <p:nvPr>
            <p:custDataLst>
              <p:tags r:id="rId5"/>
            </p:custDataLst>
          </p:nvPr>
        </p:nvSpPr>
        <p:spPr>
          <a:xfrm>
            <a:off x="1647530" y="3238697"/>
            <a:ext cx="4799371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BUSBRA</a:t>
            </a:r>
            <a:r>
              <a:rPr lang="en-US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 (训练 + 验证)</a:t>
            </a:r>
            <a:endParaRPr lang="en-US" sz="36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 Bold" panose="02020700000000000000" charset="-122"/>
            </a:endParaRPr>
          </a:p>
        </p:txBody>
      </p:sp>
      <p:sp>
        <p:nvSpPr>
          <p:cNvPr id="31" name="TextBox 31"/>
          <p:cNvSpPr txBox="1"/>
          <p:nvPr>
            <p:custDataLst>
              <p:tags r:id="rId6"/>
            </p:custDataLst>
          </p:nvPr>
        </p:nvSpPr>
        <p:spPr>
          <a:xfrm>
            <a:off x="10287010" y="3184221"/>
            <a:ext cx="4799371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BUSI</a:t>
            </a:r>
            <a:r>
              <a:rPr lang="en-US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 (外部独立测试)</a:t>
            </a:r>
            <a:endParaRPr lang="en-US" sz="36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 Bold" panose="0202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968375" y="4991100"/>
            <a:ext cx="8700770" cy="4673600"/>
          </a:xfrm>
          <a:prstGeom prst="rect">
            <a:avLst/>
          </a:prstGeom>
          <a:solidFill>
            <a:schemeClr val="accent5">
              <a:lumMod val="20000"/>
              <a:lumOff val="80000"/>
              <a:alpha val="36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781288" y="1500016"/>
            <a:ext cx="121539" cy="121539"/>
            <a:chOff x="0" y="0"/>
            <a:chExt cx="162052" cy="1620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80000">
                  <a:srgbClr val="FC6804">
                    <a:alpha val="100000"/>
                  </a:srgbClr>
                </a:gs>
              </a:gsLst>
              <a:lin ang="36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36320" y="1352550"/>
            <a:ext cx="7726680" cy="4853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zh-CN" altLang="en-US" sz="33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系统工程</a:t>
            </a:r>
            <a:r>
              <a:rPr lang="en-US" altLang="zh-CN" sz="33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——</a:t>
            </a:r>
            <a:r>
              <a:rPr lang="zh-CN" altLang="en-US" sz="33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从问题出发的整体架构设计</a:t>
            </a:r>
            <a:endParaRPr lang="zh-CN" altLang="en-US" sz="33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1082675"/>
            <a:ext cx="7744460" cy="90754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14375" y="2014220"/>
            <a:ext cx="9131300" cy="2545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/>
              <a:t>    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针对乳腺超声低对比度、边界模糊与单模型识别短板，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本项目创新设计了一个</a:t>
            </a: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多任务协同架构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，兼顾全局判断与局部病灶提取，结果可解释性更强。</a:t>
            </a:r>
            <a:endParaRPr lang="zh-CN" altLang="en-US" sz="2800" i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1797050" y="6161405"/>
            <a:ext cx="2966085" cy="86423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100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完整图分类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5956300" y="6161405"/>
            <a:ext cx="2966085" cy="86423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100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ROI 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分割引导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1811655" y="8051165"/>
            <a:ext cx="2966085" cy="86423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100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质量门控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5946775" y="8051165"/>
            <a:ext cx="2966085" cy="86423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100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模型融合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形 7" descr="添加 轮廓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6820" y="6386195"/>
            <a:ext cx="474980" cy="394335"/>
          </a:xfrm>
          <a:prstGeom prst="rect">
            <a:avLst/>
          </a:prstGeom>
        </p:spPr>
      </p:pic>
      <p:pic>
        <p:nvPicPr>
          <p:cNvPr id="11" name="图形 10" descr="添加 轮廓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3910" y="7286625"/>
            <a:ext cx="474980" cy="394335"/>
          </a:xfrm>
          <a:prstGeom prst="rect">
            <a:avLst/>
          </a:prstGeom>
        </p:spPr>
      </p:pic>
      <p:pic>
        <p:nvPicPr>
          <p:cNvPr id="12" name="图形 11" descr="添加 轮廓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13020" y="8299450"/>
            <a:ext cx="474980" cy="39433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524000" y="5264785"/>
            <a:ext cx="3945890" cy="895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多任务协同架构结构</a:t>
            </a:r>
            <a:endParaRPr lang="zh-CN" altLang="en-US" sz="3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81288" y="1500016"/>
            <a:ext cx="121539" cy="121539"/>
            <a:chOff x="0" y="0"/>
            <a:chExt cx="162052" cy="1620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80000">
                  <a:srgbClr val="FC6804">
                    <a:alpha val="100000"/>
                  </a:srgbClr>
                </a:gs>
              </a:gsLst>
              <a:lin ang="3600000"/>
            </a:gradFill>
          </p:spPr>
          <p:txBody>
            <a:bodyPr/>
            <a:lstStyle/>
            <a:p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2907706" y="5969718"/>
            <a:ext cx="421891" cy="479803"/>
          </a:xfrm>
          <a:custGeom>
            <a:avLst/>
            <a:gdLst/>
            <a:ahLst/>
            <a:cxnLst/>
            <a:rect l="l" t="t" r="r" b="b"/>
            <a:pathLst>
              <a:path w="421891" h="479803">
                <a:moveTo>
                  <a:pt x="0" y="0"/>
                </a:moveTo>
                <a:lnTo>
                  <a:pt x="421891" y="0"/>
                </a:lnTo>
                <a:lnTo>
                  <a:pt x="421891" y="479802"/>
                </a:lnTo>
                <a:lnTo>
                  <a:pt x="0" y="47980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73" r="-173"/>
            </a:stretch>
          </a:blipFill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90600" y="1327150"/>
            <a:ext cx="10434955" cy="507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zh-CN" altLang="en-US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初始模型的探索之路</a:t>
            </a:r>
            <a:r>
              <a:rPr lang="en-US" altLang="zh-CN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——</a:t>
            </a:r>
            <a:r>
              <a:rPr lang="zh-CN" altLang="en-US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单模型基础性能评估</a:t>
            </a:r>
            <a:endParaRPr lang="zh-CN" altLang="en-US" sz="36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22960" y="8343900"/>
            <a:ext cx="17148810" cy="91884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518160" lvl="1" indent="-259080" algn="l">
              <a:lnSpc>
                <a:spcPct val="150000"/>
              </a:lnSpc>
              <a:buAutoNum type="arabicPeriod"/>
            </a:pPr>
            <a:r>
              <a:rPr lang="en-US" sz="2800" b="1" spc="3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思源宋体" panose="02020400000000000000" charset="-122"/>
              </a:rPr>
              <a:t>ConvNeXt-Tiny</a:t>
            </a:r>
            <a:r>
              <a:rPr lang="en-US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在</a:t>
            </a:r>
            <a:r>
              <a:rPr lang="en-US" sz="2800" spc="3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思源宋体" panose="02020400000000000000" charset="-122"/>
              </a:rPr>
              <a:t>AUC</a:t>
            </a:r>
            <a:r>
              <a:rPr lang="en-US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和</a:t>
            </a:r>
            <a:r>
              <a:rPr lang="en-US" sz="2800" spc="3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思源宋体" panose="02020400000000000000" charset="-122"/>
              </a:rPr>
              <a:t>F1-Score</a:t>
            </a:r>
            <a:r>
              <a:rPr lang="en-US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上表现最优，且参数量适中（28M），适合部署</a:t>
            </a:r>
            <a:r>
              <a:rPr lang="zh-CN" altLang="en-US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。</a:t>
            </a:r>
            <a:endParaRPr lang="en-US" sz="2800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" panose="02020400000000000000" charset="-122"/>
            </a:endParaRPr>
          </a:p>
          <a:p>
            <a:pPr marL="518160" lvl="1" indent="-259080" algn="l">
              <a:lnSpc>
                <a:spcPct val="150000"/>
              </a:lnSpc>
              <a:buAutoNum type="arabicPeriod"/>
            </a:pPr>
            <a:r>
              <a:rPr lang="en-US" sz="2800" b="1" spc="3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思源宋体" panose="02020400000000000000" charset="-122"/>
              </a:rPr>
              <a:t>EfficientNetV2-S</a:t>
            </a:r>
            <a:r>
              <a:rPr lang="en-US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虽然</a:t>
            </a:r>
            <a:r>
              <a:rPr lang="en-US" sz="2800" spc="3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思源宋体" panose="02020400000000000000" charset="-122"/>
              </a:rPr>
              <a:t>AUC</a:t>
            </a:r>
            <a:r>
              <a:rPr lang="en-US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略低，但</a:t>
            </a:r>
            <a:r>
              <a:rPr lang="en-US" sz="2800" spc="3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思源宋体" panose="02020400000000000000" charset="-122"/>
              </a:rPr>
              <a:t>Sensitivity</a:t>
            </a:r>
            <a:r>
              <a:rPr lang="en-US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最高（0.8333），与</a:t>
            </a:r>
            <a:r>
              <a:rPr lang="en-US" sz="2800" spc="3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思源宋体" panose="02020400000000000000" charset="-122"/>
              </a:rPr>
              <a:t>ConvNeXt-Tiny</a:t>
            </a:r>
            <a:r>
              <a:rPr lang="en-US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形成互补</a:t>
            </a:r>
            <a:r>
              <a:rPr lang="zh-CN" altLang="en-US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。</a:t>
            </a:r>
            <a:endParaRPr lang="zh-CN" altLang="en-US" sz="2800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" panose="02020400000000000000" charset="-122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707278" y="9069686"/>
            <a:ext cx="126986" cy="698312"/>
            <a:chOff x="0" y="0"/>
            <a:chExt cx="144018" cy="7919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44018" cy="791972"/>
            </a:xfrm>
            <a:custGeom>
              <a:avLst/>
              <a:gdLst/>
              <a:ahLst/>
              <a:cxnLst/>
              <a:rect l="l" t="t" r="r" b="b"/>
              <a:pathLst>
                <a:path w="144018" h="791972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cubicBezTo>
                    <a:pt x="111760" y="0"/>
                    <a:pt x="144018" y="32258"/>
                    <a:pt x="144018" y="72009"/>
                  </a:cubicBezTo>
                  <a:lnTo>
                    <a:pt x="144018" y="719963"/>
                  </a:lnTo>
                  <a:cubicBezTo>
                    <a:pt x="144018" y="759714"/>
                    <a:pt x="111760" y="791972"/>
                    <a:pt x="72009" y="791972"/>
                  </a:cubicBezTo>
                  <a:cubicBezTo>
                    <a:pt x="32258" y="791972"/>
                    <a:pt x="0" y="759714"/>
                    <a:pt x="0" y="719963"/>
                  </a:cubicBezTo>
                  <a:close/>
                </a:path>
              </a:pathLst>
            </a:custGeom>
            <a:solidFill>
              <a:srgbClr val="B4D7FF">
                <a:alpha val="2353"/>
              </a:srgbClr>
            </a:solidFill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35" name="表格 34"/>
          <p:cNvGraphicFramePr/>
          <p:nvPr>
            <p:custDataLst>
              <p:tags r:id="rId3"/>
            </p:custDataLst>
          </p:nvPr>
        </p:nvGraphicFramePr>
        <p:xfrm>
          <a:off x="902970" y="2225040"/>
          <a:ext cx="16738600" cy="5772150"/>
        </p:xfrm>
        <a:graphic>
          <a:graphicData uri="http://schemas.openxmlformats.org/drawingml/2006/table">
            <a:tbl>
              <a:tblPr firstRow="1" bandRow="1">
                <a:tableStyleId>{38C0F3EA-C9B6-4EF2-9439-15E2FCF112B2}</a:tableStyleId>
              </a:tblPr>
              <a:tblGrid>
                <a:gridCol w="3429635"/>
                <a:gridCol w="1901190"/>
                <a:gridCol w="1901190"/>
                <a:gridCol w="1902460"/>
                <a:gridCol w="1900555"/>
                <a:gridCol w="1901190"/>
                <a:gridCol w="1901190"/>
                <a:gridCol w="1901190"/>
              </a:tblGrid>
              <a:tr h="6413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</a:t>
                      </a:r>
                      <a:endParaRPr lang="zh-CN" altLang="en-US" sz="28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>
                    <a:lnR w="12700">
                      <a:solidFill>
                        <a:schemeClr val="accent1"/>
                      </a:solidFill>
                      <a:prstDash val="solid"/>
                    </a:lnR>
                    <a:lnB w="12700" cmpd="sng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参数量</a:t>
                      </a:r>
                      <a:endParaRPr lang="zh-CN" altLang="en-US" sz="28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B w="12700" cmpd="sng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dirty="0">
                          <a:solidFill>
                            <a:schemeClr val="bg1"/>
                          </a:solidFill>
                        </a:rPr>
                        <a:t>BUSI AUC</a:t>
                      </a:r>
                      <a:endParaRPr lang="en-US" altLang="zh-CN" sz="2800" dirty="0">
                        <a:solidFill>
                          <a:schemeClr val="bg1"/>
                        </a:solidFill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B w="12700" cmpd="sng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dirty="0">
                          <a:solidFill>
                            <a:schemeClr val="bg1"/>
                          </a:solidFill>
                        </a:rPr>
                        <a:t>Accuracy</a:t>
                      </a:r>
                      <a:endParaRPr lang="en-US" altLang="zh-CN" sz="2800" dirty="0">
                        <a:solidFill>
                          <a:schemeClr val="bg1"/>
                        </a:solidFill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B w="12700" cmpd="sng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dirty="0">
                          <a:solidFill>
                            <a:schemeClr val="bg1"/>
                          </a:solidFill>
                        </a:rPr>
                        <a:t>Sensitivity</a:t>
                      </a:r>
                      <a:endParaRPr lang="en-US" altLang="zh-CN" sz="2800" dirty="0">
                        <a:solidFill>
                          <a:schemeClr val="bg1"/>
                        </a:solidFill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B w="12700" cmpd="sng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dirty="0">
                          <a:solidFill>
                            <a:schemeClr val="bg1"/>
                          </a:solidFill>
                        </a:rPr>
                        <a:t>Specificity</a:t>
                      </a:r>
                      <a:endParaRPr lang="en-US" altLang="zh-CN" sz="2800" dirty="0">
                        <a:solidFill>
                          <a:schemeClr val="bg1"/>
                        </a:solidFill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B w="12700" cmpd="sng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dirty="0">
                          <a:solidFill>
                            <a:schemeClr val="bg1"/>
                          </a:solidFill>
                        </a:rPr>
                        <a:t>Precision</a:t>
                      </a:r>
                      <a:endParaRPr lang="en-US" altLang="zh-CN" sz="2800" dirty="0">
                        <a:solidFill>
                          <a:schemeClr val="bg1"/>
                        </a:solidFill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B w="12700" cmpd="sng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800" dirty="0">
                          <a:solidFill>
                            <a:schemeClr val="bg1"/>
                          </a:solidFill>
                        </a:rPr>
                        <a:t>F1-Score</a:t>
                      </a:r>
                      <a:endParaRPr lang="en-US" altLang="zh-CN" sz="2800" dirty="0">
                        <a:solidFill>
                          <a:schemeClr val="bg1"/>
                        </a:solidFill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B w="12700" cmpd="sng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ConvNeXt-Tiny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</a:rPr>
                        <a:t>28M</a:t>
                      </a:r>
                      <a:endParaRPr lang="en-US" altLang="zh-CN" sz="2400" b="1" dirty="0">
                        <a:solidFill>
                          <a:srgbClr val="FF0000"/>
                        </a:solidFill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</a:rPr>
                        <a:t>0.8943</a:t>
                      </a:r>
                      <a:endParaRPr lang="en-US" altLang="zh-CN" sz="2400" b="1" dirty="0">
                        <a:solidFill>
                          <a:srgbClr val="FF0000"/>
                        </a:solidFill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</a:rPr>
                        <a:t>0.8423</a:t>
                      </a:r>
                      <a:endParaRPr lang="en-US" altLang="zh-CN" sz="2400" b="1" dirty="0">
                        <a:solidFill>
                          <a:srgbClr val="FF0000"/>
                        </a:solidFill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</a:rPr>
                        <a:t>0.7762</a:t>
                      </a:r>
                      <a:endParaRPr lang="en-US" altLang="zh-CN" sz="2400" b="1" dirty="0">
                        <a:solidFill>
                          <a:srgbClr val="FF0000"/>
                        </a:solidFill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</a:rPr>
                        <a:t>0.8741</a:t>
                      </a:r>
                      <a:endParaRPr lang="en-US" altLang="zh-CN" sz="2400" b="1" dirty="0">
                        <a:solidFill>
                          <a:srgbClr val="FF0000"/>
                        </a:solidFill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</a:rPr>
                        <a:t>0.7477</a:t>
                      </a:r>
                      <a:endParaRPr lang="en-US" altLang="zh-CN" sz="2400" b="1" dirty="0">
                        <a:solidFill>
                          <a:srgbClr val="FF0000"/>
                        </a:solidFill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</a:rPr>
                        <a:t>0.7617</a:t>
                      </a:r>
                      <a:endParaRPr lang="en-US" altLang="zh-CN" sz="2400" b="1" dirty="0">
                        <a:solidFill>
                          <a:srgbClr val="FF0000"/>
                        </a:solidFill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ConvNeXt-Small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50M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0.8947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0.8284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0.7667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0.8581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0.7220 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0.7436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Swin-Tiny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28M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0.8729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0.8300 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0.7048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0.8902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0.7551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0.7291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DenseNet-121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8M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0.8766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0.8083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0.4571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0.9771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0.9057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0.6076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EfficientNetV2-S</a:t>
                      </a:r>
                      <a:endParaRPr lang="en-US" altLang="zh-CN" sz="2400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21M</a:t>
                      </a:r>
                      <a:endParaRPr lang="en-US" altLang="zh-CN" sz="2400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0.8609</a:t>
                      </a:r>
                      <a:endParaRPr lang="en-US" altLang="zh-CN" sz="2400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0.7465</a:t>
                      </a:r>
                      <a:endParaRPr lang="en-US" altLang="zh-CN" sz="2400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0.8333</a:t>
                      </a:r>
                      <a:endParaRPr lang="en-US" altLang="zh-CN" sz="2400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0.7048</a:t>
                      </a:r>
                      <a:endParaRPr lang="en-US" altLang="zh-CN" sz="2400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0.5757</a:t>
                      </a:r>
                      <a:endParaRPr lang="en-US" altLang="zh-CN" sz="2400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0.6809</a:t>
                      </a:r>
                      <a:endParaRPr lang="en-US" altLang="zh-CN" sz="2400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ResNet-18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11M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0.848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0.7991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0.7714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0.8124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0.6639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0.7137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MobileNetV3-Small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2.5M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0.8431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0.7546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0.7143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0.7735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0.6024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0.6536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 26x-cls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28M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0.8189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0.7975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0.6571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0.8650 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0.7005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/>
                        <a:t>0.6781</a:t>
                      </a:r>
                      <a:endParaRPr lang="en-US" altLang="zh-CN" sz="2400" dirty="0"/>
                    </a:p>
                  </a:txBody>
                  <a:tcPr marL="6667" marR="6667" marT="6667" marB="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T w="12700" cmpd="sng">
                      <a:solidFill>
                        <a:schemeClr val="accent1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81288" y="1423816"/>
            <a:ext cx="121539" cy="121539"/>
            <a:chOff x="0" y="0"/>
            <a:chExt cx="162052" cy="1620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80000">
                  <a:srgbClr val="FC6804">
                    <a:alpha val="100000"/>
                  </a:srgbClr>
                </a:gs>
              </a:gsLst>
              <a:lin ang="36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2907706" y="5969718"/>
            <a:ext cx="421891" cy="479803"/>
          </a:xfrm>
          <a:custGeom>
            <a:avLst/>
            <a:gdLst/>
            <a:ahLst/>
            <a:cxnLst/>
            <a:rect l="l" t="t" r="r" b="b"/>
            <a:pathLst>
              <a:path w="421891" h="479803">
                <a:moveTo>
                  <a:pt x="0" y="0"/>
                </a:moveTo>
                <a:lnTo>
                  <a:pt x="421891" y="0"/>
                </a:lnTo>
                <a:lnTo>
                  <a:pt x="421891" y="479802"/>
                </a:lnTo>
                <a:lnTo>
                  <a:pt x="0" y="47980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73" r="-173"/>
            </a:stretch>
          </a:blipFill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90600" y="1250950"/>
            <a:ext cx="10434955" cy="507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zh-CN" altLang="en-US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初始模型的探索之路</a:t>
            </a:r>
            <a:r>
              <a:rPr lang="en-US" altLang="zh-CN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——</a:t>
            </a:r>
            <a:r>
              <a:rPr lang="zh-CN" altLang="en-US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单模型</a:t>
            </a:r>
            <a:r>
              <a:rPr lang="en-US" altLang="zh-CN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 5 fold </a:t>
            </a:r>
            <a:r>
              <a:rPr lang="zh-CN" altLang="en-US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性能评估</a:t>
            </a:r>
            <a:endParaRPr lang="zh-CN" altLang="en-US" sz="36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98450" y="7886700"/>
            <a:ext cx="17679035" cy="121666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457200" algn="ctr">
              <a:lnSpc>
                <a:spcPct val="150000"/>
              </a:lnSpc>
            </a:pPr>
            <a:r>
              <a:rPr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在单模型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5 fold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评估中，由于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ConvNeXt-Tiny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获得最高 BUSI AUC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（0.9054）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，</a:t>
            </a:r>
            <a:endParaRPr lang="en-US" altLang="zh-CN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" panose="02020400000000000000" charset="-122"/>
            </a:endParaRPr>
          </a:p>
          <a:p>
            <a:pPr marL="0" lvl="0" indent="457200" algn="ctr">
              <a:lnSpc>
                <a:spcPct val="150000"/>
              </a:lnSpc>
            </a:pPr>
            <a:r>
              <a:rPr lang="en-US" altLang="zh-CN" sz="32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EfficientNetV2-S 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提供较高特异性和互补的 CNN 表征，因此选择二者构成双模型五折分类集成。</a:t>
            </a:r>
            <a:endParaRPr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" panose="02020400000000000000" charset="-122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707278" y="9069686"/>
            <a:ext cx="126986" cy="698312"/>
            <a:chOff x="0" y="0"/>
            <a:chExt cx="144018" cy="7919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44018" cy="791972"/>
            </a:xfrm>
            <a:custGeom>
              <a:avLst/>
              <a:gdLst/>
              <a:ahLst/>
              <a:cxnLst/>
              <a:rect l="l" t="t" r="r" b="b"/>
              <a:pathLst>
                <a:path w="144018" h="791972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cubicBezTo>
                    <a:pt x="111760" y="0"/>
                    <a:pt x="144018" y="32258"/>
                    <a:pt x="144018" y="72009"/>
                  </a:cubicBezTo>
                  <a:lnTo>
                    <a:pt x="144018" y="719963"/>
                  </a:lnTo>
                  <a:cubicBezTo>
                    <a:pt x="144018" y="759714"/>
                    <a:pt x="111760" y="791972"/>
                    <a:pt x="72009" y="791972"/>
                  </a:cubicBezTo>
                  <a:cubicBezTo>
                    <a:pt x="32258" y="791972"/>
                    <a:pt x="0" y="759714"/>
                    <a:pt x="0" y="719963"/>
                  </a:cubicBezTo>
                  <a:close/>
                </a:path>
              </a:pathLst>
            </a:custGeom>
            <a:solidFill>
              <a:srgbClr val="B4D7FF">
                <a:alpha val="2353"/>
              </a:srgbClr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33" name="表格 32"/>
          <p:cNvGraphicFramePr/>
          <p:nvPr>
            <p:custDataLst>
              <p:tags r:id="rId3"/>
            </p:custDataLst>
          </p:nvPr>
        </p:nvGraphicFramePr>
        <p:xfrm>
          <a:off x="982744" y="3237734"/>
          <a:ext cx="16426970" cy="435419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2190"/>
                <a:gridCol w="2054780"/>
                <a:gridCol w="1656000"/>
                <a:gridCol w="1772285"/>
                <a:gridCol w="1688385"/>
                <a:gridCol w="1739820"/>
                <a:gridCol w="1423510"/>
              </a:tblGrid>
              <a:tr h="68199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5-fold 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模型</a:t>
                      </a:r>
                      <a:endParaRPr lang="zh-CN" altLang="en-US" sz="2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 AUC</a:t>
                      </a:r>
                      <a:endParaRPr lang="en-US" altLang="zh-CN" sz="2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Sensitivity</a:t>
                      </a:r>
                      <a:endParaRPr lang="en-US" altLang="zh-CN" sz="2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Specificity</a:t>
                      </a:r>
                      <a:endParaRPr lang="en-US" altLang="zh-CN" sz="2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altLang="zh-CN" sz="2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altLang="zh-CN" sz="2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</a:t>
                      </a:r>
                      <a:endParaRPr lang="en-US" altLang="zh-CN" sz="2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ConvNeXt-Tiny 5-fold + crop-sweep TTA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0.9054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0.7714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0.8879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0.8501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0.7678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0.7696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EfficientNetV2-S 5-fold + hflip TTA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0.8997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0.6810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0.9291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0.8485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0.8218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0.7448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EfficientNetV2-S 5-fold + identity TTA</a:t>
                      </a:r>
                      <a:endParaRPr lang="en-US" altLang="zh-CN" sz="2400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0.8982</a:t>
                      </a:r>
                      <a:endParaRPr lang="en-US" altLang="zh-CN" sz="2400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0.6619</a:t>
                      </a:r>
                      <a:endParaRPr lang="en-US" altLang="zh-CN" sz="2400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0.9314</a:t>
                      </a:r>
                      <a:endParaRPr lang="en-US" altLang="zh-CN" sz="2400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0.8439</a:t>
                      </a:r>
                      <a:endParaRPr lang="en-US" altLang="zh-CN" sz="2400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0.8225</a:t>
                      </a:r>
                      <a:endParaRPr lang="en-US" altLang="zh-CN" sz="2400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0.7335</a:t>
                      </a:r>
                      <a:endParaRPr lang="en-US" altLang="zh-CN" sz="2400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Swin-Tiny 5-fold + crop-sweep TTA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0.8971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0.7762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0.8833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0.8485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0.7617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0.7689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DenseNet121 5-fold + hflip TTA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0.8914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0.4952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0.9794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0.8223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0.9204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0.6440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ConvNeXt-Small 5-fold + crop-sweep TTA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0.9040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0.8190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0.8535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0.8423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0.7288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0.7713</a:t>
                      </a:r>
                      <a:endPara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944799" y="1797424"/>
            <a:ext cx="1646491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457200" algn="just">
              <a:lnSpc>
                <a:spcPct val="150000"/>
              </a:lnSpc>
            </a:pPr>
            <a:r>
              <a:rPr lang="en-US" altLang="zh-CN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  </a:t>
            </a:r>
            <a:r>
              <a:rPr lang="zh-CN" altLang="en-US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我们通过对训练集进行</a:t>
            </a:r>
            <a:r>
              <a:rPr lang="en-US" altLang="zh-CN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5fold</a:t>
            </a:r>
            <a:r>
              <a:rPr lang="zh-CN" altLang="en-US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平均分配，对目标模型进行</a:t>
            </a:r>
            <a:r>
              <a:rPr lang="en-US" altLang="zh-CN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5fold</a:t>
            </a:r>
            <a:r>
              <a:rPr lang="zh-CN" altLang="en-US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训练并融合权重</a:t>
            </a:r>
            <a:r>
              <a:rPr lang="en-US" altLang="zh-CN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+</a:t>
            </a:r>
            <a:r>
              <a:rPr lang="zh-CN" altLang="en-US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最优</a:t>
            </a:r>
            <a:r>
              <a:rPr lang="en-US" altLang="zh-CN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TTA</a:t>
            </a:r>
            <a:r>
              <a:rPr lang="zh-CN" altLang="en-US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的配置进行</a:t>
            </a:r>
            <a:r>
              <a:rPr lang="en-US" altLang="zh-CN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0.5</a:t>
            </a:r>
            <a:r>
              <a:rPr lang="zh-CN" altLang="en-US" sz="28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阈值基准性能测试，得到以下结果：</a:t>
            </a:r>
            <a:endParaRPr lang="zh-CN" altLang="en-US" sz="2800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" panose="0202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819442" y="1388992"/>
            <a:ext cx="121539" cy="121539"/>
            <a:chOff x="0" y="0"/>
            <a:chExt cx="162052" cy="1620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80000">
                  <a:srgbClr val="FC6804">
                    <a:alpha val="100000"/>
                  </a:srgbClr>
                </a:gs>
              </a:gsLst>
              <a:lin ang="36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2907706" y="5741118"/>
            <a:ext cx="421891" cy="479803"/>
          </a:xfrm>
          <a:custGeom>
            <a:avLst/>
            <a:gdLst/>
            <a:ahLst/>
            <a:cxnLst/>
            <a:rect l="l" t="t" r="r" b="b"/>
            <a:pathLst>
              <a:path w="421891" h="479803">
                <a:moveTo>
                  <a:pt x="0" y="0"/>
                </a:moveTo>
                <a:lnTo>
                  <a:pt x="421891" y="0"/>
                </a:lnTo>
                <a:lnTo>
                  <a:pt x="421891" y="479802"/>
                </a:lnTo>
                <a:lnTo>
                  <a:pt x="0" y="47980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73" r="-173"/>
            </a:stretch>
          </a:blipFill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66800" y="1212366"/>
            <a:ext cx="10434955" cy="4853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zh-CN" altLang="en-US" sz="33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初始模型的探索之路</a:t>
            </a:r>
            <a:r>
              <a:rPr lang="en-US" altLang="zh-CN" sz="33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——</a:t>
            </a:r>
            <a:r>
              <a:rPr lang="zh-CN" altLang="en-US" sz="33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多分类模型融合权重</a:t>
            </a:r>
            <a:endParaRPr lang="zh-CN" altLang="en-US" sz="33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707278" y="8841086"/>
            <a:ext cx="126986" cy="698312"/>
            <a:chOff x="0" y="0"/>
            <a:chExt cx="144018" cy="7919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44018" cy="791972"/>
            </a:xfrm>
            <a:custGeom>
              <a:avLst/>
              <a:gdLst/>
              <a:ahLst/>
              <a:cxnLst/>
              <a:rect l="l" t="t" r="r" b="b"/>
              <a:pathLst>
                <a:path w="144018" h="791972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cubicBezTo>
                    <a:pt x="111760" y="0"/>
                    <a:pt x="144018" y="32258"/>
                    <a:pt x="144018" y="72009"/>
                  </a:cubicBezTo>
                  <a:lnTo>
                    <a:pt x="144018" y="719963"/>
                  </a:lnTo>
                  <a:cubicBezTo>
                    <a:pt x="144018" y="759714"/>
                    <a:pt x="111760" y="791972"/>
                    <a:pt x="72009" y="791972"/>
                  </a:cubicBezTo>
                  <a:cubicBezTo>
                    <a:pt x="32258" y="791972"/>
                    <a:pt x="0" y="759714"/>
                    <a:pt x="0" y="719963"/>
                  </a:cubicBezTo>
                  <a:close/>
                </a:path>
              </a:pathLst>
            </a:custGeom>
            <a:solidFill>
              <a:srgbClr val="B4D7FF">
                <a:alpha val="2353"/>
              </a:srgbClr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683774" y="9224247"/>
            <a:ext cx="15483205" cy="645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 Bold" panose="020B0800000000000000" charset="-122"/>
              </a:rPr>
              <a:t>结论：</a:t>
            </a:r>
            <a:r>
              <a:rPr 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 Bold" panose="020B0800000000000000" charset="-122"/>
              </a:rPr>
              <a:t>高 </a:t>
            </a:r>
            <a:r>
              <a:rPr 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 Bold" panose="020B0800000000000000" charset="-122"/>
              </a:rPr>
              <a:t>AUC 模型 + 高 </a:t>
            </a:r>
            <a:r>
              <a:rPr 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 Bold" panose="020B0800000000000000" charset="-122"/>
              </a:rPr>
              <a:t>Sensitivity 模型互补集成，实现性能突破。</a:t>
            </a:r>
            <a:endParaRPr 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1 Bold" panose="020B0800000000000000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941070" y="1933575"/>
          <a:ext cx="16699865" cy="7107555"/>
        </p:xfrm>
        <a:graphic>
          <a:graphicData uri="http://schemas.openxmlformats.org/drawingml/2006/table">
            <a:tbl>
              <a:tblPr firstRow="1" bandRow="1">
                <a:tableStyleId>{3A6C3CF0-0071-4EB2-B85E-9BABEA62439C}</a:tableStyleId>
              </a:tblPr>
              <a:tblGrid>
                <a:gridCol w="2862580"/>
                <a:gridCol w="1901190"/>
                <a:gridCol w="1195070"/>
                <a:gridCol w="1644015"/>
                <a:gridCol w="1687195"/>
                <a:gridCol w="1751965"/>
                <a:gridCol w="1578610"/>
                <a:gridCol w="1410970"/>
                <a:gridCol w="2668270"/>
              </a:tblGrid>
              <a:tr h="88392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dirty="0"/>
                        <a:t>模型组合</a:t>
                      </a:r>
                      <a:endParaRPr lang="zh-CN" altLang="en-US" sz="28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dirty="0"/>
                        <a:t>权重</a:t>
                      </a:r>
                      <a:endParaRPr lang="zh-CN" altLang="en-US" sz="28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/>
                        <a:t>AUC</a:t>
                      </a:r>
                      <a:endParaRPr lang="en-US" altLang="zh-CN" sz="28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/>
                        <a:t>Accuracy</a:t>
                      </a:r>
                      <a:endParaRPr lang="en-US" altLang="zh-CN" sz="28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/>
                        <a:t>Sensitivity</a:t>
                      </a:r>
                      <a:endParaRPr lang="en-US" altLang="zh-CN" sz="28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/>
                        <a:t>Specificity</a:t>
                      </a:r>
                      <a:endParaRPr lang="en-US" altLang="zh-CN" sz="28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/>
                        <a:t>Precision</a:t>
                      </a:r>
                      <a:endParaRPr lang="en-US" altLang="zh-CN" sz="28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/>
                        <a:t>F1-score</a:t>
                      </a:r>
                      <a:endParaRPr lang="en-US" altLang="zh-CN" sz="28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dirty="0"/>
                        <a:t>混淆矩阵</a:t>
                      </a:r>
                      <a:endParaRPr lang="zh-CN" altLang="en-US" sz="28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</a:tr>
              <a:tr h="858520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EfficientNetV2-S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1.000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0.8997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0.8485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0.6619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0.9382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0.8373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0.7394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TN 410 / FP 27 /</a:t>
                      </a:r>
                      <a:endParaRPr lang="en-US" altLang="zh-CN" sz="2400" dirty="0"/>
                    </a:p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 FN 71 / TP 139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</a:tr>
              <a:tr h="858520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DenseNet121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1.000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0.8914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0.8223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0.4952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0.9794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0.9204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0.6440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TN 428 / FP 9 / </a:t>
                      </a:r>
                      <a:endParaRPr lang="en-US" altLang="zh-CN" sz="2400" dirty="0"/>
                    </a:p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FN 106 / TP 104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</a:tr>
              <a:tr h="859155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ConvNeXt-Tiny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1.000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0.9054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0.8501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0.7714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0.8879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0.7678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0.7696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TN 388 / FP 49 /</a:t>
                      </a:r>
                      <a:endParaRPr lang="en-US" altLang="zh-CN" sz="2400" dirty="0"/>
                    </a:p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 FN 48 / TP 162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</a:tr>
              <a:tr h="858520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EffNet + DenseNet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0.612 / 0.388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0.9053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0.8331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0.5762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0.9565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0.8643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0.6914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TN 418 / FP 19 /</a:t>
                      </a:r>
                      <a:endParaRPr lang="en-US" altLang="zh-CN" sz="2400" dirty="0"/>
                    </a:p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 FN 89 / TP 121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</a:tr>
              <a:tr h="857885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EffNet + ConvNeXt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0.427 / 0.573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0.9133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0.8578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0.7381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0.9153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0.8073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0.7711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TN 400 / FP 37 /</a:t>
                      </a:r>
                      <a:endParaRPr lang="en-US" altLang="zh-CN" sz="2400" dirty="0"/>
                    </a:p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 FN 55 / TP 155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</a:tr>
              <a:tr h="858520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DenseNet + ConvNeXt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0.396 / 0.604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0.9082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0.8594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0.7190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0.9268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0.8251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0.7684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TN 405 / FP 32 / </a:t>
                      </a:r>
                      <a:endParaRPr lang="en-US" altLang="zh-CN" sz="2400" dirty="0"/>
                    </a:p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FN 59 / TP 151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</a:tr>
              <a:tr h="1072515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EffNet + DenseNet + ConvNeXt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0.358 / 0.244 / 0.398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0.9138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0.8640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0.7095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0.9382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0.8466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0.7720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TN 410 / FP 27 / </a:t>
                      </a:r>
                      <a:endParaRPr lang="en-US" altLang="zh-CN" sz="2400" dirty="0"/>
                    </a:p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FN 61 / TP 149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右箭头 2"/>
          <p:cNvSpPr/>
          <p:nvPr/>
        </p:nvSpPr>
        <p:spPr>
          <a:xfrm>
            <a:off x="1752600" y="9235440"/>
            <a:ext cx="921385" cy="6096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381635" y="6085205"/>
            <a:ext cx="7771765" cy="324929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381000" y="2400300"/>
            <a:ext cx="7848600" cy="19069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" name="Group 9"/>
          <p:cNvGrpSpPr/>
          <p:nvPr/>
        </p:nvGrpSpPr>
        <p:grpSpPr>
          <a:xfrm>
            <a:off x="811133" y="1804816"/>
            <a:ext cx="121539" cy="121539"/>
            <a:chOff x="0" y="0"/>
            <a:chExt cx="162052" cy="162052"/>
          </a:xfrm>
        </p:grpSpPr>
        <p:sp>
          <p:nvSpPr>
            <p:cNvPr id="4" name="Freeform 10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solidFill>
              <a:srgbClr val="003F88">
                <a:alpha val="392"/>
              </a:srgbClr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11133" y="1576216"/>
            <a:ext cx="121539" cy="121539"/>
            <a:chOff x="0" y="0"/>
            <a:chExt cx="162052" cy="162052"/>
          </a:xfrm>
        </p:grpSpPr>
        <p:sp>
          <p:nvSpPr>
            <p:cNvPr id="5" name="Freeform 12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80000">
                  <a:srgbClr val="FC6804">
                    <a:alpha val="100000"/>
                  </a:srgbClr>
                </a:gs>
              </a:gsLst>
              <a:lin ang="36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19200" y="1409700"/>
            <a:ext cx="7016750" cy="476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altLang="zh-CN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Times New Roman" panose="02020603050405020304" pitchFamily="18" charset="0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CLAHE</a:t>
            </a:r>
            <a:r>
              <a:rPr lang="en-US" altLang="zh-CN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 </a:t>
            </a:r>
            <a:r>
              <a:rPr lang="zh-CN" altLang="en-US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对比度及边缘增强</a:t>
            </a:r>
            <a:endParaRPr lang="zh-CN" altLang="en-US" sz="36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03555" y="2540000"/>
            <a:ext cx="7656195" cy="188214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altLang="zh-CN" sz="3200" dirty="0">
                <a:solidFill>
                  <a:srgbClr val="404040"/>
                </a:solidFill>
                <a:latin typeface="宋体" panose="02010600030101010101" pitchFamily="2" charset="-122"/>
                <a:ea typeface="宋体" panose="02010600030101010101" pitchFamily="2" charset="-122"/>
                <a:cs typeface="思源黑体 1" panose="020B0500000000000000" charset="-122"/>
                <a:sym typeface="思源黑体 1" panose="020B0500000000000000" charset="-122"/>
              </a:rPr>
              <a:t>   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 panose="020B0500000000000000" charset="-122"/>
                <a:sym typeface="思源黑体 1" panose="020B0500000000000000" charset="-122"/>
              </a:rPr>
              <a:t>通过观察测试集，我们发现</a:t>
            </a:r>
            <a:r>
              <a:rPr 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 panose="020B0500000000000000" charset="-122"/>
                <a:sym typeface="思源黑体 1" panose="020B0500000000000000" charset="-122"/>
              </a:rPr>
              <a:t>超声图像</a:t>
            </a:r>
            <a:endParaRPr 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" panose="020B0500000000000000" charset="-122"/>
              <a:sym typeface="思源黑体 1" panose="020B0500000000000000" charset="-122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 panose="020B0500000000000000" charset="-122"/>
                <a:sym typeface="思源黑体 1" panose="020B0500000000000000" charset="-122"/>
              </a:rPr>
              <a:t>普遍存在</a:t>
            </a:r>
            <a:r>
              <a:rPr 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 panose="020B0800000000000000" charset="-122"/>
                <a:sym typeface="思源黑体 1 Bold" panose="020B0800000000000000" charset="-122"/>
              </a:rPr>
              <a:t>对比度低、病灶边缘模糊</a:t>
            </a:r>
            <a:r>
              <a:rPr 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 panose="020B0500000000000000" charset="-122"/>
                <a:sym typeface="思源黑体 1" panose="020B0500000000000000" charset="-122"/>
              </a:rPr>
              <a:t>的问题</a:t>
            </a:r>
            <a:r>
              <a:rPr lang="zh-CN" altLang="en-US" sz="3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 panose="020B0500000000000000" charset="-122"/>
                <a:sym typeface="思源黑体 1" panose="020B0500000000000000" charset="-122"/>
              </a:rPr>
              <a:t>。</a:t>
            </a:r>
            <a:endParaRPr lang="en-US" altLang="zh-CN" sz="3200" dirty="0">
              <a:solidFill>
                <a:srgbClr val="404040"/>
              </a:solidFill>
              <a:latin typeface="宋体" panose="02010600030101010101" pitchFamily="2" charset="-122"/>
              <a:ea typeface="宋体" panose="02010600030101010101" pitchFamily="2" charset="-122"/>
              <a:cs typeface="思源黑体 1" panose="020B0500000000000000" charset="-122"/>
              <a:sym typeface="思源黑体 1" panose="020B0500000000000000" charset="-122"/>
            </a:endParaRPr>
          </a:p>
          <a:p>
            <a:pPr marL="0" lvl="0" indent="0" algn="l">
              <a:lnSpc>
                <a:spcPct val="70000"/>
              </a:lnSpc>
              <a:spcBef>
                <a:spcPct val="0"/>
              </a:spcBef>
            </a:pPr>
            <a:endParaRPr lang="en-US" sz="3200" dirty="0">
              <a:solidFill>
                <a:srgbClr val="404040"/>
              </a:solidFill>
              <a:latin typeface="宋体" panose="02010600030101010101" pitchFamily="2" charset="-122"/>
              <a:ea typeface="宋体" panose="02010600030101010101" pitchFamily="2" charset="-122"/>
              <a:cs typeface="思源黑体 1" panose="020B0500000000000000" charset="-122"/>
              <a:sym typeface="思源黑体 1" panose="020B0500000000000000" charset="-122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altLang="zh-CN" sz="3200" dirty="0">
                <a:solidFill>
                  <a:srgbClr val="404040"/>
                </a:solidFill>
                <a:latin typeface="宋体" panose="02010600030101010101" pitchFamily="2" charset="-122"/>
                <a:ea typeface="宋体" panose="02010600030101010101" pitchFamily="2" charset="-122"/>
                <a:cs typeface="思源黑体 1" panose="020B0500000000000000" charset="-122"/>
                <a:sym typeface="思源黑体 1" panose="020B0500000000000000" charset="-122"/>
              </a:rPr>
              <a:t>    </a:t>
            </a:r>
            <a:endParaRPr lang="en-US" sz="3200" u="none" strike="noStrike" dirty="0">
              <a:solidFill>
                <a:srgbClr val="404040"/>
              </a:solidFill>
              <a:latin typeface="宋体" panose="02010600030101010101" pitchFamily="2" charset="-122"/>
              <a:ea typeface="宋体" panose="02010600030101010101" pitchFamily="2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8309610" y="1607185"/>
            <a:ext cx="4855845" cy="4391660"/>
            <a:chOff x="0" y="0"/>
            <a:chExt cx="5659120" cy="4724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659120" cy="4724400"/>
            </a:xfrm>
            <a:custGeom>
              <a:avLst/>
              <a:gdLst/>
              <a:ahLst/>
              <a:cxnLst/>
              <a:rect l="l" t="t" r="r" b="b"/>
              <a:pathLst>
                <a:path w="5659120" h="4724400">
                  <a:moveTo>
                    <a:pt x="0" y="0"/>
                  </a:moveTo>
                  <a:lnTo>
                    <a:pt x="5659120" y="0"/>
                  </a:lnTo>
                  <a:lnTo>
                    <a:pt x="5659120" y="4724400"/>
                  </a:lnTo>
                  <a:lnTo>
                    <a:pt x="0" y="472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752705" y="1591945"/>
            <a:ext cx="4855845" cy="4410075"/>
            <a:chOff x="3113193" y="-1588347"/>
            <a:chExt cx="5659120" cy="4724400"/>
          </a:xfrm>
        </p:grpSpPr>
        <p:sp>
          <p:nvSpPr>
            <p:cNvPr id="6" name="Freeform 28"/>
            <p:cNvSpPr/>
            <p:nvPr/>
          </p:nvSpPr>
          <p:spPr>
            <a:xfrm>
              <a:off x="3113193" y="-1588347"/>
              <a:ext cx="5659120" cy="4724400"/>
            </a:xfrm>
            <a:custGeom>
              <a:avLst/>
              <a:gdLst/>
              <a:ahLst/>
              <a:cxnLst/>
              <a:rect l="l" t="t" r="r" b="b"/>
              <a:pathLst>
                <a:path w="5659120" h="4724400">
                  <a:moveTo>
                    <a:pt x="0" y="0"/>
                  </a:moveTo>
                  <a:lnTo>
                    <a:pt x="5659120" y="0"/>
                  </a:lnTo>
                  <a:lnTo>
                    <a:pt x="5659120" y="4724400"/>
                  </a:lnTo>
                  <a:lnTo>
                    <a:pt x="0" y="472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30"/>
          <p:cNvGrpSpPr/>
          <p:nvPr/>
        </p:nvGrpSpPr>
        <p:grpSpPr>
          <a:xfrm>
            <a:off x="8309610" y="5372100"/>
            <a:ext cx="4855210" cy="4189095"/>
            <a:chOff x="6260254" y="-2733886"/>
            <a:chExt cx="5962269" cy="4778629"/>
          </a:xfrm>
        </p:grpSpPr>
        <p:sp>
          <p:nvSpPr>
            <p:cNvPr id="31" name="Freeform 31"/>
            <p:cNvSpPr/>
            <p:nvPr/>
          </p:nvSpPr>
          <p:spPr>
            <a:xfrm>
              <a:off x="6260254" y="-2733886"/>
              <a:ext cx="5962269" cy="4778629"/>
            </a:xfrm>
            <a:custGeom>
              <a:avLst/>
              <a:gdLst/>
              <a:ahLst/>
              <a:cxnLst/>
              <a:rect l="l" t="t" r="r" b="b"/>
              <a:pathLst>
                <a:path w="5962269" h="4778629">
                  <a:moveTo>
                    <a:pt x="0" y="0"/>
                  </a:moveTo>
                  <a:lnTo>
                    <a:pt x="5962269" y="0"/>
                  </a:lnTo>
                  <a:lnTo>
                    <a:pt x="5962269" y="4778629"/>
                  </a:lnTo>
                  <a:lnTo>
                    <a:pt x="0" y="4778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" r="-2"/>
              </a:stretch>
            </a:blip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752705" y="5372100"/>
            <a:ext cx="4855210" cy="4189095"/>
            <a:chOff x="0" y="0"/>
            <a:chExt cx="6081611" cy="48742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081649" cy="4874260"/>
            </a:xfrm>
            <a:custGeom>
              <a:avLst/>
              <a:gdLst/>
              <a:ahLst/>
              <a:cxnLst/>
              <a:rect l="l" t="t" r="r" b="b"/>
              <a:pathLst>
                <a:path w="6081649" h="4874260">
                  <a:moveTo>
                    <a:pt x="0" y="0"/>
                  </a:moveTo>
                  <a:lnTo>
                    <a:pt x="6081649" y="0"/>
                  </a:lnTo>
                  <a:lnTo>
                    <a:pt x="6081649" y="4874260"/>
                  </a:lnTo>
                  <a:lnTo>
                    <a:pt x="0" y="4874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" r="-2"/>
              </a:stretch>
            </a:blip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37123" y="9069686"/>
            <a:ext cx="126986" cy="698312"/>
            <a:chOff x="0" y="0"/>
            <a:chExt cx="144018" cy="7919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4018" cy="791972"/>
            </a:xfrm>
            <a:custGeom>
              <a:avLst/>
              <a:gdLst/>
              <a:ahLst/>
              <a:cxnLst/>
              <a:rect l="l" t="t" r="r" b="b"/>
              <a:pathLst>
                <a:path w="144018" h="791972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cubicBezTo>
                    <a:pt x="111760" y="0"/>
                    <a:pt x="144018" y="32258"/>
                    <a:pt x="144018" y="72009"/>
                  </a:cubicBezTo>
                  <a:lnTo>
                    <a:pt x="144018" y="719963"/>
                  </a:lnTo>
                  <a:cubicBezTo>
                    <a:pt x="144018" y="759714"/>
                    <a:pt x="111760" y="791972"/>
                    <a:pt x="72009" y="791972"/>
                  </a:cubicBezTo>
                  <a:cubicBezTo>
                    <a:pt x="32258" y="791972"/>
                    <a:pt x="0" y="759714"/>
                    <a:pt x="0" y="719963"/>
                  </a:cubicBezTo>
                  <a:close/>
                </a:path>
              </a:pathLst>
            </a:custGeom>
            <a:solidFill>
              <a:srgbClr val="B4D7FF">
                <a:alpha val="2353"/>
              </a:srgbClr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27380" y="6306820"/>
            <a:ext cx="7230110" cy="32905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3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为此，我们应用对比度受限的</a:t>
            </a:r>
            <a:endParaRPr lang="zh-CN" altLang="en-US" sz="32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1" panose="020B0500000000000000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3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 Bold" panose="020B0800000000000000" charset="-122"/>
              </a:rPr>
              <a:t>自适应直方图均衡化 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 Bold" panose="020B0800000000000000" charset="-122"/>
              </a:rPr>
              <a:t>(CLAHE)</a:t>
            </a:r>
            <a:r>
              <a:rPr lang="zh-CN" altLang="en-US" sz="3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 Bold" panose="020B0800000000000000" charset="-122"/>
              </a:rPr>
              <a:t>算法</a:t>
            </a:r>
            <a:r>
              <a:rPr lang="zh-CN" altLang="en-US" sz="3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，</a:t>
            </a:r>
            <a:endParaRPr lang="zh-CN" altLang="en-US" sz="32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1" panose="020B0500000000000000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3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 Bold" panose="020B0800000000000000" charset="-122"/>
              </a:rPr>
              <a:t>自适应增强病灶边界清晰度与内部回声的</a:t>
            </a:r>
            <a:r>
              <a:rPr lang="zh-CN" altLang="en-US" sz="3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 Bold" panose="020B0800000000000000" charset="-122"/>
              </a:rPr>
              <a:t>局部</a:t>
            </a:r>
            <a:r>
              <a:rPr lang="zh-CN" altLang="en-US" sz="3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 Bold" panose="020B0800000000000000" charset="-122"/>
              </a:rPr>
              <a:t>对比度</a:t>
            </a:r>
            <a:r>
              <a:rPr lang="zh-CN" altLang="en-US" sz="3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1" panose="020B0500000000000000" charset="-122"/>
              </a:rPr>
              <a:t>，突出关键纹理信息。</a:t>
            </a:r>
            <a:endParaRPr lang="zh-CN" altLang="en-US" sz="3200" u="none" strike="noStrike" dirty="0">
              <a:solidFill>
                <a:srgbClr val="404040"/>
              </a:solidFill>
              <a:latin typeface="宋体" panose="02010600030101010101" pitchFamily="2" charset="-122"/>
              <a:ea typeface="宋体" panose="02010600030101010101" pitchFamily="2" charset="-122"/>
              <a:cs typeface="思源黑体 1" panose="020B0500000000000000" charset="-122"/>
              <a:sym typeface="思源黑体 1" panose="020B0500000000000000" charset="-122"/>
            </a:endParaRPr>
          </a:p>
          <a:p>
            <a:pPr>
              <a:lnSpc>
                <a:spcPct val="130000"/>
              </a:lnSpc>
            </a:pPr>
            <a:endParaRPr lang="zh-CN" altLang="en-US" sz="3200" dirty="0">
              <a:solidFill>
                <a:srgbClr val="404040"/>
              </a:solidFill>
              <a:latin typeface="宋体" panose="02010600030101010101" pitchFamily="2" charset="-122"/>
              <a:ea typeface="宋体" panose="02010600030101010101" pitchFamily="2" charset="-122"/>
              <a:cs typeface="思源黑体 1" panose="020B0500000000000000" charset="-122"/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3657600" y="4581525"/>
            <a:ext cx="1143000" cy="124777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5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/>
          <p:nvPr/>
        </p:nvGrpSpPr>
        <p:grpSpPr>
          <a:xfrm>
            <a:off x="781288" y="1500016"/>
            <a:ext cx="121539" cy="121539"/>
            <a:chOff x="0" y="0"/>
            <a:chExt cx="162052" cy="162052"/>
          </a:xfrm>
        </p:grpSpPr>
        <p:sp>
          <p:nvSpPr>
            <p:cNvPr id="4" name="Freeform 10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solidFill>
              <a:srgbClr val="003F88">
                <a:alpha val="392"/>
              </a:srgbClr>
            </a:solidFill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1288" y="1500016"/>
            <a:ext cx="121539" cy="121539"/>
            <a:chOff x="0" y="0"/>
            <a:chExt cx="162052" cy="162052"/>
          </a:xfrm>
        </p:grpSpPr>
        <p:sp>
          <p:nvSpPr>
            <p:cNvPr id="5" name="Freeform 12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80000">
                  <a:srgbClr val="FC6804">
                    <a:alpha val="100000"/>
                  </a:srgbClr>
                </a:gs>
              </a:gsLst>
              <a:lin ang="3600000"/>
            </a:gradFill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76325" y="1379855"/>
            <a:ext cx="4314190" cy="507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zh-CN" altLang="en-US" sz="40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多裁剪</a:t>
            </a:r>
            <a:r>
              <a:rPr lang="en-US" sz="40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TTA</a:t>
            </a:r>
            <a:endParaRPr lang="en-US" sz="40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 Bold" panose="02020700000000000000" charset="-122"/>
            </a:endParaRPr>
          </a:p>
        </p:txBody>
      </p:sp>
      <p:pic>
        <p:nvPicPr>
          <p:cNvPr id="16" name="图片 15" descr="malignant_94_04_tta_six_views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67400" y="1485900"/>
            <a:ext cx="6364605" cy="8517890"/>
          </a:xfrm>
          <a:prstGeom prst="rect">
            <a:avLst/>
          </a:prstGeom>
        </p:spPr>
      </p:pic>
      <p:pic>
        <p:nvPicPr>
          <p:cNvPr id="26" name="图片 25" descr="malignant_196_04_tta_six_view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9605" y="1553210"/>
            <a:ext cx="6297930" cy="84289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8905" y="2124710"/>
            <a:ext cx="6017895" cy="493458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800" b="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多裁剪 </a:t>
            </a:r>
            <a:r>
              <a:rPr lang="en-US" altLang="zh-CN" sz="2800" b="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TTA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针对单张超声图像，生成</a:t>
            </a: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多尺度裁剪 + 水平翻转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的多个视图，将模型预测结果取平均输出。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本项目为 ConvNeXt-Tiny 设置 3 种裁剪比例（0.90、0.95、1.00），结合原图与翻转扩充为 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 组推理视角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281305" y="6870065"/>
            <a:ext cx="5790565" cy="2733675"/>
          </a:xfrm>
          <a:prstGeom prst="roundRect">
            <a:avLst/>
          </a:prstGeom>
          <a:solidFill>
            <a:schemeClr val="accent5">
              <a:lumMod val="40000"/>
              <a:lumOff val="60000"/>
              <a:alpha val="17000"/>
            </a:schemeClr>
          </a:solidFill>
          <a:ln cmpd="dbl">
            <a:solidFill>
              <a:schemeClr val="accent1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01600" prst="riblet"/>
            <a:bevelB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实验结果：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AUC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0.8991 </a:t>
            </a:r>
            <a:r>
              <a:rPr lang="zh-CN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0.9054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Sensitivity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0.7381 </a:t>
            </a:r>
            <a:r>
              <a:rPr lang="zh-CN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0.7714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F1-score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0.7434 </a:t>
            </a:r>
            <a:r>
              <a:rPr lang="zh-CN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0.7696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4800600" y="7658100"/>
            <a:ext cx="0" cy="457200"/>
          </a:xfrm>
          <a:prstGeom prst="straightConnector1">
            <a:avLst/>
          </a:prstGeom>
          <a:ln w="44450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5867400" y="8191500"/>
            <a:ext cx="0" cy="457200"/>
          </a:xfrm>
          <a:prstGeom prst="straightConnector1">
            <a:avLst/>
          </a:prstGeom>
          <a:ln w="44450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5562600" y="8724900"/>
            <a:ext cx="0" cy="457200"/>
          </a:xfrm>
          <a:prstGeom prst="straightConnector1">
            <a:avLst/>
          </a:prstGeom>
          <a:ln w="44450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914400" y="4401185"/>
            <a:ext cx="6145530" cy="685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914400" y="2171700"/>
            <a:ext cx="4419600" cy="685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>
            <a:off x="0" y="1088022"/>
            <a:ext cx="18288000" cy="625030"/>
            <a:chOff x="0" y="0"/>
            <a:chExt cx="24384000" cy="833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33374"/>
            </a:xfrm>
            <a:custGeom>
              <a:avLst/>
              <a:gdLst/>
              <a:ahLst/>
              <a:cxnLst/>
              <a:rect l="l" t="t" r="r" b="b"/>
              <a:pathLst>
                <a:path w="24384000" h="833374">
                  <a:moveTo>
                    <a:pt x="0" y="0"/>
                  </a:moveTo>
                  <a:lnTo>
                    <a:pt x="24384000" y="0"/>
                  </a:lnTo>
                  <a:lnTo>
                    <a:pt x="24384000" y="833374"/>
                  </a:lnTo>
                  <a:lnTo>
                    <a:pt x="0" y="833374"/>
                  </a:lnTo>
                  <a:close/>
                </a:path>
              </a:pathLst>
            </a:custGeom>
            <a:solidFill>
              <a:srgbClr val="003F88">
                <a:alpha val="0"/>
              </a:srgbClr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1288" y="1347616"/>
            <a:ext cx="121539" cy="121539"/>
            <a:chOff x="0" y="0"/>
            <a:chExt cx="162052" cy="1620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80000">
                  <a:srgbClr val="FC6804">
                    <a:alpha val="100000"/>
                  </a:srgbClr>
                </a:gs>
              </a:gsLst>
              <a:lin ang="36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3204992" y="3300616"/>
            <a:ext cx="421891" cy="479803"/>
          </a:xfrm>
          <a:custGeom>
            <a:avLst/>
            <a:gdLst/>
            <a:ahLst/>
            <a:cxnLst/>
            <a:rect l="l" t="t" r="r" b="b"/>
            <a:pathLst>
              <a:path w="421891" h="479803">
                <a:moveTo>
                  <a:pt x="0" y="0"/>
                </a:moveTo>
                <a:lnTo>
                  <a:pt x="421891" y="0"/>
                </a:lnTo>
                <a:lnTo>
                  <a:pt x="421891" y="479803"/>
                </a:lnTo>
                <a:lnTo>
                  <a:pt x="0" y="47980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73" r="-173"/>
            </a:stretch>
          </a:blipFill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2725400" y="1790700"/>
            <a:ext cx="4921885" cy="4126865"/>
            <a:chOff x="0" y="0"/>
            <a:chExt cx="5730240" cy="45923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Freeform 20"/>
            <p:cNvSpPr/>
            <p:nvPr/>
          </p:nvSpPr>
          <p:spPr>
            <a:xfrm>
              <a:off x="0" y="0"/>
              <a:ext cx="5730240" cy="4592320"/>
            </a:xfrm>
            <a:custGeom>
              <a:avLst/>
              <a:gdLst/>
              <a:ahLst/>
              <a:cxnLst/>
              <a:rect l="l" t="t" r="r" b="b"/>
              <a:pathLst>
                <a:path w="5730240" h="4592320">
                  <a:moveTo>
                    <a:pt x="0" y="0"/>
                  </a:moveTo>
                  <a:lnTo>
                    <a:pt x="5730240" y="0"/>
                  </a:lnTo>
                  <a:lnTo>
                    <a:pt x="5730240" y="4592320"/>
                  </a:lnTo>
                  <a:lnTo>
                    <a:pt x="0" y="4592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475980" y="1785620"/>
            <a:ext cx="4929505" cy="4133850"/>
            <a:chOff x="0" y="0"/>
            <a:chExt cx="5730240" cy="45923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Freeform 22"/>
            <p:cNvSpPr/>
            <p:nvPr/>
          </p:nvSpPr>
          <p:spPr>
            <a:xfrm>
              <a:off x="0" y="0"/>
              <a:ext cx="5730240" cy="4592320"/>
            </a:xfrm>
            <a:custGeom>
              <a:avLst/>
              <a:gdLst/>
              <a:ahLst/>
              <a:cxnLst/>
              <a:rect l="l" t="t" r="r" b="b"/>
              <a:pathLst>
                <a:path w="5730240" h="4592320">
                  <a:moveTo>
                    <a:pt x="0" y="0"/>
                  </a:moveTo>
                  <a:lnTo>
                    <a:pt x="5730240" y="0"/>
                  </a:lnTo>
                  <a:lnTo>
                    <a:pt x="5730240" y="4592320"/>
                  </a:lnTo>
                  <a:lnTo>
                    <a:pt x="0" y="4592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720955" y="5189855"/>
            <a:ext cx="4925695" cy="4302760"/>
            <a:chOff x="0" y="0"/>
            <a:chExt cx="5659120" cy="4724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Freeform 24"/>
            <p:cNvSpPr/>
            <p:nvPr/>
          </p:nvSpPr>
          <p:spPr>
            <a:xfrm>
              <a:off x="0" y="0"/>
              <a:ext cx="5659120" cy="4724400"/>
            </a:xfrm>
            <a:custGeom>
              <a:avLst/>
              <a:gdLst/>
              <a:ahLst/>
              <a:cxnLst/>
              <a:rect l="l" t="t" r="r" b="b"/>
              <a:pathLst>
                <a:path w="5659120" h="4724400">
                  <a:moveTo>
                    <a:pt x="0" y="0"/>
                  </a:moveTo>
                  <a:lnTo>
                    <a:pt x="5659120" y="0"/>
                  </a:lnTo>
                  <a:lnTo>
                    <a:pt x="5659120" y="4724400"/>
                  </a:lnTo>
                  <a:lnTo>
                    <a:pt x="0" y="472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476615" y="5189855"/>
            <a:ext cx="4925695" cy="4302760"/>
            <a:chOff x="0" y="0"/>
            <a:chExt cx="5659120" cy="4724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Freeform 26"/>
            <p:cNvSpPr/>
            <p:nvPr/>
          </p:nvSpPr>
          <p:spPr>
            <a:xfrm>
              <a:off x="0" y="0"/>
              <a:ext cx="5659120" cy="4724400"/>
            </a:xfrm>
            <a:custGeom>
              <a:avLst/>
              <a:gdLst/>
              <a:ahLst/>
              <a:cxnLst/>
              <a:rect l="l" t="t" r="r" b="b"/>
              <a:pathLst>
                <a:path w="5659120" h="4724400">
                  <a:moveTo>
                    <a:pt x="0" y="0"/>
                  </a:moveTo>
                  <a:lnTo>
                    <a:pt x="5659120" y="0"/>
                  </a:lnTo>
                  <a:lnTo>
                    <a:pt x="5659120" y="4724400"/>
                  </a:lnTo>
                  <a:lnTo>
                    <a:pt x="0" y="472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36320" y="1276350"/>
            <a:ext cx="8903970" cy="507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zh-CN" altLang="en-US" sz="40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由整体聚焦局部</a:t>
            </a:r>
            <a:endParaRPr lang="zh-CN" altLang="en-US" sz="40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35685" y="2476500"/>
            <a:ext cx="6888480" cy="13201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2000"/>
              </a:lnSpc>
            </a:pPr>
            <a:r>
              <a:rPr lang="zh-CN" altLang="en-US" sz="32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分类任务引入</a:t>
            </a:r>
            <a:r>
              <a:rPr lang="en-US" sz="32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分割模型</a:t>
            </a:r>
            <a:endParaRPr lang="en-US" sz="32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  <a:p>
            <a:pPr>
              <a:lnSpc>
                <a:spcPts val="2000"/>
              </a:lnSpc>
            </a:pPr>
            <a:endParaRPr lang="en-US" sz="3200" u="none" strike="noStrik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" panose="02020400000000000000" charset="-122"/>
            </a:endParaRPr>
          </a:p>
          <a:p>
            <a:pPr algn="l">
              <a:lnSpc>
                <a:spcPct val="130000"/>
              </a:lnSpc>
            </a:pPr>
            <a:r>
              <a:rPr lang="en-US" sz="3200" u="none" strike="noStrik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选用</a:t>
            </a:r>
            <a:r>
              <a:rPr lang="en-US" sz="3200" b="1" u="none" strike="noStrike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UNet-ResNet18</a:t>
            </a:r>
            <a:r>
              <a:rPr lang="en-US" sz="3200" u="none" strike="noStrik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作为分割分支</a:t>
            </a:r>
            <a:endParaRPr lang="en-US" sz="3200" u="none" strike="noStrik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" panose="02020400000000000000" charset="-122"/>
            </a:endParaRPr>
          </a:p>
          <a:p>
            <a:pPr indent="0" algn="l">
              <a:lnSpc>
                <a:spcPct val="150000"/>
              </a:lnSpc>
              <a:buFont typeface="+mj-lt"/>
              <a:buNone/>
            </a:pPr>
            <a:endParaRPr lang="en-US" sz="3200" u="none" strike="noStrik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" panose="0202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4400" y="4478020"/>
            <a:ext cx="6626225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3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ROI </a:t>
            </a:r>
            <a:r>
              <a:rPr lang="zh-CN" altLang="en-US" sz="33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最大连通域（</a:t>
            </a:r>
            <a:r>
              <a:rPr lang="en-US" altLang="zh-CN" sz="33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LCC</a:t>
            </a:r>
            <a:r>
              <a:rPr lang="zh-CN" altLang="en-US" sz="33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）后处理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66800" y="5448300"/>
            <a:ext cx="56286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</a:t>
            </a:r>
            <a:r>
              <a:rPr 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二值化 + 最大连通域算法</a:t>
            </a:r>
            <a:endParaRPr 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996950" y="6249670"/>
            <a:ext cx="5722620" cy="2094230"/>
          </a:xfrm>
          <a:prstGeom prst="roundRect">
            <a:avLst/>
          </a:prstGeom>
          <a:solidFill>
            <a:schemeClr val="accent5">
              <a:lumMod val="40000"/>
              <a:lumOff val="60000"/>
              <a:alpha val="17000"/>
            </a:schemeClr>
          </a:solidFill>
          <a:ln cmpd="dbl">
            <a:solidFill>
              <a:schemeClr val="accent1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01600" prst="riblet"/>
            <a:bevelB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 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实验结果：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" panose="02020400000000000000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  AUC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：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0.9196 </a:t>
            </a: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 0.9208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" panose="02020400000000000000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  Sensitivity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：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0.8429 </a:t>
            </a: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" panose="02020400000000000000" charset="-122"/>
              </a:rPr>
              <a:t> 0.8524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" panose="02020400000000000000" charset="-122"/>
            </a:endParaRPr>
          </a:p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5029200" y="7048500"/>
            <a:ext cx="0" cy="457200"/>
          </a:xfrm>
          <a:prstGeom prst="straightConnector1">
            <a:avLst/>
          </a:prstGeom>
          <a:ln w="44450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5867400" y="7581900"/>
            <a:ext cx="0" cy="457200"/>
          </a:xfrm>
          <a:prstGeom prst="straightConnector1">
            <a:avLst/>
          </a:prstGeom>
          <a:ln w="44450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45222"/>
            <a:ext cx="18288000" cy="625030"/>
            <a:chOff x="0" y="0"/>
            <a:chExt cx="24384000" cy="833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33374"/>
            </a:xfrm>
            <a:custGeom>
              <a:avLst/>
              <a:gdLst/>
              <a:ahLst/>
              <a:cxnLst/>
              <a:rect l="l" t="t" r="r" b="b"/>
              <a:pathLst>
                <a:path w="24384000" h="833374">
                  <a:moveTo>
                    <a:pt x="0" y="0"/>
                  </a:moveTo>
                  <a:lnTo>
                    <a:pt x="24384000" y="0"/>
                  </a:lnTo>
                  <a:lnTo>
                    <a:pt x="24384000" y="833374"/>
                  </a:lnTo>
                  <a:lnTo>
                    <a:pt x="0" y="833374"/>
                  </a:lnTo>
                  <a:close/>
                </a:path>
              </a:pathLst>
            </a:custGeom>
            <a:solidFill>
              <a:srgbClr val="003F88">
                <a:alpha val="0"/>
              </a:srgbClr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1288" y="1500016"/>
            <a:ext cx="121539" cy="121539"/>
            <a:chOff x="0" y="0"/>
            <a:chExt cx="162052" cy="1620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80000">
                  <a:srgbClr val="FC6804">
                    <a:alpha val="100000"/>
                  </a:srgbClr>
                </a:gs>
              </a:gsLst>
              <a:lin ang="36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3204992" y="2843416"/>
            <a:ext cx="421891" cy="479803"/>
          </a:xfrm>
          <a:custGeom>
            <a:avLst/>
            <a:gdLst/>
            <a:ahLst/>
            <a:cxnLst/>
            <a:rect l="l" t="t" r="r" b="b"/>
            <a:pathLst>
              <a:path w="421891" h="479803">
                <a:moveTo>
                  <a:pt x="0" y="0"/>
                </a:moveTo>
                <a:lnTo>
                  <a:pt x="421891" y="0"/>
                </a:lnTo>
                <a:lnTo>
                  <a:pt x="421891" y="479803"/>
                </a:lnTo>
                <a:lnTo>
                  <a:pt x="0" y="479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3" r="-173"/>
            </a:stretch>
          </a:blipFill>
        </p:spPr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3563600" y="1617160"/>
            <a:ext cx="4494813" cy="3542849"/>
            <a:chOff x="0" y="0"/>
            <a:chExt cx="5730240" cy="45923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730240" cy="4592320"/>
            </a:xfrm>
            <a:custGeom>
              <a:avLst/>
              <a:gdLst/>
              <a:ahLst/>
              <a:cxnLst/>
              <a:rect l="l" t="t" r="r" b="b"/>
              <a:pathLst>
                <a:path w="5730240" h="4592320">
                  <a:moveTo>
                    <a:pt x="0" y="0"/>
                  </a:moveTo>
                  <a:lnTo>
                    <a:pt x="5730240" y="0"/>
                  </a:lnTo>
                  <a:lnTo>
                    <a:pt x="5730240" y="4592320"/>
                  </a:lnTo>
                  <a:lnTo>
                    <a:pt x="0" y="4592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017283" y="1617160"/>
            <a:ext cx="4244340" cy="3543300"/>
            <a:chOff x="0" y="0"/>
            <a:chExt cx="5659120" cy="4724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659120" cy="4724400"/>
            </a:xfrm>
            <a:custGeom>
              <a:avLst/>
              <a:gdLst/>
              <a:ahLst/>
              <a:cxnLst/>
              <a:rect l="l" t="t" r="r" b="b"/>
              <a:pathLst>
                <a:path w="5659120" h="4724400">
                  <a:moveTo>
                    <a:pt x="0" y="0"/>
                  </a:moveTo>
                  <a:lnTo>
                    <a:pt x="5659120" y="0"/>
                  </a:lnTo>
                  <a:lnTo>
                    <a:pt x="5659120" y="4724400"/>
                  </a:lnTo>
                  <a:lnTo>
                    <a:pt x="0" y="472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36320" y="1428750"/>
            <a:ext cx="8358505" cy="507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altLang="zh-CN" sz="40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ROI </a:t>
            </a:r>
            <a:r>
              <a:rPr lang="zh-CN" altLang="en-US" sz="40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质量门控</a:t>
            </a:r>
            <a:endParaRPr lang="zh-CN" altLang="en-US" sz="40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76250" y="2247900"/>
            <a:ext cx="8238490" cy="1600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常规 ROI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融合依赖稳定分割结果，外部测试时 mask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易出现尺寸异常、定位偏移，引入不稳定噪声。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40000"/>
              </a:lnSpc>
            </a:pP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为此设计</a:t>
            </a: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ROI 面积</a:t>
            </a:r>
            <a:r>
              <a:rPr lang="zh-CN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质量门控</a:t>
            </a: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机制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ROI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面积合规时，启用 ROI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局部融合；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ROI 面积异常时，自动退回完整图全局预测，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规避低质量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ROI 带来的误判干扰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zh-CN" altLang="en-US" sz="2800" u="none" strike="noStrik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" panose="02020400000000000000" charset="-122"/>
            </a:endParaRPr>
          </a:p>
          <a:p>
            <a:pPr algn="l">
              <a:lnSpc>
                <a:spcPct val="150000"/>
              </a:lnSpc>
            </a:pPr>
            <a:endParaRPr lang="zh-CN" altLang="en-US" sz="2800" u="none" strike="noStrik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" panose="02020400000000000000" charset="-122"/>
            </a:endParaRPr>
          </a:p>
          <a:p>
            <a:pPr algn="l">
              <a:lnSpc>
                <a:spcPct val="150000"/>
              </a:lnSpc>
            </a:pPr>
            <a:endParaRPr lang="zh-CN" altLang="en-US" sz="2800" u="none" strike="noStrik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" panose="02020400000000000000" charset="-122"/>
            </a:endParaRPr>
          </a:p>
        </p:txBody>
      </p:sp>
      <p:graphicFrame>
        <p:nvGraphicFramePr>
          <p:cNvPr id="30" name="图表 29" descr="7b0a202020202263686172745265734964223a20223530303731323933220a7d0a"/>
          <p:cNvGraphicFramePr/>
          <p:nvPr/>
        </p:nvGraphicFramePr>
        <p:xfrm>
          <a:off x="8759825" y="5113655"/>
          <a:ext cx="9298305" cy="50844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圆角矩形 3"/>
          <p:cNvSpPr/>
          <p:nvPr/>
        </p:nvSpPr>
        <p:spPr>
          <a:xfrm>
            <a:off x="666750" y="6567170"/>
            <a:ext cx="7470775" cy="2970530"/>
          </a:xfrm>
          <a:prstGeom prst="roundRect">
            <a:avLst/>
          </a:prstGeom>
          <a:solidFill>
            <a:schemeClr val="accent5">
              <a:lumMod val="40000"/>
              <a:lumOff val="60000"/>
              <a:alpha val="17000"/>
            </a:schemeClr>
          </a:solidFill>
          <a:ln cmpd="dbl">
            <a:solidFill>
              <a:schemeClr val="accent1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01600" prst="riblet"/>
            <a:bevelB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实验提升</a:t>
            </a:r>
            <a:r>
              <a:rPr lang="zh-CN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AUC：</a:t>
            </a: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0.9208 → 0.9256</a:t>
            </a:r>
            <a:endParaRPr lang="zh-CN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敏感度、特异性、精确率、F1 值全部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显著</a:t>
            </a: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上涨</a:t>
            </a:r>
            <a:endParaRPr lang="zh-CN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既保留 ROI 病灶聚焦优势，又大幅降低错误误诊率</a:t>
            </a:r>
            <a:endParaRPr lang="zh-CN" altLang="en-US" sz="2400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zh-CN" altLang="en-US" sz="2400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5088" y="1500016"/>
            <a:ext cx="121539" cy="121539"/>
            <a:chOff x="0" y="0"/>
            <a:chExt cx="162052" cy="16205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80000">
                  <a:srgbClr val="FC6804">
                    <a:alpha val="100000"/>
                  </a:srgbClr>
                </a:gs>
              </a:gsLst>
              <a:lin ang="36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036320" y="1352550"/>
            <a:ext cx="8978265" cy="507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zh-CN" altLang="en-US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整体局部一起看</a:t>
            </a:r>
            <a:r>
              <a:rPr lang="en-US" altLang="zh-CN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——</a:t>
            </a:r>
            <a:r>
              <a:rPr lang="en-US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Logit</a:t>
            </a:r>
            <a:r>
              <a:rPr lang="zh-CN" altLang="en-US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空间</a:t>
            </a:r>
            <a:r>
              <a:rPr lang="en-US" altLang="zh-CN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 OOF </a:t>
            </a:r>
            <a:r>
              <a:rPr lang="zh-CN" altLang="en-US" sz="36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堆叠</a:t>
            </a:r>
            <a:endParaRPr lang="zh-CN" altLang="en-US" sz="36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1"/>
            </p:custDataLst>
          </p:nvPr>
        </p:nvGraphicFramePr>
        <p:xfrm>
          <a:off x="7362825" y="5296535"/>
          <a:ext cx="9330055" cy="3418840"/>
        </p:xfrm>
        <a:graphic>
          <a:graphicData uri="http://schemas.openxmlformats.org/drawingml/2006/table">
            <a:tbl>
              <a:tblPr firstRow="1" bandRow="1">
                <a:tableStyleId>{F2122EAA-CB82-423A-8F7C-14A440DD89BF}</a:tableStyleId>
              </a:tblPr>
              <a:tblGrid>
                <a:gridCol w="5465445"/>
                <a:gridCol w="3864610"/>
              </a:tblGrid>
              <a:tr h="72644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3200" dirty="0"/>
                        <a:t>配置</a:t>
                      </a:r>
                      <a:endParaRPr lang="zh-CN" altLang="en-US" sz="3200" dirty="0"/>
                    </a:p>
                  </a:txBody>
                  <a:tcPr marL="25717" marR="25717" marT="25717" marB="25717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dirty="0"/>
                        <a:t>AUC</a:t>
                      </a:r>
                      <a:endParaRPr lang="en-US" altLang="zh-CN" sz="3200" dirty="0"/>
                    </a:p>
                  </a:txBody>
                  <a:tcPr marL="25717" marR="25717" marT="25717" marB="25717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09625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dirty="0"/>
                        <a:t>Logit Stacker + </a:t>
                      </a:r>
                      <a:r>
                        <a:rPr lang="zh-CN" altLang="en-US" sz="3200" dirty="0"/>
                        <a:t>原始</a:t>
                      </a:r>
                      <a:r>
                        <a:rPr lang="en-US" altLang="zh-CN" sz="3200" dirty="0"/>
                        <a:t>mask</a:t>
                      </a:r>
                      <a:endParaRPr lang="en-US" altLang="zh-CN" sz="3200" dirty="0"/>
                    </a:p>
                  </a:txBody>
                  <a:tcPr marL="25717" marR="25717" marT="25717" marB="25717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dirty="0"/>
                        <a:t>0.9186</a:t>
                      </a:r>
                      <a:endParaRPr lang="en-US" altLang="zh-CN" sz="3200" dirty="0"/>
                    </a:p>
                  </a:txBody>
                  <a:tcPr marL="25717" marR="25717" marT="25717" marB="25717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08990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dirty="0"/>
                        <a:t>Logit Stacker + ROI LCC</a:t>
                      </a:r>
                      <a:endParaRPr lang="en-US" altLang="zh-CN" sz="3200" dirty="0"/>
                    </a:p>
                  </a:txBody>
                  <a:tcPr marL="25717" marR="25717" marT="25717" marB="25717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dirty="0"/>
                        <a:t>0.9208</a:t>
                      </a:r>
                      <a:endParaRPr lang="en-US" altLang="zh-CN" sz="3200" dirty="0"/>
                    </a:p>
                  </a:txBody>
                  <a:tcPr marL="25717" marR="25717" marT="25717" marB="25717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1073785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dirty="0"/>
                        <a:t>Logit Stacker + </a:t>
                      </a:r>
                      <a:endParaRPr lang="en-US" altLang="zh-CN" sz="3200" dirty="0"/>
                    </a:p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dirty="0"/>
                        <a:t>ROI LCC + </a:t>
                      </a:r>
                      <a:r>
                        <a:rPr lang="zh-CN" altLang="en-US" sz="3200" dirty="0"/>
                        <a:t>质量门控 </a:t>
                      </a:r>
                      <a:endParaRPr lang="zh-CN" altLang="en-US" sz="3200" dirty="0"/>
                    </a:p>
                  </a:txBody>
                  <a:tcPr marL="25717" marR="25717" marT="25717" marB="25717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dirty="0"/>
                        <a:t>0.9256</a:t>
                      </a:r>
                      <a:endParaRPr lang="en-US" altLang="zh-CN" sz="3200" dirty="0"/>
                    </a:p>
                  </a:txBody>
                  <a:tcPr marL="25717" marR="25717" marT="25717" marB="25717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" name="流程图: 过程 1"/>
          <p:cNvSpPr/>
          <p:nvPr/>
        </p:nvSpPr>
        <p:spPr>
          <a:xfrm>
            <a:off x="1694180" y="2476500"/>
            <a:ext cx="4401820" cy="1292860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完整图分类概率 </a:t>
            </a:r>
            <a:r>
              <a:rPr lang="en-US" altLang="zh-CN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p_full</a:t>
            </a:r>
            <a:endParaRPr lang="en-US" altLang="zh-CN" sz="2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ROI </a:t>
            </a:r>
            <a:r>
              <a: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分类概率 </a:t>
            </a:r>
            <a:r>
              <a:rPr lang="en-US" altLang="zh-CN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p_roi </a:t>
            </a:r>
            <a:endParaRPr lang="en-US" altLang="zh-CN" sz="2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1694180" y="4476750"/>
            <a:ext cx="4401820" cy="990600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转换为 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logit(p) 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流程图: 过程 5"/>
          <p:cNvSpPr/>
          <p:nvPr/>
        </p:nvSpPr>
        <p:spPr>
          <a:xfrm>
            <a:off x="1694180" y="6169660"/>
            <a:ext cx="4401820" cy="990600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 </a:t>
            </a:r>
            <a:r>
              <a:rPr lang="en-US" altLang="zh-CN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Logistic Regression </a:t>
            </a:r>
            <a:endParaRPr lang="en-US" altLang="zh-CN" sz="2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流程图: 过程 8"/>
          <p:cNvSpPr/>
          <p:nvPr/>
        </p:nvSpPr>
        <p:spPr>
          <a:xfrm>
            <a:off x="1691640" y="7873365"/>
            <a:ext cx="4425950" cy="990600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输出最终恶性概率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标注: 弯曲线形(无边框) 9"/>
          <p:cNvSpPr/>
          <p:nvPr/>
        </p:nvSpPr>
        <p:spPr>
          <a:xfrm>
            <a:off x="8660765" y="2705100"/>
            <a:ext cx="6655435" cy="1554480"/>
          </a:xfrm>
          <a:prstGeom prst="callout2">
            <a:avLst>
              <a:gd name="adj1" fmla="val 48658"/>
              <a:gd name="adj2" fmla="val -285"/>
              <a:gd name="adj3" fmla="val 49877"/>
              <a:gd name="adj4" fmla="val -27774"/>
              <a:gd name="adj5" fmla="val 114910"/>
              <a:gd name="adj6" fmla="val -46808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3492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30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logit(p) = log(p / (1 - p))</a:t>
            </a:r>
            <a:endParaRPr lang="en-US" altLang="zh-CN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箭头连接符 12"/>
          <p:cNvCxnSpPr>
            <a:stCxn id="2" idx="2"/>
            <a:endCxn id="5" idx="0"/>
          </p:cNvCxnSpPr>
          <p:nvPr/>
        </p:nvCxnSpPr>
        <p:spPr>
          <a:xfrm>
            <a:off x="3895090" y="3769360"/>
            <a:ext cx="0" cy="707390"/>
          </a:xfrm>
          <a:prstGeom prst="straightConnector1">
            <a:avLst/>
          </a:prstGeom>
          <a:ln w="508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endCxn id="6" idx="0"/>
          </p:cNvCxnSpPr>
          <p:nvPr/>
        </p:nvCxnSpPr>
        <p:spPr>
          <a:xfrm>
            <a:off x="3886108" y="5524342"/>
            <a:ext cx="8890" cy="645160"/>
          </a:xfrm>
          <a:prstGeom prst="straightConnector1">
            <a:avLst/>
          </a:prstGeom>
          <a:ln w="508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6" idx="2"/>
            <a:endCxn id="9" idx="0"/>
          </p:cNvCxnSpPr>
          <p:nvPr/>
        </p:nvCxnSpPr>
        <p:spPr>
          <a:xfrm>
            <a:off x="3895270" y="7160488"/>
            <a:ext cx="9525" cy="713105"/>
          </a:xfrm>
          <a:prstGeom prst="straightConnector1">
            <a:avLst/>
          </a:prstGeom>
          <a:ln w="508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81288" y="1500016"/>
            <a:ext cx="121539" cy="121539"/>
            <a:chOff x="0" y="0"/>
            <a:chExt cx="162052" cy="16205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80000">
                  <a:srgbClr val="FC6804">
                    <a:alpha val="100000"/>
                  </a:srgbClr>
                </a:gs>
              </a:gsLst>
              <a:lin ang="36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036320" y="1352550"/>
            <a:ext cx="8414385" cy="507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altLang="zh-CN" sz="44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 </a:t>
            </a:r>
            <a:r>
              <a:rPr lang="zh-CN" altLang="en-US" sz="44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基础</a:t>
            </a:r>
            <a:r>
              <a:rPr lang="en-US" altLang="zh-CN" sz="44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 </a:t>
            </a:r>
            <a:r>
              <a:rPr lang="zh-CN" altLang="en-US" sz="44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消融实验</a:t>
            </a:r>
            <a:endParaRPr lang="zh-CN" altLang="en-US" sz="44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3" name="TextBox 22"/>
          <p:cNvSpPr txBox="1"/>
          <p:nvPr/>
        </p:nvSpPr>
        <p:spPr>
          <a:xfrm>
            <a:off x="2362200" y="9486900"/>
            <a:ext cx="13106400" cy="62103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360"/>
              </a:lnSpc>
            </a:pPr>
            <a:r>
              <a:rPr lang="zh-CN" altLang="en-US" sz="4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消融实验说明：各模块之间具有较好的</a:t>
            </a: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协同</a:t>
            </a:r>
            <a:r>
              <a:rPr lang="zh-CN" altLang="en-US" sz="4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效果</a:t>
            </a:r>
            <a:endParaRPr lang="zh-CN" altLang="en-US" sz="40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graphicFrame>
        <p:nvGraphicFramePr>
          <p:cNvPr id="26" name="表格 25"/>
          <p:cNvGraphicFramePr/>
          <p:nvPr>
            <p:custDataLst>
              <p:tags r:id="rId1"/>
            </p:custDataLst>
          </p:nvPr>
        </p:nvGraphicFramePr>
        <p:xfrm>
          <a:off x="781050" y="2145030"/>
          <a:ext cx="16221710" cy="6817995"/>
        </p:xfrm>
        <a:graphic>
          <a:graphicData uri="http://schemas.openxmlformats.org/drawingml/2006/table">
            <a:tbl>
              <a:tblPr firstRow="1" bandRow="1">
                <a:tableStyleId>{1011FE4C-1664-4287-B1A2-6FBCD6A27929}</a:tableStyleId>
              </a:tblPr>
              <a:tblGrid>
                <a:gridCol w="7435215"/>
                <a:gridCol w="1782445"/>
                <a:gridCol w="1751330"/>
                <a:gridCol w="1750060"/>
                <a:gridCol w="1751330"/>
                <a:gridCol w="1751330"/>
              </a:tblGrid>
              <a:tr h="757555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AUC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Acc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Sens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Spec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F1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757555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基础双模型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0.9026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0.8454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0.7714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0.8810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0.7642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757555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双模型 </a:t>
                      </a: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CLAHE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0.9131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0.8547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0.7143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0.9222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0.7614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757555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双模型 </a:t>
                      </a: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多裁剪</a:t>
                      </a: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TTA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0.9046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0.8516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0.8048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0.8741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0.7788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757555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双模型 </a:t>
                      </a: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ROI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0.9123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0.8114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0.8857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0.7757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0.7530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757555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双模型 </a:t>
                      </a: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CLAHE + </a:t>
                      </a: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多裁剪</a:t>
                      </a: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TTA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0.9151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0.8640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0.7524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0.9176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0.7822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757555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双模型 </a:t>
                      </a: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CLAHE + ROI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0.9240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0.8377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0.8381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0.8375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0.7702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757555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双模型 </a:t>
                      </a: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多裁剪</a:t>
                      </a: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TTA + ROI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0.9153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0.7960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0.9095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0.7414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0.7432</a:t>
                      </a:r>
                      <a:endPara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757555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双模型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CLAHE + </a:t>
                      </a:r>
                      <a:r>
                        <a:rPr lang="zh-CN" altLang="en-US" sz="2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多裁剪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TTA + ROI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0.9256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0.8454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0.8714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0.8330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0.7854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717" marR="25717" marT="25717" marB="25717" anchor="ctr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81288" y="1347616"/>
            <a:ext cx="121539" cy="121539"/>
            <a:chOff x="0" y="0"/>
            <a:chExt cx="162052" cy="16205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80000">
                  <a:srgbClr val="FC6804">
                    <a:alpha val="100000"/>
                  </a:srgbClr>
                </a:gs>
              </a:gsLst>
              <a:lin ang="3600000"/>
            </a:gradFill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036320" y="1200150"/>
            <a:ext cx="8414385" cy="4853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altLang="zh-CN" sz="33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ROI </a:t>
            </a:r>
            <a:r>
              <a:rPr lang="zh-CN" altLang="en-US" sz="33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消融实验</a:t>
            </a:r>
            <a:endParaRPr lang="zh-CN" altLang="en-US" sz="33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 Bold" panose="02020700000000000000" charset="-122"/>
            </a:endParaRPr>
          </a:p>
        </p:txBody>
      </p:sp>
      <p:graphicFrame>
        <p:nvGraphicFramePr>
          <p:cNvPr id="16" name="表格 15"/>
          <p:cNvGraphicFramePr/>
          <p:nvPr>
            <p:custDataLst>
              <p:tags r:id="rId1"/>
            </p:custDataLst>
          </p:nvPr>
        </p:nvGraphicFramePr>
        <p:xfrm>
          <a:off x="375285" y="1714500"/>
          <a:ext cx="17463135" cy="7082320"/>
        </p:xfrm>
        <a:graphic>
          <a:graphicData uri="http://schemas.openxmlformats.org/drawingml/2006/table">
            <a:tbl>
              <a:tblPr firstRow="1" bandRow="1">
                <a:tableStyleId>{D139C978-39EC-44C2-877F-F149D3CC6461}</a:tableStyleId>
              </a:tblPr>
              <a:tblGrid>
                <a:gridCol w="3371850"/>
                <a:gridCol w="889635"/>
                <a:gridCol w="909140"/>
                <a:gridCol w="1464490"/>
                <a:gridCol w="1164410"/>
                <a:gridCol w="1334770"/>
                <a:gridCol w="1250950"/>
                <a:gridCol w="777889"/>
                <a:gridCol w="1260000"/>
                <a:gridCol w="1260000"/>
                <a:gridCol w="1260000"/>
                <a:gridCol w="1260000"/>
                <a:gridCol w="1260000"/>
              </a:tblGrid>
              <a:tr h="78232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dirty="0"/>
                        <a:t>配置</a:t>
                      </a:r>
                      <a:endParaRPr lang="zh-CN" altLang="en-US" sz="2800" dirty="0"/>
                    </a:p>
                  </a:txBody>
                  <a:tcPr marL="25717" marR="25717" marT="25717" marB="25717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2400" dirty="0"/>
                        <a:t>Full</a:t>
                      </a:r>
                      <a:r>
                        <a:rPr lang="zh-CN" altLang="en-US" sz="2400" dirty="0"/>
                        <a:t>图输入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2400" dirty="0"/>
                        <a:t>ROI</a:t>
                      </a:r>
                      <a:r>
                        <a:rPr lang="zh-CN" altLang="en-US" sz="2400" dirty="0"/>
                        <a:t>图输入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原始</a:t>
                      </a:r>
                      <a:r>
                        <a:rPr lang="en-US" altLang="zh-CN" sz="2400" dirty="0"/>
                        <a:t>mask</a:t>
                      </a:r>
                      <a:r>
                        <a:rPr lang="zh-CN" altLang="en-US" sz="2400" dirty="0"/>
                        <a:t>裁剪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2400" dirty="0"/>
                        <a:t>LCC</a:t>
                      </a:r>
                      <a:r>
                        <a:rPr lang="zh-CN" altLang="en-US" sz="2400" dirty="0"/>
                        <a:t>裁剪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2400" dirty="0"/>
                        <a:t>Full/ROI</a:t>
                      </a:r>
                      <a:r>
                        <a:rPr lang="zh-CN" altLang="en-US" sz="2400" dirty="0"/>
                        <a:t>简单平均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2400" dirty="0"/>
                        <a:t>Logit Stacker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质量门控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AUC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Acc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Sens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Spec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F1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400" dirty="0"/>
                        <a:t>基础配置：双模型 </a:t>
                      </a:r>
                      <a:r>
                        <a:rPr lang="en-US" altLang="zh-CN" sz="2400" dirty="0"/>
                        <a:t>+ CLAHE + </a:t>
                      </a:r>
                      <a:r>
                        <a:rPr lang="zh-CN" altLang="en-US" sz="2400" dirty="0"/>
                        <a:t>多裁剪</a:t>
                      </a:r>
                      <a:r>
                        <a:rPr lang="en-US" altLang="zh-CN" sz="2400" dirty="0"/>
                        <a:t>TTA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0.9151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0.8640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0.7524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0.9176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0.7822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400" dirty="0"/>
                        <a:t>仅</a:t>
                      </a:r>
                      <a:r>
                        <a:rPr lang="en-US" altLang="zh-CN" sz="2400" dirty="0"/>
                        <a:t>ROI</a:t>
                      </a:r>
                      <a:r>
                        <a:rPr lang="zh-CN" altLang="en-US" sz="2400" dirty="0"/>
                        <a:t>分支</a:t>
                      </a:r>
                      <a:r>
                        <a:rPr lang="en-US" altLang="zh-CN" sz="2400" dirty="0"/>
                        <a:t> + </a:t>
                      </a:r>
                      <a:endParaRPr lang="en-US" altLang="zh-CN" sz="2400" dirty="0"/>
                    </a:p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400" dirty="0"/>
                        <a:t>原始</a:t>
                      </a:r>
                      <a:r>
                        <a:rPr lang="en-US" altLang="zh-CN" sz="2400" dirty="0"/>
                        <a:t>mask</a:t>
                      </a:r>
                      <a:r>
                        <a:rPr lang="zh-CN" altLang="en-US" sz="2400" dirty="0"/>
                        <a:t>裁剪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0.9176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0.8717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0.7952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0.9085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0.8010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400" dirty="0"/>
                        <a:t>仅</a:t>
                      </a:r>
                      <a:r>
                        <a:rPr lang="en-US" altLang="zh-CN" sz="2400" dirty="0"/>
                        <a:t>ROI</a:t>
                      </a:r>
                      <a:r>
                        <a:rPr lang="zh-CN" altLang="en-US" sz="2400" dirty="0"/>
                        <a:t>分支</a:t>
                      </a:r>
                      <a:r>
                        <a:rPr lang="en-US" altLang="zh-CN" sz="2400" dirty="0"/>
                        <a:t> + LCC</a:t>
                      </a:r>
                      <a:r>
                        <a:rPr lang="zh-CN" altLang="en-US" sz="2400" dirty="0"/>
                        <a:t>裁剪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0.9188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0.8439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0.7905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0.8696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0.7667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Full / ROI</a:t>
                      </a:r>
                      <a:r>
                        <a:rPr lang="zh-CN" altLang="en-US" sz="2400" dirty="0"/>
                        <a:t>简单平均</a:t>
                      </a:r>
                      <a:endParaRPr lang="zh-CN" altLang="en-US" sz="2400" dirty="0"/>
                    </a:p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 + ROI LCC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0.9205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0.8671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0.7762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0.9108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0.7913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Logit Stacker + </a:t>
                      </a:r>
                      <a:r>
                        <a:rPr lang="zh-CN" altLang="en-US" sz="2400" dirty="0"/>
                        <a:t>原始</a:t>
                      </a:r>
                      <a:r>
                        <a:rPr lang="en-US" altLang="zh-CN" sz="2400" dirty="0"/>
                        <a:t>mask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0.9186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0.8161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0.8810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0.7849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0.7566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Logit Stacker + ROI LCC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0.9208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0.8176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0.9000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0.7780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0.7621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Logit Stacker + </a:t>
                      </a:r>
                      <a:endParaRPr lang="en-US" altLang="zh-CN" sz="2400" dirty="0"/>
                    </a:p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ROI LCC + </a:t>
                      </a:r>
                      <a:r>
                        <a:rPr lang="zh-CN" altLang="en-US" sz="2400" dirty="0"/>
                        <a:t>质量门控 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400" dirty="0"/>
                        <a:t>✅</a:t>
                      </a:r>
                      <a:endParaRPr lang="zh-CN" altLang="en-US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0.9256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0.8454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0.8714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0.8330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dirty="0"/>
                        <a:t>0.7854</a:t>
                      </a:r>
                      <a:endParaRPr lang="en-US" altLang="zh-CN" sz="2400" dirty="0"/>
                    </a:p>
                  </a:txBody>
                  <a:tcPr marL="25717" marR="25717" marT="25717" marB="25717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" name="TextBox 22"/>
          <p:cNvSpPr txBox="1"/>
          <p:nvPr/>
        </p:nvSpPr>
        <p:spPr>
          <a:xfrm>
            <a:off x="770890" y="9258300"/>
            <a:ext cx="16697960" cy="91757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360"/>
              </a:lnSpc>
            </a:pPr>
            <a: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ROI</a:t>
            </a: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消融实验进一步验证分割引导 、</a:t>
            </a:r>
            <a: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LCX</a:t>
            </a: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后处理、</a:t>
            </a:r>
            <a: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LogitStacker</a:t>
            </a: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和质量门控的作用</a:t>
            </a:r>
            <a:endParaRPr lang="en-US" sz="3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 Bold" panose="0202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23fb40fd0bb906a27f74dd127ae2e8a(1)"/>
          <p:cNvPicPr/>
          <p:nvPr/>
        </p:nvPicPr>
        <p:blipFill>
          <a:blip r:embed="rId1"/>
          <a:stretch>
            <a:fillRect/>
          </a:stretch>
        </p:blipFill>
        <p:spPr>
          <a:xfrm>
            <a:off x="-487045" y="1950720"/>
            <a:ext cx="5489575" cy="8297545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0" y="1164222"/>
            <a:ext cx="18288000" cy="625030"/>
            <a:chOff x="0" y="0"/>
            <a:chExt cx="24384000" cy="833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33374"/>
            </a:xfrm>
            <a:custGeom>
              <a:avLst/>
              <a:gdLst/>
              <a:ahLst/>
              <a:cxnLst/>
              <a:rect l="l" t="t" r="r" b="b"/>
              <a:pathLst>
                <a:path w="24384000" h="833374">
                  <a:moveTo>
                    <a:pt x="0" y="0"/>
                  </a:moveTo>
                  <a:lnTo>
                    <a:pt x="24384000" y="0"/>
                  </a:lnTo>
                  <a:lnTo>
                    <a:pt x="24384000" y="833374"/>
                  </a:lnTo>
                  <a:lnTo>
                    <a:pt x="0" y="833374"/>
                  </a:lnTo>
                  <a:close/>
                </a:path>
              </a:pathLst>
            </a:custGeom>
            <a:solidFill>
              <a:srgbClr val="003F88">
                <a:alpha val="0"/>
              </a:srgbClr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39353" y="1423816"/>
            <a:ext cx="121539" cy="121539"/>
            <a:chOff x="0" y="0"/>
            <a:chExt cx="162052" cy="1620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80000">
                  <a:srgbClr val="FC6804">
                    <a:alpha val="100000"/>
                  </a:srgbClr>
                </a:gs>
              </a:gsLst>
              <a:lin ang="36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20" name="Object 20"/>
          <p:cNvGraphicFramePr/>
          <p:nvPr/>
        </p:nvGraphicFramePr>
        <p:xfrm>
          <a:off x="5181289" y="3238636"/>
          <a:ext cx="8082915" cy="991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Worksheet" r:id="rId2" imgW="9486900" imgH="1263650" progId="Excel.Sheet.12">
                  <p:embed/>
                </p:oleObj>
              </mc:Choice>
              <mc:Fallback>
                <p:oleObj name="Worksheet" r:id="rId2" imgW="9486900" imgH="1263650" progId="Excel.Sheet.12">
                  <p:embed/>
                  <p:pic>
                    <p:nvPicPr>
                      <p:cNvPr id="0" name="图片 2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81289" y="3238636"/>
                        <a:ext cx="8082915" cy="991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21"/>
          <p:cNvSpPr txBox="1"/>
          <p:nvPr/>
        </p:nvSpPr>
        <p:spPr>
          <a:xfrm>
            <a:off x="1302385" y="1296035"/>
            <a:ext cx="4897120" cy="507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40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技术指标及测试结果</a:t>
            </a:r>
            <a:endParaRPr lang="en-US" sz="40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95824" y="2552976"/>
            <a:ext cx="118529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在BUSI外部测试集（647例样本：良性437例，恶性210例）上的最终性能：</a:t>
            </a:r>
            <a:endParaRPr lang="en-US" sz="27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4886325"/>
            <a:ext cx="7647940" cy="409384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rcRect r="52141"/>
          <a:stretch>
            <a:fillRect/>
          </a:stretch>
        </p:blipFill>
        <p:spPr>
          <a:xfrm>
            <a:off x="11057255" y="4533900"/>
            <a:ext cx="5291455" cy="55562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rcRect l="56297" t="19925" r="5919" b="22431"/>
          <a:stretch>
            <a:fillRect/>
          </a:stretch>
        </p:blipFill>
        <p:spPr>
          <a:xfrm>
            <a:off x="15392400" y="5143500"/>
            <a:ext cx="2755900" cy="21805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1219200" y="2171700"/>
            <a:ext cx="3352800" cy="6680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>
            <a:off x="0" y="1545222"/>
            <a:ext cx="18288000" cy="376555"/>
            <a:chOff x="0" y="0"/>
            <a:chExt cx="24384000" cy="5020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502074"/>
            </a:xfrm>
            <a:custGeom>
              <a:avLst/>
              <a:gdLst/>
              <a:ahLst/>
              <a:cxnLst/>
              <a:rect l="l" t="t" r="r" b="b"/>
              <a:pathLst>
                <a:path w="24384000" h="833374">
                  <a:moveTo>
                    <a:pt x="0" y="0"/>
                  </a:moveTo>
                  <a:lnTo>
                    <a:pt x="24384000" y="0"/>
                  </a:lnTo>
                  <a:lnTo>
                    <a:pt x="24384000" y="833374"/>
                  </a:lnTo>
                  <a:lnTo>
                    <a:pt x="0" y="833374"/>
                  </a:lnTo>
                  <a:close/>
                </a:path>
              </a:pathLst>
            </a:custGeom>
            <a:solidFill>
              <a:srgbClr val="003F88">
                <a:alpha val="0"/>
              </a:srgbClr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39353" y="1444771"/>
            <a:ext cx="121539" cy="121539"/>
            <a:chOff x="0" y="0"/>
            <a:chExt cx="162052" cy="1620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80000">
                  <a:srgbClr val="FC6804">
                    <a:alpha val="100000"/>
                  </a:srgbClr>
                </a:gs>
              </a:gsLst>
              <a:lin ang="36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" name="TextBox 20"/>
          <p:cNvSpPr txBox="1"/>
          <p:nvPr/>
        </p:nvSpPr>
        <p:spPr>
          <a:xfrm>
            <a:off x="1302385" y="1316990"/>
            <a:ext cx="4954905" cy="507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40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技术指标及测试结果</a:t>
            </a:r>
            <a:endParaRPr lang="en-US" sz="40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900122" y="2295468"/>
            <a:ext cx="3817620" cy="415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技术累积提升路径</a:t>
            </a:r>
            <a:endParaRPr lang="en-US" sz="27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300480" y="3183255"/>
          <a:ext cx="15621000" cy="6289675"/>
        </p:xfrm>
        <a:graphic>
          <a:graphicData uri="http://schemas.openxmlformats.org/drawingml/2006/table">
            <a:tbl>
              <a:tblPr firstRow="1" bandRow="1">
                <a:tableStyleId>{4CD81405-6C9B-4EE8-8F78-BE5536D4800B}</a:tableStyleId>
              </a:tblPr>
              <a:tblGrid>
                <a:gridCol w="3905250"/>
                <a:gridCol w="3905250"/>
                <a:gridCol w="3905250"/>
                <a:gridCol w="3905250"/>
              </a:tblGrid>
              <a:tr h="60388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2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</a:t>
                      </a:r>
                      <a:endParaRPr lang="zh-CN" altLang="en-US" sz="2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2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</a:t>
                      </a:r>
                      <a:endParaRPr lang="zh-CN" altLang="en-US" sz="2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BUSI AUC</a:t>
                      </a:r>
                      <a:endParaRPr lang="en-US" altLang="en-US" sz="2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2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累积提升</a:t>
                      </a:r>
                      <a:endParaRPr lang="zh-CN" altLang="en-US" sz="2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2400" kern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单折</a:t>
                      </a: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ConvNeXt-Tiny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fold1, identity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0.8943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zh-CN" alt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基线</a:t>
                      </a:r>
                      <a:endParaRPr lang="zh-CN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60388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timm-aware</a:t>
                      </a:r>
                      <a:r>
                        <a:rPr lang="zh-CN" alt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配方</a:t>
                      </a:r>
                      <a:endParaRPr lang="zh-CN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zh-CN" altLang="en-US" sz="2400" kern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修正预处理失配</a:t>
                      </a:r>
                      <a:endParaRPr lang="zh-CN" altLang="en-US" sz="2400" kern="12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0.8943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zh-CN" alt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前提条件</a:t>
                      </a:r>
                      <a:endParaRPr lang="zh-CN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60388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2400" kern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五折集成</a:t>
                      </a:r>
                      <a:endParaRPr lang="zh-CN" altLang="en-US" sz="2400" kern="12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5-fold average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0.9054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+0.0111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60388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crop-sweep TTA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 crop × hflip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0.9054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zh-CN" alt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包含在五折中</a:t>
                      </a:r>
                      <a:endParaRPr lang="zh-CN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5598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EfficientNetV2-S</a:t>
                      </a:r>
                      <a:r>
                        <a:rPr lang="zh-CN" altLang="en-US" sz="2400" kern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辅助分支</a:t>
                      </a:r>
                      <a:endParaRPr lang="zh-CN" altLang="en-US" sz="2400" kern="12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zh-CN" altLang="en-US" sz="2400" kern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双模型静态加权</a:t>
                      </a:r>
                      <a:endParaRPr lang="zh-CN" altLang="en-US" sz="2400" kern="12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0.9130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+0.0076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60388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OOF Logistic Stacking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logit</a:t>
                      </a:r>
                      <a:r>
                        <a:rPr lang="zh-CN" altLang="en-US" sz="2400" kern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融合</a:t>
                      </a:r>
                      <a:endParaRPr lang="zh-CN" altLang="en-US" sz="2400" kern="12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0.9138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+0.0008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60388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ROI</a:t>
                      </a:r>
                      <a:r>
                        <a:rPr lang="zh-CN" altLang="en-US" sz="2400" kern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分割引导</a:t>
                      </a:r>
                      <a:endParaRPr lang="zh-CN" altLang="en-US" sz="2400" kern="12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UNet + LCC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0.9208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+0.0070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2400" kern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面积质量门控</a:t>
                      </a:r>
                      <a:endParaRPr lang="zh-CN" altLang="en-US" sz="2400" kern="12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[0.08, 0.75]</a:t>
                      </a:r>
                      <a:r>
                        <a:rPr lang="zh-CN" altLang="en-US" sz="2400" kern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回退</a:t>
                      </a:r>
                      <a:endParaRPr lang="zh-CN" altLang="en-US" sz="2400" kern="12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0.9256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+0.0048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60388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zh-CN" alt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总提升</a:t>
                      </a:r>
                      <a:endParaRPr lang="zh-CN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7000"/>
                        </a:lnSpc>
                        <a:spcAft>
                          <a:spcPts val="400"/>
                        </a:spcAft>
                        <a:buNone/>
                        <a:defRPr/>
                      </a:pPr>
                      <a:r>
                        <a:rPr lang="en-US" sz="24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+0.0313</a:t>
                      </a:r>
                      <a:endParaRPr lang="en-US" altLang="en-US" sz="24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943600" y="2209165"/>
            <a:ext cx="8603615" cy="647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>
                <a:solidFill>
                  <a:srgbClr val="002060"/>
                </a:solidFill>
              </a:rPr>
              <a:t>技术模块逐步叠加带来的 </a:t>
            </a:r>
            <a:r>
              <a:rPr lang="en-US" altLang="zh-CN" sz="3200" b="1">
                <a:solidFill>
                  <a:srgbClr val="FF0000"/>
                </a:solidFill>
              </a:rPr>
              <a:t>AUC </a:t>
            </a:r>
            <a:r>
              <a:rPr lang="zh-CN" altLang="en-US" sz="3200" b="1">
                <a:solidFill>
                  <a:srgbClr val="FF0000"/>
                </a:solidFill>
              </a:rPr>
              <a:t>提升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4800600" y="2215515"/>
            <a:ext cx="990600" cy="609600"/>
          </a:xfrm>
          <a:prstGeom prst="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2000">
                <a:schemeClr val="accent1">
                  <a:lumMod val="45000"/>
                  <a:lumOff val="55000"/>
                </a:schemeClr>
              </a:gs>
              <a:gs pos="50000">
                <a:schemeClr val="accent1">
                  <a:lumMod val="75000"/>
                </a:schemeClr>
              </a:gs>
            </a:gsLst>
            <a:lin ang="0" scaled="0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2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757680"/>
            <a:ext cx="8840470" cy="7776210"/>
          </a:xfrm>
          <a:prstGeom prst="rect">
            <a:avLst/>
          </a:prstGeom>
        </p:spPr>
      </p:pic>
      <p:pic>
        <p:nvPicPr>
          <p:cNvPr id="7" name="图片 6" descr="图片2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400" y="1544955"/>
            <a:ext cx="9809480" cy="7988935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0" y="1545222"/>
            <a:ext cx="18288000" cy="625030"/>
            <a:chOff x="0" y="0"/>
            <a:chExt cx="24384000" cy="833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33374"/>
            </a:xfrm>
            <a:custGeom>
              <a:avLst/>
              <a:gdLst/>
              <a:ahLst/>
              <a:cxnLst/>
              <a:rect l="l" t="t" r="r" b="b"/>
              <a:pathLst>
                <a:path w="24384000" h="833374">
                  <a:moveTo>
                    <a:pt x="0" y="0"/>
                  </a:moveTo>
                  <a:lnTo>
                    <a:pt x="24384000" y="0"/>
                  </a:lnTo>
                  <a:lnTo>
                    <a:pt x="24384000" y="833374"/>
                  </a:lnTo>
                  <a:lnTo>
                    <a:pt x="0" y="833374"/>
                  </a:lnTo>
                  <a:close/>
                </a:path>
              </a:pathLst>
            </a:custGeom>
            <a:solidFill>
              <a:srgbClr val="003F88">
                <a:alpha val="0"/>
              </a:srgbClr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1470490"/>
            <a:ext cx="121539" cy="121539"/>
            <a:chOff x="0" y="0"/>
            <a:chExt cx="162052" cy="1620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80000">
                  <a:srgbClr val="FC6804">
                    <a:alpha val="100000"/>
                  </a:srgbClr>
                </a:gs>
              </a:gsLst>
              <a:lin ang="36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" name="TextBox 21"/>
          <p:cNvSpPr txBox="1"/>
          <p:nvPr/>
        </p:nvSpPr>
        <p:spPr>
          <a:xfrm>
            <a:off x="1371600" y="1288566"/>
            <a:ext cx="4933315" cy="507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40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技术指标及测试结果</a:t>
            </a:r>
            <a:endParaRPr lang="en-US" sz="40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4500" y="9460230"/>
            <a:ext cx="1726692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双模型融合、CLAHE、多裁剪TTA、ROI分割引导、LCC后处理和质量门控都对最终性能有贡献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839353" y="1500016"/>
            <a:ext cx="121539" cy="121539"/>
            <a:chOff x="0" y="0"/>
            <a:chExt cx="162052" cy="1620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80000">
                  <a:srgbClr val="FC6804">
                    <a:alpha val="100000"/>
                  </a:srgbClr>
                </a:gs>
              </a:gsLst>
              <a:lin ang="3600000"/>
            </a:gradFill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302385" y="1372235"/>
            <a:ext cx="4487545" cy="507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zh-CN" altLang="en-US" sz="40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可视化说明</a:t>
            </a:r>
            <a:endParaRPr lang="zh-CN" altLang="en-US" sz="40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87070" y="9506585"/>
            <a:ext cx="16943070" cy="77597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360"/>
              </a:lnSpc>
            </a:pPr>
            <a:r>
              <a:rPr lang="en-US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原图、病灶叠加和 Grad-CAM 在同一结果流中呈现，用于</a:t>
            </a:r>
            <a:r>
              <a:rPr lang="en-US" sz="3600" b="1" dirty="0">
                <a:solidFill>
                  <a:srgbClr val="D33F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辅助</a:t>
            </a:r>
            <a:r>
              <a:rPr 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复核模型关注区域</a:t>
            </a:r>
            <a:endParaRPr lang="en-US" sz="3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 Bold" panose="02020700000000000000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0107" y="2686053"/>
            <a:ext cx="3867785" cy="32296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918" y="2682878"/>
            <a:ext cx="3747770" cy="32296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0733" y="2682878"/>
            <a:ext cx="3865880" cy="32296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918" y="5957573"/>
            <a:ext cx="3747770" cy="31121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0107" y="5970908"/>
            <a:ext cx="3881120" cy="3098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20258" y="5955668"/>
            <a:ext cx="3856355" cy="30905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8" name="文本框 27"/>
          <p:cNvSpPr txBox="1"/>
          <p:nvPr/>
        </p:nvSpPr>
        <p:spPr>
          <a:xfrm>
            <a:off x="3152458" y="1925323"/>
            <a:ext cx="1985645" cy="757555"/>
          </a:xfrm>
          <a:prstGeom prst="rect">
            <a:avLst/>
          </a:prstGeom>
          <a:noFill/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原始图像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 useBgFill="1">
        <p:nvSpPr>
          <p:cNvPr id="29" name="文本框 28"/>
          <p:cNvSpPr txBox="1"/>
          <p:nvPr/>
        </p:nvSpPr>
        <p:spPr>
          <a:xfrm>
            <a:off x="7814310" y="2130425"/>
            <a:ext cx="2579370" cy="374015"/>
          </a:xfrm>
          <a:prstGeom prst="rect">
            <a:avLst/>
          </a:prstGeom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病灶叠加图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2381865" y="2025650"/>
            <a:ext cx="3595370" cy="583565"/>
          </a:xfrm>
          <a:prstGeom prst="rect">
            <a:avLst/>
          </a:prstGeom>
          <a:noFill/>
        </p:spPr>
        <p:txBody>
          <a:bodyPr vert="horz" wrap="square" rtlCol="0" anchor="ctr" anchorCtr="1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Grad-CAM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热力图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28888" y="1576216"/>
            <a:ext cx="121539" cy="121539"/>
            <a:chOff x="0" y="0"/>
            <a:chExt cx="162052" cy="1620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80000">
                  <a:srgbClr val="FC6804">
                    <a:alpha val="100000"/>
                  </a:srgbClr>
                </a:gs>
              </a:gsLst>
              <a:lin ang="3600000"/>
            </a:gradFill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375650" y="1629410"/>
            <a:ext cx="9945370" cy="2796540"/>
            <a:chOff x="0" y="0"/>
            <a:chExt cx="11948943" cy="29192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948968" cy="2919222"/>
            </a:xfrm>
            <a:custGeom>
              <a:avLst/>
              <a:gdLst/>
              <a:ahLst/>
              <a:cxnLst/>
              <a:rect l="l" t="t" r="r" b="b"/>
              <a:pathLst>
                <a:path w="11948968" h="2919222">
                  <a:moveTo>
                    <a:pt x="0" y="0"/>
                  </a:moveTo>
                  <a:lnTo>
                    <a:pt x="11948968" y="0"/>
                  </a:lnTo>
                  <a:lnTo>
                    <a:pt x="11948968" y="2919222"/>
                  </a:lnTo>
                  <a:lnTo>
                    <a:pt x="0" y="2919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5996" b="-5995"/>
              </a:stretch>
            </a:blip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29600" y="4533900"/>
            <a:ext cx="9187815" cy="5668010"/>
            <a:chOff x="0" y="0"/>
            <a:chExt cx="12001377" cy="76211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001365" cy="7621143"/>
            </a:xfrm>
            <a:custGeom>
              <a:avLst/>
              <a:gdLst/>
              <a:ahLst/>
              <a:cxnLst/>
              <a:rect l="l" t="t" r="r" b="b"/>
              <a:pathLst>
                <a:path w="12001365" h="7621143">
                  <a:moveTo>
                    <a:pt x="0" y="0"/>
                  </a:moveTo>
                  <a:lnTo>
                    <a:pt x="12001365" y="0"/>
                  </a:lnTo>
                  <a:lnTo>
                    <a:pt x="12001365" y="7621143"/>
                  </a:lnTo>
                  <a:lnTo>
                    <a:pt x="0" y="7621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400" r="-2400"/>
              </a:stretch>
            </a:blip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44245" y="1401445"/>
            <a:ext cx="6380480" cy="507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40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技术可行性分析及创新说明</a:t>
            </a:r>
            <a:endParaRPr lang="en-US" sz="40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grpSp>
        <p:nvGrpSpPr>
          <p:cNvPr id="20" name="Group 20"/>
          <p:cNvGrpSpPr/>
          <p:nvPr>
            <p:custDataLst>
              <p:tags r:id="rId3"/>
            </p:custDataLst>
          </p:nvPr>
        </p:nvGrpSpPr>
        <p:grpSpPr>
          <a:xfrm>
            <a:off x="751205" y="2501265"/>
            <a:ext cx="6746240" cy="3173095"/>
            <a:chOff x="0" y="0"/>
            <a:chExt cx="9074191" cy="2433798"/>
          </a:xfr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Freeform 21"/>
            <p:cNvSpPr/>
            <p:nvPr>
              <p:custDataLst>
                <p:tags r:id="rId4"/>
              </p:custDataLst>
            </p:nvPr>
          </p:nvSpPr>
          <p:spPr>
            <a:xfrm>
              <a:off x="25591" y="8864"/>
              <a:ext cx="9023148" cy="2416056"/>
            </a:xfrm>
            <a:custGeom>
              <a:avLst/>
              <a:gdLst/>
              <a:ahLst/>
              <a:cxnLst/>
              <a:rect l="l" t="t" r="r" b="b"/>
              <a:pathLst>
                <a:path w="9023148" h="2416056">
                  <a:moveTo>
                    <a:pt x="0" y="284002"/>
                  </a:moveTo>
                  <a:cubicBezTo>
                    <a:pt x="0" y="127198"/>
                    <a:pt x="367743" y="0"/>
                    <a:pt x="821473" y="0"/>
                  </a:cubicBezTo>
                  <a:lnTo>
                    <a:pt x="8201675" y="0"/>
                  </a:lnTo>
                  <a:cubicBezTo>
                    <a:pt x="8655405" y="0"/>
                    <a:pt x="9023148" y="127198"/>
                    <a:pt x="9023148" y="284002"/>
                  </a:cubicBezTo>
                  <a:lnTo>
                    <a:pt x="9023148" y="2132054"/>
                  </a:lnTo>
                  <a:cubicBezTo>
                    <a:pt x="9023148" y="2288946"/>
                    <a:pt x="8655405" y="2416056"/>
                    <a:pt x="8201675" y="2416056"/>
                  </a:cubicBezTo>
                  <a:lnTo>
                    <a:pt x="821473" y="2416056"/>
                  </a:lnTo>
                  <a:cubicBezTo>
                    <a:pt x="367743" y="2416056"/>
                    <a:pt x="0" y="2288946"/>
                    <a:pt x="0" y="2132054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22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9074260" cy="2433784"/>
            </a:xfrm>
            <a:custGeom>
              <a:avLst/>
              <a:gdLst/>
              <a:ahLst/>
              <a:cxnLst/>
              <a:rect l="l" t="t" r="r" b="b"/>
              <a:pathLst>
                <a:path w="9074260" h="2433784">
                  <a:moveTo>
                    <a:pt x="0" y="292866"/>
                  </a:moveTo>
                  <a:cubicBezTo>
                    <a:pt x="0" y="131098"/>
                    <a:pt x="379259" y="0"/>
                    <a:pt x="847064" y="0"/>
                  </a:cubicBezTo>
                  <a:lnTo>
                    <a:pt x="8227266" y="0"/>
                  </a:lnTo>
                  <a:lnTo>
                    <a:pt x="8227266" y="8864"/>
                  </a:lnTo>
                  <a:lnTo>
                    <a:pt x="8227266" y="0"/>
                  </a:lnTo>
                  <a:cubicBezTo>
                    <a:pt x="8695070" y="0"/>
                    <a:pt x="9074260" y="131098"/>
                    <a:pt x="9074260" y="292866"/>
                  </a:cubicBezTo>
                  <a:lnTo>
                    <a:pt x="9048739" y="292866"/>
                  </a:lnTo>
                  <a:lnTo>
                    <a:pt x="9074260" y="292866"/>
                  </a:lnTo>
                  <a:lnTo>
                    <a:pt x="9074260" y="2140918"/>
                  </a:lnTo>
                  <a:lnTo>
                    <a:pt x="9048739" y="2140918"/>
                  </a:lnTo>
                  <a:lnTo>
                    <a:pt x="9074260" y="2140918"/>
                  </a:lnTo>
                  <a:cubicBezTo>
                    <a:pt x="9074260" y="2302685"/>
                    <a:pt x="8695070" y="2433784"/>
                    <a:pt x="8227266" y="2433784"/>
                  </a:cubicBezTo>
                  <a:lnTo>
                    <a:pt x="8227266" y="2424920"/>
                  </a:lnTo>
                  <a:lnTo>
                    <a:pt x="8227266" y="2433784"/>
                  </a:lnTo>
                  <a:lnTo>
                    <a:pt x="847064" y="2433784"/>
                  </a:lnTo>
                  <a:lnTo>
                    <a:pt x="847064" y="2424920"/>
                  </a:lnTo>
                  <a:lnTo>
                    <a:pt x="847064" y="2433784"/>
                  </a:lnTo>
                  <a:cubicBezTo>
                    <a:pt x="379259" y="2433784"/>
                    <a:pt x="0" y="2302685"/>
                    <a:pt x="0" y="2140918"/>
                  </a:cubicBezTo>
                  <a:lnTo>
                    <a:pt x="0" y="292866"/>
                  </a:lnTo>
                  <a:lnTo>
                    <a:pt x="25591" y="292866"/>
                  </a:lnTo>
                  <a:lnTo>
                    <a:pt x="0" y="292866"/>
                  </a:lnTo>
                  <a:moveTo>
                    <a:pt x="51182" y="292866"/>
                  </a:moveTo>
                  <a:lnTo>
                    <a:pt x="51182" y="2140918"/>
                  </a:lnTo>
                  <a:lnTo>
                    <a:pt x="25591" y="2140918"/>
                  </a:lnTo>
                  <a:lnTo>
                    <a:pt x="51182" y="2140918"/>
                  </a:lnTo>
                  <a:cubicBezTo>
                    <a:pt x="51182" y="2292846"/>
                    <a:pt x="407409" y="2416056"/>
                    <a:pt x="847064" y="2416056"/>
                  </a:cubicBezTo>
                  <a:lnTo>
                    <a:pt x="8227266" y="2416056"/>
                  </a:lnTo>
                  <a:cubicBezTo>
                    <a:pt x="8666920" y="2416056"/>
                    <a:pt x="9023148" y="2292846"/>
                    <a:pt x="9023148" y="2140918"/>
                  </a:cubicBezTo>
                  <a:lnTo>
                    <a:pt x="9023148" y="292866"/>
                  </a:lnTo>
                  <a:cubicBezTo>
                    <a:pt x="9022892" y="140937"/>
                    <a:pt x="8666665" y="17728"/>
                    <a:pt x="8227266" y="17728"/>
                  </a:cubicBezTo>
                  <a:lnTo>
                    <a:pt x="847064" y="17728"/>
                  </a:lnTo>
                  <a:lnTo>
                    <a:pt x="847064" y="8864"/>
                  </a:lnTo>
                  <a:lnTo>
                    <a:pt x="847064" y="17728"/>
                  </a:lnTo>
                  <a:cubicBezTo>
                    <a:pt x="407409" y="17728"/>
                    <a:pt x="51182" y="140937"/>
                    <a:pt x="51182" y="292866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TextBox 23"/>
          <p:cNvSpPr txBox="1"/>
          <p:nvPr>
            <p:custDataLst>
              <p:tags r:id="rId6"/>
            </p:custDataLst>
          </p:nvPr>
        </p:nvSpPr>
        <p:spPr>
          <a:xfrm>
            <a:off x="983615" y="2620010"/>
            <a:ext cx="6306185" cy="27412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最终性能结果</a:t>
            </a:r>
            <a:r>
              <a:rPr 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技术可行性</a:t>
            </a:r>
            <a:r>
              <a:rPr 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：</a:t>
            </a:r>
            <a:endParaRPr 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 Bold" panose="02020700000000000000" charset="-122"/>
            </a:endParaRPr>
          </a:p>
          <a:p>
            <a:pPr algn="just">
              <a:lnSpc>
                <a:spcPct val="160000"/>
              </a:lnSpc>
            </a:pPr>
            <a:r>
              <a:rPr 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1.采用成熟架构与BUSBRA/BUSI数据集2.Gradio部署单图3-6秒，且脚本齐全可    复现。</a:t>
            </a:r>
            <a:endParaRPr 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 Bold" panose="02020700000000000000" charset="-122"/>
            </a:endParaRPr>
          </a:p>
        </p:txBody>
      </p:sp>
      <p:grpSp>
        <p:nvGrpSpPr>
          <p:cNvPr id="24" name="Group 24"/>
          <p:cNvGrpSpPr/>
          <p:nvPr>
            <p:custDataLst>
              <p:tags r:id="rId7"/>
            </p:custDataLst>
          </p:nvPr>
        </p:nvGrpSpPr>
        <p:grpSpPr>
          <a:xfrm>
            <a:off x="769620" y="6000115"/>
            <a:ext cx="6727825" cy="3325495"/>
            <a:chOff x="0" y="0"/>
            <a:chExt cx="9074191" cy="2433798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5" name="Freeform 25"/>
            <p:cNvSpPr/>
            <p:nvPr>
              <p:custDataLst>
                <p:tags r:id="rId8"/>
              </p:custDataLst>
            </p:nvPr>
          </p:nvSpPr>
          <p:spPr>
            <a:xfrm>
              <a:off x="25591" y="8864"/>
              <a:ext cx="9023148" cy="2416056"/>
            </a:xfrm>
            <a:custGeom>
              <a:avLst/>
              <a:gdLst/>
              <a:ahLst/>
              <a:cxnLst/>
              <a:rect l="l" t="t" r="r" b="b"/>
              <a:pathLst>
                <a:path w="9023148" h="2416056">
                  <a:moveTo>
                    <a:pt x="0" y="284002"/>
                  </a:moveTo>
                  <a:cubicBezTo>
                    <a:pt x="0" y="127198"/>
                    <a:pt x="367743" y="0"/>
                    <a:pt x="821473" y="0"/>
                  </a:cubicBezTo>
                  <a:lnTo>
                    <a:pt x="8201675" y="0"/>
                  </a:lnTo>
                  <a:cubicBezTo>
                    <a:pt x="8655405" y="0"/>
                    <a:pt x="9023148" y="127198"/>
                    <a:pt x="9023148" y="284002"/>
                  </a:cubicBezTo>
                  <a:lnTo>
                    <a:pt x="9023148" y="2132054"/>
                  </a:lnTo>
                  <a:cubicBezTo>
                    <a:pt x="9023148" y="2288946"/>
                    <a:pt x="8655405" y="2416056"/>
                    <a:pt x="8201675" y="2416056"/>
                  </a:cubicBezTo>
                  <a:lnTo>
                    <a:pt x="821473" y="2416056"/>
                  </a:lnTo>
                  <a:cubicBezTo>
                    <a:pt x="367743" y="2416056"/>
                    <a:pt x="0" y="2288946"/>
                    <a:pt x="0" y="2132054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 26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9074260" cy="2433784"/>
            </a:xfrm>
            <a:custGeom>
              <a:avLst/>
              <a:gdLst/>
              <a:ahLst/>
              <a:cxnLst/>
              <a:rect l="l" t="t" r="r" b="b"/>
              <a:pathLst>
                <a:path w="9074260" h="2433784">
                  <a:moveTo>
                    <a:pt x="0" y="292866"/>
                  </a:moveTo>
                  <a:cubicBezTo>
                    <a:pt x="0" y="131098"/>
                    <a:pt x="379259" y="0"/>
                    <a:pt x="847064" y="0"/>
                  </a:cubicBezTo>
                  <a:lnTo>
                    <a:pt x="8227266" y="0"/>
                  </a:lnTo>
                  <a:lnTo>
                    <a:pt x="8227266" y="8864"/>
                  </a:lnTo>
                  <a:lnTo>
                    <a:pt x="8227266" y="0"/>
                  </a:lnTo>
                  <a:cubicBezTo>
                    <a:pt x="8695070" y="0"/>
                    <a:pt x="9074260" y="131098"/>
                    <a:pt x="9074260" y="292866"/>
                  </a:cubicBezTo>
                  <a:lnTo>
                    <a:pt x="9048739" y="292866"/>
                  </a:lnTo>
                  <a:lnTo>
                    <a:pt x="9074260" y="292866"/>
                  </a:lnTo>
                  <a:lnTo>
                    <a:pt x="9074260" y="2140918"/>
                  </a:lnTo>
                  <a:lnTo>
                    <a:pt x="9048739" y="2140918"/>
                  </a:lnTo>
                  <a:lnTo>
                    <a:pt x="9074260" y="2140918"/>
                  </a:lnTo>
                  <a:cubicBezTo>
                    <a:pt x="9074260" y="2302685"/>
                    <a:pt x="8695070" y="2433784"/>
                    <a:pt x="8227266" y="2433784"/>
                  </a:cubicBezTo>
                  <a:lnTo>
                    <a:pt x="8227266" y="2424920"/>
                  </a:lnTo>
                  <a:lnTo>
                    <a:pt x="8227266" y="2433784"/>
                  </a:lnTo>
                  <a:lnTo>
                    <a:pt x="847064" y="2433784"/>
                  </a:lnTo>
                  <a:lnTo>
                    <a:pt x="847064" y="2424920"/>
                  </a:lnTo>
                  <a:lnTo>
                    <a:pt x="847064" y="2433784"/>
                  </a:lnTo>
                  <a:cubicBezTo>
                    <a:pt x="379259" y="2433784"/>
                    <a:pt x="0" y="2302685"/>
                    <a:pt x="0" y="2140918"/>
                  </a:cubicBezTo>
                  <a:lnTo>
                    <a:pt x="0" y="292866"/>
                  </a:lnTo>
                  <a:lnTo>
                    <a:pt x="25591" y="292866"/>
                  </a:lnTo>
                  <a:lnTo>
                    <a:pt x="0" y="292866"/>
                  </a:lnTo>
                  <a:moveTo>
                    <a:pt x="51182" y="292866"/>
                  </a:moveTo>
                  <a:lnTo>
                    <a:pt x="51182" y="2140918"/>
                  </a:lnTo>
                  <a:lnTo>
                    <a:pt x="25591" y="2140918"/>
                  </a:lnTo>
                  <a:lnTo>
                    <a:pt x="51182" y="2140918"/>
                  </a:lnTo>
                  <a:cubicBezTo>
                    <a:pt x="51182" y="2292846"/>
                    <a:pt x="407409" y="2416056"/>
                    <a:pt x="847064" y="2416056"/>
                  </a:cubicBezTo>
                  <a:lnTo>
                    <a:pt x="8227266" y="2416056"/>
                  </a:lnTo>
                  <a:cubicBezTo>
                    <a:pt x="8666920" y="2416056"/>
                    <a:pt x="9023148" y="2292846"/>
                    <a:pt x="9023148" y="2140918"/>
                  </a:cubicBezTo>
                  <a:lnTo>
                    <a:pt x="9023148" y="292866"/>
                  </a:lnTo>
                  <a:cubicBezTo>
                    <a:pt x="9022892" y="140937"/>
                    <a:pt x="8666665" y="17728"/>
                    <a:pt x="8227266" y="17728"/>
                  </a:cubicBezTo>
                  <a:lnTo>
                    <a:pt x="847064" y="17728"/>
                  </a:lnTo>
                  <a:lnTo>
                    <a:pt x="847064" y="8864"/>
                  </a:lnTo>
                  <a:lnTo>
                    <a:pt x="847064" y="17728"/>
                  </a:lnTo>
                  <a:cubicBezTo>
                    <a:pt x="407409" y="17728"/>
                    <a:pt x="51182" y="140937"/>
                    <a:pt x="51182" y="292866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TextBox 27"/>
          <p:cNvSpPr txBox="1"/>
          <p:nvPr>
            <p:custDataLst>
              <p:tags r:id="rId10"/>
            </p:custDataLst>
          </p:nvPr>
        </p:nvSpPr>
        <p:spPr>
          <a:xfrm>
            <a:off x="1020445" y="6089650"/>
            <a:ext cx="6467475" cy="31546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 提出</a:t>
            </a:r>
            <a:r>
              <a:rPr 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三项创新</a:t>
            </a:r>
            <a:r>
              <a:rPr 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：</a:t>
            </a:r>
            <a:endParaRPr 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 Bold" panose="02020700000000000000" charset="-122"/>
            </a:endParaRP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1.ROI分割引导的双模型集成</a:t>
            </a:r>
            <a:endParaRPr 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 Bold" panose="02020700000000000000" charset="-122"/>
            </a:endParaRP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2.Crop-Sweep多尺度TTA推理</a:t>
            </a:r>
            <a:endParaRPr 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 Bold" panose="02020700000000000000" charset="-122"/>
            </a:endParaRP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3.OOF Logistic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、</a:t>
            </a:r>
            <a:r>
              <a:rPr 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Bold" panose="02020700000000000000" charset="-122"/>
              </a:rPr>
              <a:t>Stacking自动加权融合</a:t>
            </a:r>
            <a:endParaRPr 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宋体 Bold" panose="02020700000000000000" charset="-122"/>
            </a:endParaRPr>
          </a:p>
        </p:txBody>
      </p:sp>
      <p:grpSp>
        <p:nvGrpSpPr>
          <p:cNvPr id="29" name="Group 29"/>
          <p:cNvGrpSpPr/>
          <p:nvPr>
            <p:custDataLst>
              <p:tags r:id="rId11"/>
            </p:custDataLst>
          </p:nvPr>
        </p:nvGrpSpPr>
        <p:grpSpPr>
          <a:xfrm>
            <a:off x="7610475" y="3762375"/>
            <a:ext cx="841375" cy="436880"/>
            <a:chOff x="0" y="0"/>
            <a:chExt cx="1469160" cy="582380"/>
          </a:xfrm>
        </p:grpSpPr>
        <p:sp>
          <p:nvSpPr>
            <p:cNvPr id="30" name="Freeform 30"/>
            <p:cNvSpPr/>
            <p:nvPr>
              <p:custDataLst>
                <p:tags r:id="rId12"/>
              </p:custDataLst>
            </p:nvPr>
          </p:nvSpPr>
          <p:spPr>
            <a:xfrm>
              <a:off x="12700" y="12700"/>
              <a:ext cx="1443863" cy="557022"/>
            </a:xfrm>
            <a:custGeom>
              <a:avLst/>
              <a:gdLst/>
              <a:ahLst/>
              <a:cxnLst/>
              <a:rect l="l" t="t" r="r" b="b"/>
              <a:pathLst>
                <a:path w="1443863" h="557022">
                  <a:moveTo>
                    <a:pt x="0" y="144526"/>
                  </a:moveTo>
                  <a:lnTo>
                    <a:pt x="792099" y="144526"/>
                  </a:lnTo>
                  <a:lnTo>
                    <a:pt x="792099" y="0"/>
                  </a:lnTo>
                  <a:lnTo>
                    <a:pt x="1443863" y="278511"/>
                  </a:lnTo>
                  <a:lnTo>
                    <a:pt x="792099" y="557022"/>
                  </a:lnTo>
                  <a:lnTo>
                    <a:pt x="792099" y="412496"/>
                  </a:lnTo>
                  <a:lnTo>
                    <a:pt x="0" y="412496"/>
                  </a:lnTo>
                  <a:close/>
                </a:path>
              </a:pathLst>
            </a:custGeom>
            <a:solidFill>
              <a:srgbClr val="81B1F5"/>
            </a:solidFill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Group 31"/>
          <p:cNvGrpSpPr/>
          <p:nvPr>
            <p:custDataLst>
              <p:tags r:id="rId13"/>
            </p:custDataLst>
          </p:nvPr>
        </p:nvGrpSpPr>
        <p:grpSpPr>
          <a:xfrm>
            <a:off x="7534275" y="7191375"/>
            <a:ext cx="658495" cy="436880"/>
            <a:chOff x="0" y="0"/>
            <a:chExt cx="1469160" cy="582380"/>
          </a:xfrm>
        </p:grpSpPr>
        <p:sp>
          <p:nvSpPr>
            <p:cNvPr id="32" name="Freeform 32"/>
            <p:cNvSpPr/>
            <p:nvPr>
              <p:custDataLst>
                <p:tags r:id="rId14"/>
              </p:custDataLst>
            </p:nvPr>
          </p:nvSpPr>
          <p:spPr>
            <a:xfrm>
              <a:off x="12700" y="12700"/>
              <a:ext cx="1443863" cy="557022"/>
            </a:xfrm>
            <a:custGeom>
              <a:avLst/>
              <a:gdLst/>
              <a:ahLst/>
              <a:cxnLst/>
              <a:rect l="l" t="t" r="r" b="b"/>
              <a:pathLst>
                <a:path w="1443863" h="557022">
                  <a:moveTo>
                    <a:pt x="0" y="144526"/>
                  </a:moveTo>
                  <a:lnTo>
                    <a:pt x="792099" y="144526"/>
                  </a:lnTo>
                  <a:lnTo>
                    <a:pt x="792099" y="0"/>
                  </a:lnTo>
                  <a:lnTo>
                    <a:pt x="1443863" y="278511"/>
                  </a:lnTo>
                  <a:lnTo>
                    <a:pt x="792099" y="557022"/>
                  </a:lnTo>
                  <a:lnTo>
                    <a:pt x="792099" y="412496"/>
                  </a:lnTo>
                  <a:lnTo>
                    <a:pt x="0" y="412496"/>
                  </a:lnTo>
                  <a:close/>
                </a:path>
              </a:pathLst>
            </a:custGeom>
            <a:solidFill>
              <a:srgbClr val="81B1F5"/>
            </a:solidFill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1926860"/>
            <a:ext cx="18288000" cy="625030"/>
            <a:chOff x="0" y="0"/>
            <a:chExt cx="24384000" cy="833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33374"/>
            </a:xfrm>
            <a:custGeom>
              <a:avLst/>
              <a:gdLst/>
              <a:ahLst/>
              <a:cxnLst/>
              <a:rect l="l" t="t" r="r" b="b"/>
              <a:pathLst>
                <a:path w="24384000" h="833374">
                  <a:moveTo>
                    <a:pt x="0" y="0"/>
                  </a:moveTo>
                  <a:lnTo>
                    <a:pt x="24384000" y="0"/>
                  </a:lnTo>
                  <a:lnTo>
                    <a:pt x="24384000" y="833374"/>
                  </a:lnTo>
                  <a:lnTo>
                    <a:pt x="0" y="833374"/>
                  </a:lnTo>
                  <a:close/>
                </a:path>
              </a:pathLst>
            </a:custGeom>
            <a:solidFill>
              <a:srgbClr val="003F88">
                <a:alpha val="0"/>
              </a:srgbClr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1288" y="1423816"/>
            <a:ext cx="121539" cy="121539"/>
            <a:chOff x="0" y="0"/>
            <a:chExt cx="162052" cy="1620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80000">
                  <a:srgbClr val="FC6804">
                    <a:alpha val="100000"/>
                  </a:srgbClr>
                </a:gs>
              </a:gsLst>
              <a:lin ang="3600000"/>
            </a:gradFill>
          </p:spPr>
          <p:txBody>
            <a:bodyPr/>
            <a:lstStyle/>
            <a:p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83565" y="1843405"/>
            <a:ext cx="559435" cy="2480310"/>
          </a:xfrm>
          <a:prstGeom prst="rect">
            <a:avLst/>
          </a:prstGeom>
        </p:spPr>
        <p:txBody>
          <a:bodyPr vert="eaVert" wrap="square" lIns="0" tIns="0" rIns="0" bIns="0" rtlCol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lang="en-US" sz="44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作品展示</a:t>
            </a:r>
            <a:endParaRPr lang="en-US" sz="44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181190" y="969645"/>
            <a:ext cx="16662113" cy="9302750"/>
            <a:chOff x="332" y="0"/>
            <a:chExt cx="18702" cy="10800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"/>
            <a:srcRect r="1655"/>
            <a:stretch>
              <a:fillRect/>
            </a:stretch>
          </p:blipFill>
          <p:spPr>
            <a:xfrm>
              <a:off x="4523" y="0"/>
              <a:ext cx="9986" cy="10800"/>
            </a:xfrm>
            <a:prstGeom prst="rect">
              <a:avLst/>
            </a:prstGeom>
          </p:spPr>
        </p:pic>
        <p:sp>
          <p:nvSpPr>
            <p:cNvPr id="24" name="圆角矩形 23"/>
            <p:cNvSpPr/>
            <p:nvPr/>
          </p:nvSpPr>
          <p:spPr>
            <a:xfrm>
              <a:off x="5312" y="1390"/>
              <a:ext cx="2680" cy="2232"/>
            </a:xfrm>
            <a:prstGeom prst="roundRect">
              <a:avLst/>
            </a:prstGeom>
            <a:noFill/>
            <a:ln w="444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1074" y="1902"/>
              <a:ext cx="3544" cy="147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8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“</a:t>
              </a:r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分类-分割-融合</a:t>
              </a:r>
              <a:r>
                <a:rPr lang="en-US" altLang="zh-CN" sz="28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”</a:t>
              </a:r>
              <a:endPara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/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多任务协同架构</a:t>
              </a:r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6" name="左箭头 25"/>
            <p:cNvSpPr/>
            <p:nvPr/>
          </p:nvSpPr>
          <p:spPr>
            <a:xfrm>
              <a:off x="4691" y="2286"/>
              <a:ext cx="547" cy="441"/>
            </a:xfrm>
            <a:prstGeom prst="lef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5416" y="7157"/>
              <a:ext cx="2497" cy="441"/>
            </a:xfrm>
            <a:prstGeom prst="roundRect">
              <a:avLst/>
            </a:prstGeom>
            <a:noFill/>
            <a:ln w="41275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左箭头 27"/>
            <p:cNvSpPr/>
            <p:nvPr/>
          </p:nvSpPr>
          <p:spPr>
            <a:xfrm>
              <a:off x="4717" y="7133"/>
              <a:ext cx="611" cy="512"/>
            </a:xfrm>
            <a:prstGeom prst="leftArrow">
              <a:avLst>
                <a:gd name="adj1" fmla="val 50000"/>
                <a:gd name="adj2" fmla="val 54492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332" y="6908"/>
              <a:ext cx="4329" cy="835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集成三个深度学习模型</a:t>
              </a:r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0" name="圆角矩形 29"/>
            <p:cNvSpPr/>
            <p:nvPr/>
          </p:nvSpPr>
          <p:spPr>
            <a:xfrm>
              <a:off x="5311" y="438"/>
              <a:ext cx="6615" cy="793"/>
            </a:xfrm>
            <a:prstGeom prst="roundRect">
              <a:avLst/>
            </a:prstGeom>
            <a:noFill/>
            <a:ln w="41275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左箭头 30"/>
            <p:cNvSpPr/>
            <p:nvPr/>
          </p:nvSpPr>
          <p:spPr>
            <a:xfrm>
              <a:off x="4661" y="614"/>
              <a:ext cx="547" cy="441"/>
            </a:xfrm>
            <a:prstGeom prst="lef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圆角矩形 31"/>
            <p:cNvSpPr/>
            <p:nvPr/>
          </p:nvSpPr>
          <p:spPr>
            <a:xfrm>
              <a:off x="698" y="437"/>
              <a:ext cx="3859" cy="97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完成</a:t>
              </a:r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Gradio Web</a:t>
              </a: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界面</a:t>
              </a:r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3" name="圆角矩形 32"/>
            <p:cNvSpPr/>
            <p:nvPr/>
          </p:nvSpPr>
          <p:spPr>
            <a:xfrm>
              <a:off x="8034" y="7012"/>
              <a:ext cx="5812" cy="3231"/>
            </a:xfrm>
            <a:prstGeom prst="roundRect">
              <a:avLst/>
            </a:prstGeom>
            <a:noFill/>
            <a:ln w="444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左箭头 33"/>
            <p:cNvSpPr/>
            <p:nvPr/>
          </p:nvSpPr>
          <p:spPr>
            <a:xfrm flipH="1">
              <a:off x="13967" y="8343"/>
              <a:ext cx="722" cy="569"/>
            </a:xfrm>
            <a:prstGeom prst="lef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圆角矩形 34"/>
            <p:cNvSpPr/>
            <p:nvPr/>
          </p:nvSpPr>
          <p:spPr>
            <a:xfrm>
              <a:off x="14830" y="7785"/>
              <a:ext cx="4204" cy="1941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支持</a:t>
              </a:r>
              <a:r>
                <a:rPr lang="en-US" altLang="zh-CN" sz="28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Grad-CAM</a:t>
              </a:r>
              <a:endPara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/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可解释性可视化及病灶分割展示</a:t>
              </a:r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1926860"/>
            <a:ext cx="18288000" cy="625030"/>
            <a:chOff x="0" y="0"/>
            <a:chExt cx="24384000" cy="833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33374"/>
            </a:xfrm>
            <a:custGeom>
              <a:avLst/>
              <a:gdLst/>
              <a:ahLst/>
              <a:cxnLst/>
              <a:rect l="l" t="t" r="r" b="b"/>
              <a:pathLst>
                <a:path w="24384000" h="833374">
                  <a:moveTo>
                    <a:pt x="0" y="0"/>
                  </a:moveTo>
                  <a:lnTo>
                    <a:pt x="24384000" y="0"/>
                  </a:lnTo>
                  <a:lnTo>
                    <a:pt x="24384000" y="833374"/>
                  </a:lnTo>
                  <a:lnTo>
                    <a:pt x="0" y="833374"/>
                  </a:lnTo>
                  <a:close/>
                </a:path>
              </a:pathLst>
            </a:custGeom>
            <a:solidFill>
              <a:srgbClr val="003F88">
                <a:alpha val="0"/>
              </a:srgbClr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1288" y="1423816"/>
            <a:ext cx="121539" cy="121539"/>
            <a:chOff x="0" y="0"/>
            <a:chExt cx="162052" cy="1620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2052" cy="162052"/>
            </a:xfrm>
            <a:custGeom>
              <a:avLst/>
              <a:gdLst/>
              <a:ahLst/>
              <a:cxnLst/>
              <a:rect l="l" t="t" r="r" b="b"/>
              <a:pathLst>
                <a:path w="162052" h="162052">
                  <a:moveTo>
                    <a:pt x="0" y="81026"/>
                  </a:moveTo>
                  <a:cubicBezTo>
                    <a:pt x="0" y="36322"/>
                    <a:pt x="36322" y="0"/>
                    <a:pt x="81026" y="0"/>
                  </a:cubicBezTo>
                  <a:cubicBezTo>
                    <a:pt x="125730" y="0"/>
                    <a:pt x="162052" y="36322"/>
                    <a:pt x="162052" y="81026"/>
                  </a:cubicBezTo>
                  <a:cubicBezTo>
                    <a:pt x="162052" y="125730"/>
                    <a:pt x="125730" y="162052"/>
                    <a:pt x="81026" y="162052"/>
                  </a:cubicBezTo>
                  <a:cubicBezTo>
                    <a:pt x="36322" y="162052"/>
                    <a:pt x="0" y="125730"/>
                    <a:pt x="0" y="8102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000">
                    <a:alpha val="100000"/>
                  </a:srgbClr>
                </a:gs>
                <a:gs pos="80000">
                  <a:srgbClr val="FC6804">
                    <a:alpha val="100000"/>
                  </a:srgbClr>
                </a:gs>
              </a:gsLst>
              <a:lin ang="3600000"/>
            </a:gradFill>
          </p:spPr>
          <p:txBody>
            <a:bodyPr/>
            <a:lstStyle/>
            <a:p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83565" y="1843405"/>
            <a:ext cx="559435" cy="3630930"/>
          </a:xfrm>
          <a:prstGeom prst="rect">
            <a:avLst/>
          </a:prstGeom>
        </p:spPr>
        <p:txBody>
          <a:bodyPr vert="eaVert" wrap="square" lIns="0" tIns="0" rIns="0" bIns="0" rtlCol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lang="en-US" sz="44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作品</a:t>
            </a:r>
            <a:r>
              <a:rPr lang="zh-CN" altLang="en-US" sz="44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100000">
                      <a:srgbClr val="05407E">
                        <a:alpha val="100000"/>
                      </a:srgbClr>
                    </a:gs>
                  </a:gsLst>
                  <a:lin ang="270000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演示视频</a:t>
            </a:r>
            <a:endParaRPr lang="zh-CN" altLang="en-US" sz="44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100000">
                    <a:srgbClr val="05407E">
                      <a:alpha val="100000"/>
                    </a:srgbClr>
                  </a:gs>
                </a:gsLst>
                <a:lin ang="270000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35389" y="0"/>
            <a:ext cx="9152572" cy="5587003"/>
            <a:chOff x="0" y="0"/>
            <a:chExt cx="12203430" cy="74493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03430" cy="7449332"/>
            </a:xfrm>
            <a:custGeom>
              <a:avLst/>
              <a:gdLst/>
              <a:ahLst/>
              <a:cxnLst/>
              <a:rect l="l" t="t" r="r" b="b"/>
              <a:pathLst>
                <a:path w="12203430" h="7449332">
                  <a:moveTo>
                    <a:pt x="0" y="3059557"/>
                  </a:moveTo>
                  <a:lnTo>
                    <a:pt x="0" y="5726557"/>
                  </a:lnTo>
                  <a:cubicBezTo>
                    <a:pt x="4356100" y="4743958"/>
                    <a:pt x="6592316" y="7839964"/>
                    <a:pt x="12203430" y="7407656"/>
                  </a:cubicBezTo>
                  <a:lnTo>
                    <a:pt x="12203430" y="0"/>
                  </a:lnTo>
                  <a:lnTo>
                    <a:pt x="489077" y="0"/>
                  </a:lnTo>
                  <a:lnTo>
                    <a:pt x="0" y="3059557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B4D7FF">
                    <a:alpha val="40000"/>
                  </a:srgbClr>
                </a:gs>
              </a:gsLst>
              <a:lin ang="144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35389" y="0"/>
            <a:ext cx="9152572" cy="4833328"/>
            <a:chOff x="0" y="0"/>
            <a:chExt cx="12203430" cy="644443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203430" cy="6444442"/>
            </a:xfrm>
            <a:custGeom>
              <a:avLst/>
              <a:gdLst/>
              <a:ahLst/>
              <a:cxnLst/>
              <a:rect l="l" t="t" r="r" b="b"/>
              <a:pathLst>
                <a:path w="12203430" h="6444442">
                  <a:moveTo>
                    <a:pt x="12203430" y="6013958"/>
                  </a:moveTo>
                  <a:lnTo>
                    <a:pt x="12203430" y="0"/>
                  </a:lnTo>
                  <a:lnTo>
                    <a:pt x="0" y="0"/>
                  </a:lnTo>
                  <a:lnTo>
                    <a:pt x="0" y="5947664"/>
                  </a:lnTo>
                  <a:cubicBezTo>
                    <a:pt x="4112260" y="4128897"/>
                    <a:pt x="6569329" y="7607554"/>
                    <a:pt x="12203430" y="601383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9152572" cy="5587003"/>
            <a:chOff x="0" y="0"/>
            <a:chExt cx="12203430" cy="74493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203430" cy="7449332"/>
            </a:xfrm>
            <a:custGeom>
              <a:avLst/>
              <a:gdLst/>
              <a:ahLst/>
              <a:cxnLst/>
              <a:rect l="l" t="t" r="r" b="b"/>
              <a:pathLst>
                <a:path w="12203430" h="7449332">
                  <a:moveTo>
                    <a:pt x="12203430" y="3059557"/>
                  </a:moveTo>
                  <a:lnTo>
                    <a:pt x="12203430" y="5726557"/>
                  </a:lnTo>
                  <a:cubicBezTo>
                    <a:pt x="7847330" y="4743958"/>
                    <a:pt x="5611241" y="7839964"/>
                    <a:pt x="0" y="7407656"/>
                  </a:cubicBezTo>
                  <a:lnTo>
                    <a:pt x="0" y="0"/>
                  </a:lnTo>
                  <a:lnTo>
                    <a:pt x="11714353" y="0"/>
                  </a:lnTo>
                  <a:lnTo>
                    <a:pt x="12203430" y="3059557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B4D7FF">
                    <a:alpha val="40000"/>
                  </a:srgbClr>
                </a:gs>
              </a:gsLst>
              <a:lin ang="144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9152572" cy="4833385"/>
            <a:chOff x="0" y="0"/>
            <a:chExt cx="12203430" cy="64445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03430" cy="6444508"/>
            </a:xfrm>
            <a:custGeom>
              <a:avLst/>
              <a:gdLst/>
              <a:ahLst/>
              <a:cxnLst/>
              <a:rect l="l" t="t" r="r" b="b"/>
              <a:pathLst>
                <a:path w="12203430" h="6444508">
                  <a:moveTo>
                    <a:pt x="0" y="6013958"/>
                  </a:moveTo>
                  <a:lnTo>
                    <a:pt x="0" y="0"/>
                  </a:lnTo>
                  <a:lnTo>
                    <a:pt x="12203430" y="0"/>
                  </a:lnTo>
                  <a:lnTo>
                    <a:pt x="12203430" y="5947664"/>
                  </a:lnTo>
                  <a:cubicBezTo>
                    <a:pt x="8091170" y="4128897"/>
                    <a:pt x="5634101" y="7607554"/>
                    <a:pt x="0" y="601395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18288000" cy="3819515"/>
            <a:chOff x="0" y="0"/>
            <a:chExt cx="24384000" cy="50926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0" cy="5092657"/>
            </a:xfrm>
            <a:custGeom>
              <a:avLst/>
              <a:gdLst/>
              <a:ahLst/>
              <a:cxnLst/>
              <a:rect l="l" t="t" r="r" b="b"/>
              <a:pathLst>
                <a:path w="24384000" h="5092657">
                  <a:moveTo>
                    <a:pt x="0" y="0"/>
                  </a:moveTo>
                  <a:lnTo>
                    <a:pt x="12180570" y="0"/>
                  </a:lnTo>
                  <a:lnTo>
                    <a:pt x="12203557" y="0"/>
                  </a:lnTo>
                  <a:lnTo>
                    <a:pt x="24384000" y="0"/>
                  </a:lnTo>
                  <a:lnTo>
                    <a:pt x="24384000" y="4739894"/>
                  </a:lnTo>
                  <a:cubicBezTo>
                    <a:pt x="18925921" y="6004687"/>
                    <a:pt x="16449421" y="3369691"/>
                    <a:pt x="12561316" y="4558411"/>
                  </a:cubicBezTo>
                  <a:lnTo>
                    <a:pt x="12203430" y="4677918"/>
                  </a:lnTo>
                  <a:lnTo>
                    <a:pt x="12203430" y="4685665"/>
                  </a:lnTo>
                  <a:lnTo>
                    <a:pt x="12192000" y="4681855"/>
                  </a:lnTo>
                  <a:lnTo>
                    <a:pt x="12180570" y="4685665"/>
                  </a:lnTo>
                  <a:lnTo>
                    <a:pt x="12180570" y="4677918"/>
                  </a:lnTo>
                  <a:lnTo>
                    <a:pt x="11822685" y="4558411"/>
                  </a:lnTo>
                  <a:cubicBezTo>
                    <a:pt x="7934579" y="3369818"/>
                    <a:pt x="5458079" y="6004687"/>
                    <a:pt x="0" y="4739894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F88">
                    <a:alpha val="100000"/>
                  </a:srgbClr>
                </a:gs>
                <a:gs pos="100000">
                  <a:srgbClr val="05407E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7990837" y="1244565"/>
            <a:ext cx="856774" cy="2079688"/>
          </a:xfrm>
          <a:custGeom>
            <a:avLst/>
            <a:gdLst/>
            <a:ahLst/>
            <a:cxnLst/>
            <a:rect l="l" t="t" r="r" b="b"/>
            <a:pathLst>
              <a:path w="856774" h="2079688">
                <a:moveTo>
                  <a:pt x="0" y="0"/>
                </a:moveTo>
                <a:lnTo>
                  <a:pt x="856774" y="0"/>
                </a:lnTo>
                <a:lnTo>
                  <a:pt x="856774" y="2079689"/>
                </a:lnTo>
                <a:lnTo>
                  <a:pt x="0" y="207968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23" b="-123"/>
            </a:stretch>
          </a:blipFill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3570529" y="4833328"/>
            <a:ext cx="855221" cy="2079041"/>
          </a:xfrm>
          <a:custGeom>
            <a:avLst/>
            <a:gdLst/>
            <a:ahLst/>
            <a:cxnLst/>
            <a:rect l="l" t="t" r="r" b="b"/>
            <a:pathLst>
              <a:path w="855221" h="2079041">
                <a:moveTo>
                  <a:pt x="0" y="0"/>
                </a:moveTo>
                <a:lnTo>
                  <a:pt x="855221" y="0"/>
                </a:lnTo>
                <a:lnTo>
                  <a:pt x="855221" y="2079041"/>
                </a:lnTo>
                <a:lnTo>
                  <a:pt x="0" y="207904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8" b="-48"/>
            </a:stretch>
          </a:blipFill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8825570" y="3329111"/>
            <a:ext cx="636870" cy="149095"/>
          </a:xfrm>
          <a:custGeom>
            <a:avLst/>
            <a:gdLst/>
            <a:ahLst/>
            <a:cxnLst/>
            <a:rect l="l" t="t" r="r" b="b"/>
            <a:pathLst>
              <a:path w="636870" h="149095">
                <a:moveTo>
                  <a:pt x="0" y="0"/>
                </a:moveTo>
                <a:lnTo>
                  <a:pt x="636870" y="0"/>
                </a:lnTo>
                <a:lnTo>
                  <a:pt x="636870" y="149095"/>
                </a:lnTo>
                <a:lnTo>
                  <a:pt x="0" y="1490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003" b="-1003"/>
            </a:stretch>
          </a:blipFill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7258244" y="6579996"/>
            <a:ext cx="3289705" cy="3735947"/>
            <a:chOff x="0" y="0"/>
            <a:chExt cx="3548380" cy="402971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549650" cy="4028440"/>
            </a:xfrm>
            <a:custGeom>
              <a:avLst/>
              <a:gdLst/>
              <a:ahLst/>
              <a:cxnLst/>
              <a:rect l="l" t="t" r="r" b="b"/>
              <a:pathLst>
                <a:path w="3549650" h="4028440">
                  <a:moveTo>
                    <a:pt x="2153920" y="146050"/>
                  </a:moveTo>
                  <a:cubicBezTo>
                    <a:pt x="1924050" y="146050"/>
                    <a:pt x="1758950" y="275590"/>
                    <a:pt x="1659890" y="535940"/>
                  </a:cubicBezTo>
                  <a:cubicBezTo>
                    <a:pt x="1560830" y="796290"/>
                    <a:pt x="1511300" y="1226820"/>
                    <a:pt x="1511300" y="1827530"/>
                  </a:cubicBezTo>
                  <a:lnTo>
                    <a:pt x="1511300" y="2250440"/>
                  </a:lnTo>
                  <a:cubicBezTo>
                    <a:pt x="1511300" y="2786380"/>
                    <a:pt x="1568450" y="3171190"/>
                    <a:pt x="1684020" y="3403600"/>
                  </a:cubicBezTo>
                  <a:cubicBezTo>
                    <a:pt x="1798320" y="3636010"/>
                    <a:pt x="2010410" y="3752850"/>
                    <a:pt x="2319020" y="3752850"/>
                  </a:cubicBezTo>
                  <a:cubicBezTo>
                    <a:pt x="2627630" y="3752850"/>
                    <a:pt x="2872740" y="3644900"/>
                    <a:pt x="3055620" y="3427730"/>
                  </a:cubicBezTo>
                  <a:cubicBezTo>
                    <a:pt x="3238500" y="3210560"/>
                    <a:pt x="3355340" y="2964180"/>
                    <a:pt x="3408680" y="2688590"/>
                  </a:cubicBezTo>
                  <a:lnTo>
                    <a:pt x="3549650" y="2705100"/>
                  </a:lnTo>
                  <a:cubicBezTo>
                    <a:pt x="3450590" y="3171190"/>
                    <a:pt x="3267710" y="3506470"/>
                    <a:pt x="3001010" y="3712210"/>
                  </a:cubicBezTo>
                  <a:cubicBezTo>
                    <a:pt x="2729230" y="3923030"/>
                    <a:pt x="2355850" y="4028440"/>
                    <a:pt x="1880870" y="4028440"/>
                  </a:cubicBezTo>
                  <a:cubicBezTo>
                    <a:pt x="1275080" y="4028440"/>
                    <a:pt x="810260" y="3859530"/>
                    <a:pt x="486410" y="3520440"/>
                  </a:cubicBezTo>
                  <a:cubicBezTo>
                    <a:pt x="161290" y="3183890"/>
                    <a:pt x="0" y="2687320"/>
                    <a:pt x="0" y="2034540"/>
                  </a:cubicBezTo>
                  <a:cubicBezTo>
                    <a:pt x="0" y="1381760"/>
                    <a:pt x="184150" y="880110"/>
                    <a:pt x="552450" y="527050"/>
                  </a:cubicBezTo>
                  <a:cubicBezTo>
                    <a:pt x="920750" y="176530"/>
                    <a:pt x="1433830" y="0"/>
                    <a:pt x="2091690" y="0"/>
                  </a:cubicBezTo>
                  <a:cubicBezTo>
                    <a:pt x="2556510" y="0"/>
                    <a:pt x="2910840" y="93980"/>
                    <a:pt x="3157220" y="280670"/>
                  </a:cubicBezTo>
                  <a:cubicBezTo>
                    <a:pt x="3402330" y="467360"/>
                    <a:pt x="3525520" y="702310"/>
                    <a:pt x="3525520" y="982980"/>
                  </a:cubicBezTo>
                  <a:cubicBezTo>
                    <a:pt x="3525520" y="1264920"/>
                    <a:pt x="3467100" y="1470660"/>
                    <a:pt x="3348990" y="1600200"/>
                  </a:cubicBezTo>
                  <a:cubicBezTo>
                    <a:pt x="3230880" y="1729740"/>
                    <a:pt x="3069590" y="1795780"/>
                    <a:pt x="2863850" y="1795780"/>
                  </a:cubicBezTo>
                  <a:cubicBezTo>
                    <a:pt x="2658110" y="1795780"/>
                    <a:pt x="2491740" y="1738630"/>
                    <a:pt x="2366010" y="1625600"/>
                  </a:cubicBezTo>
                  <a:cubicBezTo>
                    <a:pt x="2240280" y="1511300"/>
                    <a:pt x="2178050" y="1343660"/>
                    <a:pt x="2178050" y="1121410"/>
                  </a:cubicBezTo>
                  <a:cubicBezTo>
                    <a:pt x="2178050" y="1023620"/>
                    <a:pt x="2190750" y="925830"/>
                    <a:pt x="2217420" y="829310"/>
                  </a:cubicBezTo>
                  <a:lnTo>
                    <a:pt x="2476500" y="829310"/>
                  </a:lnTo>
                  <a:cubicBezTo>
                    <a:pt x="2513330" y="721360"/>
                    <a:pt x="2531110" y="623570"/>
                    <a:pt x="2531110" y="537210"/>
                  </a:cubicBezTo>
                  <a:cubicBezTo>
                    <a:pt x="2529840" y="276860"/>
                    <a:pt x="2405380" y="146050"/>
                    <a:pt x="2153920" y="14605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9000"/>
                  </a:srgbClr>
                </a:gs>
                <a:gs pos="100000">
                  <a:srgbClr val="B4D7FF">
                    <a:alpha val="19600"/>
                  </a:srgbClr>
                </a:gs>
              </a:gsLst>
              <a:lin ang="144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129991" y="6616083"/>
            <a:ext cx="3437849" cy="3691233"/>
            <a:chOff x="0" y="0"/>
            <a:chExt cx="5341620" cy="57353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342890" cy="5736590"/>
            </a:xfrm>
            <a:custGeom>
              <a:avLst/>
              <a:gdLst/>
              <a:ahLst/>
              <a:cxnLst/>
              <a:rect l="l" t="t" r="r" b="b"/>
              <a:pathLst>
                <a:path w="5342890" h="5736590">
                  <a:moveTo>
                    <a:pt x="3336290" y="5581650"/>
                  </a:moveTo>
                  <a:lnTo>
                    <a:pt x="2764790" y="3826510"/>
                  </a:lnTo>
                  <a:lnTo>
                    <a:pt x="1214120" y="3826510"/>
                  </a:lnTo>
                  <a:lnTo>
                    <a:pt x="610870" y="5581650"/>
                  </a:lnTo>
                  <a:lnTo>
                    <a:pt x="1198880" y="5581650"/>
                  </a:lnTo>
                  <a:lnTo>
                    <a:pt x="1198880" y="5736590"/>
                  </a:lnTo>
                  <a:lnTo>
                    <a:pt x="0" y="5736590"/>
                  </a:lnTo>
                  <a:lnTo>
                    <a:pt x="0" y="5581650"/>
                  </a:lnTo>
                  <a:lnTo>
                    <a:pt x="368300" y="5581650"/>
                  </a:lnTo>
                  <a:lnTo>
                    <a:pt x="2366010" y="0"/>
                  </a:lnTo>
                  <a:lnTo>
                    <a:pt x="3008630" y="0"/>
                  </a:lnTo>
                  <a:lnTo>
                    <a:pt x="4982210" y="5581650"/>
                  </a:lnTo>
                  <a:lnTo>
                    <a:pt x="5342890" y="5581650"/>
                  </a:lnTo>
                  <a:lnTo>
                    <a:pt x="5342890" y="5736590"/>
                  </a:lnTo>
                  <a:lnTo>
                    <a:pt x="2781300" y="5736590"/>
                  </a:lnTo>
                  <a:lnTo>
                    <a:pt x="2781300" y="5581650"/>
                  </a:lnTo>
                  <a:lnTo>
                    <a:pt x="3336290" y="5581650"/>
                  </a:lnTo>
                  <a:close/>
                  <a:moveTo>
                    <a:pt x="2020570" y="1518920"/>
                  </a:moveTo>
                  <a:lnTo>
                    <a:pt x="1283970" y="3647440"/>
                  </a:lnTo>
                  <a:lnTo>
                    <a:pt x="2701290" y="3647440"/>
                  </a:lnTo>
                  <a:lnTo>
                    <a:pt x="2020570" y="151892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9000"/>
                  </a:srgbClr>
                </a:gs>
                <a:gs pos="100000">
                  <a:srgbClr val="B4D7FF">
                    <a:alpha val="19600"/>
                  </a:srgbClr>
                </a:gs>
              </a:gsLst>
              <a:lin ang="144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585960" y="6595767"/>
            <a:ext cx="2497010" cy="3691233"/>
            <a:chOff x="0" y="0"/>
            <a:chExt cx="2307590" cy="34112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07590" cy="3412490"/>
            </a:xfrm>
            <a:custGeom>
              <a:avLst/>
              <a:gdLst/>
              <a:ahLst/>
              <a:cxnLst/>
              <a:rect l="l" t="t" r="r" b="b"/>
              <a:pathLst>
                <a:path w="2307590" h="3412490">
                  <a:moveTo>
                    <a:pt x="2307590" y="2264410"/>
                  </a:moveTo>
                  <a:lnTo>
                    <a:pt x="2307590" y="0"/>
                  </a:lnTo>
                  <a:lnTo>
                    <a:pt x="1521460" y="0"/>
                  </a:lnTo>
                  <a:lnTo>
                    <a:pt x="1521460" y="2244090"/>
                  </a:lnTo>
                  <a:cubicBezTo>
                    <a:pt x="1521460" y="2397760"/>
                    <a:pt x="1488440" y="2512060"/>
                    <a:pt x="1423670" y="2585720"/>
                  </a:cubicBezTo>
                  <a:cubicBezTo>
                    <a:pt x="1360170" y="2656840"/>
                    <a:pt x="1271270" y="2689860"/>
                    <a:pt x="1150620" y="2689860"/>
                  </a:cubicBezTo>
                  <a:cubicBezTo>
                    <a:pt x="1029970" y="2689860"/>
                    <a:pt x="942340" y="2655570"/>
                    <a:pt x="880110" y="2585720"/>
                  </a:cubicBezTo>
                  <a:cubicBezTo>
                    <a:pt x="815340" y="2512060"/>
                    <a:pt x="783590" y="2397760"/>
                    <a:pt x="783590" y="2244090"/>
                  </a:cubicBezTo>
                  <a:lnTo>
                    <a:pt x="783590" y="0"/>
                  </a:lnTo>
                  <a:lnTo>
                    <a:pt x="0" y="0"/>
                  </a:lnTo>
                  <a:lnTo>
                    <a:pt x="0" y="2264410"/>
                  </a:lnTo>
                  <a:cubicBezTo>
                    <a:pt x="0" y="2446020"/>
                    <a:pt x="26670" y="2609850"/>
                    <a:pt x="78740" y="2750820"/>
                  </a:cubicBezTo>
                  <a:cubicBezTo>
                    <a:pt x="132080" y="2895600"/>
                    <a:pt x="209550" y="3017520"/>
                    <a:pt x="311150" y="3116580"/>
                  </a:cubicBezTo>
                  <a:cubicBezTo>
                    <a:pt x="411480" y="3214370"/>
                    <a:pt x="534670" y="3289300"/>
                    <a:pt x="678180" y="3338830"/>
                  </a:cubicBezTo>
                  <a:cubicBezTo>
                    <a:pt x="817880" y="3387090"/>
                    <a:pt x="976630" y="3412490"/>
                    <a:pt x="1151890" y="3412490"/>
                  </a:cubicBezTo>
                  <a:cubicBezTo>
                    <a:pt x="1325880" y="3412490"/>
                    <a:pt x="1485900" y="3388360"/>
                    <a:pt x="1625600" y="3340100"/>
                  </a:cubicBezTo>
                  <a:cubicBezTo>
                    <a:pt x="1769110" y="3290570"/>
                    <a:pt x="1893570" y="3215640"/>
                    <a:pt x="1995170" y="3117850"/>
                  </a:cubicBezTo>
                  <a:cubicBezTo>
                    <a:pt x="2096770" y="3020060"/>
                    <a:pt x="2175510" y="2896870"/>
                    <a:pt x="2228850" y="2753360"/>
                  </a:cubicBezTo>
                  <a:cubicBezTo>
                    <a:pt x="2280920" y="2609850"/>
                    <a:pt x="2307590" y="2446020"/>
                    <a:pt x="2307590" y="226441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9000"/>
                  </a:srgbClr>
                </a:gs>
                <a:gs pos="100000">
                  <a:srgbClr val="B4D7FF">
                    <a:alpha val="19600"/>
                  </a:srgbClr>
                </a:gs>
              </a:gsLst>
              <a:lin ang="144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205367" y="6607455"/>
            <a:ext cx="2682407" cy="3708488"/>
            <a:chOff x="0" y="0"/>
            <a:chExt cx="2426970" cy="33553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26970" cy="3355340"/>
            </a:xfrm>
            <a:custGeom>
              <a:avLst/>
              <a:gdLst/>
              <a:ahLst/>
              <a:cxnLst/>
              <a:rect l="l" t="t" r="r" b="b"/>
              <a:pathLst>
                <a:path w="2426970" h="3355340">
                  <a:moveTo>
                    <a:pt x="1653540" y="3244850"/>
                  </a:moveTo>
                  <a:cubicBezTo>
                    <a:pt x="1819910" y="3169920"/>
                    <a:pt x="1963420" y="3056890"/>
                    <a:pt x="2077720" y="2908300"/>
                  </a:cubicBezTo>
                  <a:cubicBezTo>
                    <a:pt x="2190750" y="2763520"/>
                    <a:pt x="2278380" y="2580640"/>
                    <a:pt x="2338070" y="2366010"/>
                  </a:cubicBezTo>
                  <a:cubicBezTo>
                    <a:pt x="2396490" y="2155190"/>
                    <a:pt x="2426970" y="1908810"/>
                    <a:pt x="2426970" y="1631950"/>
                  </a:cubicBezTo>
                  <a:cubicBezTo>
                    <a:pt x="2426970" y="1369060"/>
                    <a:pt x="2396490" y="1135380"/>
                    <a:pt x="2338070" y="935990"/>
                  </a:cubicBezTo>
                  <a:cubicBezTo>
                    <a:pt x="2278380" y="732790"/>
                    <a:pt x="2189480" y="560070"/>
                    <a:pt x="2076450" y="421640"/>
                  </a:cubicBezTo>
                  <a:cubicBezTo>
                    <a:pt x="1960880" y="281940"/>
                    <a:pt x="1818640" y="173990"/>
                    <a:pt x="1651000" y="104140"/>
                  </a:cubicBezTo>
                  <a:cubicBezTo>
                    <a:pt x="1487170" y="35560"/>
                    <a:pt x="1301750" y="0"/>
                    <a:pt x="1098550" y="0"/>
                  </a:cubicBezTo>
                  <a:lnTo>
                    <a:pt x="0" y="0"/>
                  </a:lnTo>
                  <a:lnTo>
                    <a:pt x="0" y="3355340"/>
                  </a:lnTo>
                  <a:lnTo>
                    <a:pt x="1098550" y="3355340"/>
                  </a:lnTo>
                  <a:cubicBezTo>
                    <a:pt x="1301750" y="3355340"/>
                    <a:pt x="1488440" y="3318510"/>
                    <a:pt x="1653540" y="3244850"/>
                  </a:cubicBezTo>
                  <a:close/>
                  <a:moveTo>
                    <a:pt x="1043940" y="739140"/>
                  </a:moveTo>
                  <a:cubicBezTo>
                    <a:pt x="1134110" y="739140"/>
                    <a:pt x="1215390" y="754380"/>
                    <a:pt x="1285240" y="786130"/>
                  </a:cubicBezTo>
                  <a:cubicBezTo>
                    <a:pt x="1355090" y="816610"/>
                    <a:pt x="1412240" y="861060"/>
                    <a:pt x="1461770" y="922020"/>
                  </a:cubicBezTo>
                  <a:cubicBezTo>
                    <a:pt x="1512570" y="984250"/>
                    <a:pt x="1551940" y="1064260"/>
                    <a:pt x="1579880" y="1160780"/>
                  </a:cubicBezTo>
                  <a:cubicBezTo>
                    <a:pt x="1609090" y="1261110"/>
                    <a:pt x="1623060" y="1381760"/>
                    <a:pt x="1623060" y="1518920"/>
                  </a:cubicBezTo>
                  <a:lnTo>
                    <a:pt x="1623060" y="1746250"/>
                  </a:lnTo>
                  <a:cubicBezTo>
                    <a:pt x="1623060" y="1899920"/>
                    <a:pt x="1607820" y="2035810"/>
                    <a:pt x="1578610" y="2148840"/>
                  </a:cubicBezTo>
                  <a:cubicBezTo>
                    <a:pt x="1550670" y="2258060"/>
                    <a:pt x="1510030" y="2348230"/>
                    <a:pt x="1459230" y="2418080"/>
                  </a:cubicBezTo>
                  <a:cubicBezTo>
                    <a:pt x="1409700" y="2485390"/>
                    <a:pt x="1351280" y="2534920"/>
                    <a:pt x="1282700" y="2567940"/>
                  </a:cubicBezTo>
                  <a:cubicBezTo>
                    <a:pt x="1212850" y="2600960"/>
                    <a:pt x="1132840" y="2618740"/>
                    <a:pt x="1045210" y="2618740"/>
                  </a:cubicBezTo>
                  <a:lnTo>
                    <a:pt x="783590" y="2618740"/>
                  </a:lnTo>
                  <a:lnTo>
                    <a:pt x="783590" y="739140"/>
                  </a:lnTo>
                  <a:lnTo>
                    <a:pt x="1043940" y="73914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9000"/>
                  </a:srgbClr>
                </a:gs>
                <a:gs pos="100000">
                  <a:srgbClr val="B4D7FF">
                    <a:alpha val="19600"/>
                  </a:srgbClr>
                </a:gs>
              </a:gsLst>
              <a:lin ang="144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0" y="6607455"/>
            <a:ext cx="2661472" cy="3679545"/>
            <a:chOff x="0" y="0"/>
            <a:chExt cx="2426970" cy="3355340"/>
          </a:xfrm>
        </p:grpSpPr>
        <p:sp>
          <p:nvSpPr>
            <p:cNvPr id="26" name="Freeform 26"/>
            <p:cNvSpPr/>
            <p:nvPr/>
          </p:nvSpPr>
          <p:spPr>
            <a:xfrm>
              <a:off x="0" y="2540"/>
              <a:ext cx="2426970" cy="3355340"/>
            </a:xfrm>
            <a:custGeom>
              <a:avLst/>
              <a:gdLst/>
              <a:ahLst/>
              <a:cxnLst/>
              <a:rect l="l" t="t" r="r" b="b"/>
              <a:pathLst>
                <a:path w="2426970" h="3355340">
                  <a:moveTo>
                    <a:pt x="1798320" y="3290570"/>
                  </a:moveTo>
                  <a:cubicBezTo>
                    <a:pt x="1920240" y="3248660"/>
                    <a:pt x="2029460" y="3185160"/>
                    <a:pt x="2122170" y="3102610"/>
                  </a:cubicBezTo>
                  <a:cubicBezTo>
                    <a:pt x="2214880" y="3020060"/>
                    <a:pt x="2289810" y="2919730"/>
                    <a:pt x="2344420" y="2802890"/>
                  </a:cubicBezTo>
                  <a:cubicBezTo>
                    <a:pt x="2399030" y="2684780"/>
                    <a:pt x="2426970" y="2550160"/>
                    <a:pt x="2426970" y="2402840"/>
                  </a:cubicBezTo>
                  <a:cubicBezTo>
                    <a:pt x="2426970" y="2292350"/>
                    <a:pt x="2411730" y="2188210"/>
                    <a:pt x="2381250" y="2091690"/>
                  </a:cubicBezTo>
                  <a:cubicBezTo>
                    <a:pt x="2350770" y="1995170"/>
                    <a:pt x="2307590" y="1908810"/>
                    <a:pt x="2251710" y="1832610"/>
                  </a:cubicBezTo>
                  <a:cubicBezTo>
                    <a:pt x="2197100" y="1756410"/>
                    <a:pt x="2131060" y="1690370"/>
                    <a:pt x="2056130" y="1637030"/>
                  </a:cubicBezTo>
                  <a:cubicBezTo>
                    <a:pt x="2039620" y="1624330"/>
                    <a:pt x="2021840" y="1612900"/>
                    <a:pt x="2004060" y="1602740"/>
                  </a:cubicBezTo>
                  <a:cubicBezTo>
                    <a:pt x="2012950" y="1596390"/>
                    <a:pt x="2021840" y="1590040"/>
                    <a:pt x="2029460" y="1583690"/>
                  </a:cubicBezTo>
                  <a:cubicBezTo>
                    <a:pt x="2095500" y="1532890"/>
                    <a:pt x="2152650" y="1471930"/>
                    <a:pt x="2200910" y="1403350"/>
                  </a:cubicBezTo>
                  <a:cubicBezTo>
                    <a:pt x="2249170" y="1334770"/>
                    <a:pt x="2287270" y="1254760"/>
                    <a:pt x="2313940" y="1168400"/>
                  </a:cubicBezTo>
                  <a:cubicBezTo>
                    <a:pt x="2340610" y="1082040"/>
                    <a:pt x="2354580" y="986790"/>
                    <a:pt x="2354580" y="885190"/>
                  </a:cubicBezTo>
                  <a:cubicBezTo>
                    <a:pt x="2354580" y="754380"/>
                    <a:pt x="2330450" y="633730"/>
                    <a:pt x="2282190" y="524510"/>
                  </a:cubicBezTo>
                  <a:cubicBezTo>
                    <a:pt x="2233930" y="415290"/>
                    <a:pt x="2167890" y="321310"/>
                    <a:pt x="2082800" y="243840"/>
                  </a:cubicBezTo>
                  <a:cubicBezTo>
                    <a:pt x="1998980" y="166370"/>
                    <a:pt x="1898650" y="106680"/>
                    <a:pt x="1785620" y="63500"/>
                  </a:cubicBezTo>
                  <a:cubicBezTo>
                    <a:pt x="1672590" y="21590"/>
                    <a:pt x="1548130" y="0"/>
                    <a:pt x="1416050" y="0"/>
                  </a:cubicBezTo>
                  <a:lnTo>
                    <a:pt x="0" y="0"/>
                  </a:lnTo>
                  <a:lnTo>
                    <a:pt x="0" y="3355340"/>
                  </a:lnTo>
                  <a:lnTo>
                    <a:pt x="1417320" y="3355340"/>
                  </a:lnTo>
                  <a:cubicBezTo>
                    <a:pt x="1550670" y="3352800"/>
                    <a:pt x="1678940" y="3332480"/>
                    <a:pt x="1798320" y="3290570"/>
                  </a:cubicBezTo>
                  <a:close/>
                  <a:moveTo>
                    <a:pt x="1539240" y="1102360"/>
                  </a:moveTo>
                  <a:cubicBezTo>
                    <a:pt x="1527810" y="1135380"/>
                    <a:pt x="1511300" y="1162050"/>
                    <a:pt x="1487170" y="1186180"/>
                  </a:cubicBezTo>
                  <a:cubicBezTo>
                    <a:pt x="1464310" y="1210310"/>
                    <a:pt x="1433830" y="1230630"/>
                    <a:pt x="1397000" y="1245870"/>
                  </a:cubicBezTo>
                  <a:cubicBezTo>
                    <a:pt x="1360170" y="1261110"/>
                    <a:pt x="1314450" y="1268730"/>
                    <a:pt x="1259840" y="1268730"/>
                  </a:cubicBezTo>
                  <a:lnTo>
                    <a:pt x="783590" y="1268730"/>
                  </a:lnTo>
                  <a:lnTo>
                    <a:pt x="783590" y="736600"/>
                  </a:lnTo>
                  <a:lnTo>
                    <a:pt x="1289050" y="736600"/>
                  </a:lnTo>
                  <a:cubicBezTo>
                    <a:pt x="1375410" y="736600"/>
                    <a:pt x="1441450" y="756920"/>
                    <a:pt x="1490980" y="800100"/>
                  </a:cubicBezTo>
                  <a:cubicBezTo>
                    <a:pt x="1535430" y="839470"/>
                    <a:pt x="1558290" y="900430"/>
                    <a:pt x="1558290" y="988060"/>
                  </a:cubicBezTo>
                  <a:cubicBezTo>
                    <a:pt x="1558290" y="1028700"/>
                    <a:pt x="1551940" y="1068070"/>
                    <a:pt x="1539240" y="1102360"/>
                  </a:cubicBezTo>
                  <a:close/>
                  <a:moveTo>
                    <a:pt x="1606550" y="2194560"/>
                  </a:moveTo>
                  <a:cubicBezTo>
                    <a:pt x="1620520" y="2236470"/>
                    <a:pt x="1628140" y="2280920"/>
                    <a:pt x="1628140" y="2327910"/>
                  </a:cubicBezTo>
                  <a:cubicBezTo>
                    <a:pt x="1628140" y="2377440"/>
                    <a:pt x="1620520" y="2419350"/>
                    <a:pt x="1605280" y="2454910"/>
                  </a:cubicBezTo>
                  <a:cubicBezTo>
                    <a:pt x="1590040" y="2490470"/>
                    <a:pt x="1570990" y="2518410"/>
                    <a:pt x="1545590" y="2541270"/>
                  </a:cubicBezTo>
                  <a:cubicBezTo>
                    <a:pt x="1518920" y="2565400"/>
                    <a:pt x="1489710" y="2583180"/>
                    <a:pt x="1452880" y="2594610"/>
                  </a:cubicBezTo>
                  <a:cubicBezTo>
                    <a:pt x="1414780" y="2607310"/>
                    <a:pt x="1371600" y="2614930"/>
                    <a:pt x="1324610" y="2614930"/>
                  </a:cubicBezTo>
                  <a:lnTo>
                    <a:pt x="783590" y="2614930"/>
                  </a:lnTo>
                  <a:lnTo>
                    <a:pt x="783590" y="2001520"/>
                  </a:lnTo>
                  <a:lnTo>
                    <a:pt x="1297940" y="2001520"/>
                  </a:lnTo>
                  <a:cubicBezTo>
                    <a:pt x="1357630" y="2001520"/>
                    <a:pt x="1408430" y="2010410"/>
                    <a:pt x="1450340" y="2026920"/>
                  </a:cubicBezTo>
                  <a:cubicBezTo>
                    <a:pt x="1490980" y="2043430"/>
                    <a:pt x="1522730" y="2065020"/>
                    <a:pt x="1548130" y="2092960"/>
                  </a:cubicBezTo>
                  <a:cubicBezTo>
                    <a:pt x="1573530" y="2123440"/>
                    <a:pt x="1592580" y="2156460"/>
                    <a:pt x="1606550" y="219456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9000"/>
                  </a:srgbClr>
                </a:gs>
                <a:gs pos="100000">
                  <a:srgbClr val="B4D7FF">
                    <a:alpha val="19600"/>
                  </a:srgbClr>
                </a:gs>
              </a:gsLst>
              <a:lin ang="14400000"/>
            </a:gra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278255" y="6438900"/>
            <a:ext cx="15426055" cy="118427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7920"/>
              </a:lnSpc>
            </a:pPr>
            <a:r>
              <a:rPr 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 基于超声影像的乳腺肿瘤分类分割</a:t>
            </a:r>
            <a:endParaRPr lang="en-US" sz="4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  <a:p>
            <a:pPr algn="ctr">
              <a:lnSpc>
                <a:spcPts val="7920"/>
              </a:lnSpc>
            </a:pPr>
            <a:r>
              <a:rPr 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辅助诊断系统设计</a:t>
            </a:r>
            <a:endParaRPr lang="en-US" sz="4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7619972" y="199217"/>
            <a:ext cx="3129894" cy="3129894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761" r="-761"/>
              </a:stretch>
            </a:blip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4267200" y="4716145"/>
            <a:ext cx="1046734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8000" b="1" dirty="0">
                <a:gradFill>
                  <a:gsLst>
                    <a:gs pos="0">
                      <a:srgbClr val="003F88">
                        <a:alpha val="100000"/>
                      </a:srgbClr>
                    </a:gs>
                    <a:gs pos="97000">
                      <a:srgbClr val="05407E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宋体 Bold" panose="02020700000000000000" charset="-122"/>
                <a:sym typeface="思源宋体 Bold" panose="02020700000000000000" charset="-122"/>
              </a:rPr>
              <a:t>恳请各位老师批评指正！</a:t>
            </a:r>
            <a:endParaRPr lang="zh-CN" altLang="en-US" sz="8000" b="1" dirty="0">
              <a:gradFill>
                <a:gsLst>
                  <a:gs pos="0">
                    <a:srgbClr val="003F88">
                      <a:alpha val="100000"/>
                    </a:srgbClr>
                  </a:gs>
                  <a:gs pos="97000">
                    <a:srgbClr val="05407E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2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3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4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5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6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7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8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9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10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11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12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13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14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15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16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17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18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19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20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21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22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23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24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25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26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27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28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29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30.xml><?xml version="1.0" encoding="utf-8"?>
<p:tagLst xmlns:p="http://schemas.openxmlformats.org/presentationml/2006/main">
  <p:tag name="KSO_WM_DIAGRAM_VIRTUALLY_FRAME" val="{&quot;height&quot;:579.8910236220472,&quot;left&quot;:527.4232283464567,&quot;top&quot;:114.68322834645669,&quot;width&quot;:643.4864566929134}"/>
</p:tagLst>
</file>

<file path=ppt/tags/tag31.xml><?xml version="1.0" encoding="utf-8"?>
<p:tagLst xmlns:p="http://schemas.openxmlformats.org/presentationml/2006/main">
  <p:tag name="KSO_WM_DIAGRAM_VIRTUALLY_FRAME" val="{&quot;height&quot;:509.8,&quot;left&quot;:88.1755905511811,&quot;top&quot;:207.95,&quot;width&quot;:1274.774409448819}"/>
</p:tagLst>
</file>

<file path=ppt/tags/tag32.xml><?xml version="1.0" encoding="utf-8"?>
<p:tagLst xmlns:p="http://schemas.openxmlformats.org/presentationml/2006/main">
  <p:tag name="KSO_WM_DIAGRAM_VIRTUALLY_FRAME" val="{&quot;height&quot;:509.8,&quot;left&quot;:88.1755905511811,&quot;top&quot;:207.95,&quot;width&quot;:1274.774409448819}"/>
</p:tagLst>
</file>

<file path=ppt/tags/tag33.xml><?xml version="1.0" encoding="utf-8"?>
<p:tagLst xmlns:p="http://schemas.openxmlformats.org/presentationml/2006/main">
  <p:tag name="KSO_WM_DIAGRAM_VIRTUALLY_FRAME" val="{&quot;height&quot;:509.8,&quot;left&quot;:88.1755905511811,&quot;top&quot;:207.95,&quot;width&quot;:1274.774409448819}"/>
</p:tagLst>
</file>

<file path=ppt/tags/tag34.xml><?xml version="1.0" encoding="utf-8"?>
<p:tagLst xmlns:p="http://schemas.openxmlformats.org/presentationml/2006/main">
  <p:tag name="KSO_WM_DIAGRAM_VIRTUALLY_FRAME" val="{&quot;height&quot;:509.8,&quot;left&quot;:88.1755905511811,&quot;top&quot;:207.95,&quot;width&quot;:1274.774409448819}"/>
</p:tagLst>
</file>

<file path=ppt/tags/tag35.xml><?xml version="1.0" encoding="utf-8"?>
<p:tagLst xmlns:p="http://schemas.openxmlformats.org/presentationml/2006/main">
  <p:tag name="KSO_WM_DIAGRAM_VIRTUALLY_FRAME" val="{&quot;height&quot;:509.8,&quot;left&quot;:88.1755905511811,&quot;top&quot;:207.95,&quot;width&quot;:1274.774409448819}"/>
</p:tagLst>
</file>

<file path=ppt/tags/tag36.xml><?xml version="1.0" encoding="utf-8"?>
<p:tagLst xmlns:p="http://schemas.openxmlformats.org/presentationml/2006/main">
  <p:tag name="KSO_WM_DIAGRAM_VIRTUALLY_FRAME" val="{&quot;height&quot;:509.8,&quot;left&quot;:88.1755905511811,&quot;top&quot;:207.95,&quot;width&quot;:1274.774409448819}"/>
</p:tagLst>
</file>

<file path=ppt/tags/tag37.xml><?xml version="1.0" encoding="utf-8"?>
<p:tagLst xmlns:p="http://schemas.openxmlformats.org/presentationml/2006/main">
  <p:tag name="TABLE_ENDDRAG_ORIGIN_RECT" val="1318*454"/>
  <p:tag name="TABLE_ENDDRAG_RECT" val="71*187*1318*454"/>
</p:tagLst>
</file>

<file path=ppt/tags/tag38.xml><?xml version="1.0" encoding="utf-8"?>
<p:tagLst xmlns:p="http://schemas.openxmlformats.org/presentationml/2006/main">
  <p:tag name="TABLE_ENDDRAG_ORIGIN_RECT" val="1226*524"/>
  <p:tag name="TABLE_ENDDRAG_RECT" val="127*181*1226*524"/>
</p:tagLst>
</file>

<file path=ppt/tags/tag39.xml><?xml version="1.0" encoding="utf-8"?>
<p:tagLst xmlns:p="http://schemas.openxmlformats.org/presentationml/2006/main">
  <p:tag name="TABLE_ENDDRAG_ORIGIN_RECT" val="1314*559"/>
  <p:tag name="TABLE_ENDDRAG_RECT" val="74*170*1314*559"/>
</p:tagLst>
</file>

<file path=ppt/tags/tag40.xml><?xml version="1.0" encoding="utf-8"?>
<p:tagLst xmlns:p="http://schemas.openxmlformats.org/presentationml/2006/main">
  <p:tag name="TABLE_ENDDRAG_ORIGIN_RECT" val="734*275"/>
  <p:tag name="TABLE_ENDDRAG_RECT" val="633*428*734*275"/>
</p:tagLst>
</file>

<file path=ppt/tags/tag41.xml><?xml version="1.0" encoding="utf-8"?>
<p:tagLst xmlns:p="http://schemas.openxmlformats.org/presentationml/2006/main">
  <p:tag name="TABLE_ENDDRAG_ORIGIN_RECT" val="1250*495"/>
  <p:tag name="TABLE_ENDDRAG_RECT" val="60*201*1250*495"/>
</p:tagLst>
</file>

<file path=ppt/tags/tag42.xml><?xml version="1.0" encoding="utf-8"?>
<p:tagLst xmlns:p="http://schemas.openxmlformats.org/presentationml/2006/main">
  <p:tag name="TABLE_ENDDRAG_ORIGIN_RECT" val="1268*1268"/>
  <p:tag name="TABLE_ENDDRAG_RECT" val="84*195*1268*1268"/>
</p:tagLst>
</file>

<file path=ppt/tags/tag43.xml><?xml version="1.0" encoding="utf-8"?>
<p:tagLst xmlns:p="http://schemas.openxmlformats.org/presentationml/2006/main">
  <p:tag name="TABLE_ENDDRAG_ORIGIN_RECT" val="1229*495"/>
  <p:tag name="TABLE_ENDDRAG_RECT" val="108*226*1229*495"/>
</p:tagLst>
</file>

<file path=ppt/tags/tag44.xml><?xml version="1.0" encoding="utf-8"?>
<p:tagLst xmlns:p="http://schemas.openxmlformats.org/presentationml/2006/main">
  <p:tag name="KSO_WM_DIAGRAM_VIRTUALLY_FRAME" val="{&quot;height&quot;:537.35,&quot;left&quot;:74.35,&quot;top&quot;:196.95,&quot;width&quot;:611.6591338582678}"/>
</p:tagLst>
</file>

<file path=ppt/tags/tag45.xml><?xml version="1.0" encoding="utf-8"?>
<p:tagLst xmlns:p="http://schemas.openxmlformats.org/presentationml/2006/main">
  <p:tag name="KSO_WM_DIAGRAM_VIRTUALLY_FRAME" val="{&quot;height&quot;:537.35,&quot;left&quot;:74.35,&quot;top&quot;:196.95,&quot;width&quot;:611.6591338582678}"/>
</p:tagLst>
</file>

<file path=ppt/tags/tag46.xml><?xml version="1.0" encoding="utf-8"?>
<p:tagLst xmlns:p="http://schemas.openxmlformats.org/presentationml/2006/main">
  <p:tag name="KSO_WM_DIAGRAM_VIRTUALLY_FRAME" val="{&quot;height&quot;:537.35,&quot;left&quot;:74.35,&quot;top&quot;:196.95,&quot;width&quot;:611.6591338582678}"/>
</p:tagLst>
</file>

<file path=ppt/tags/tag47.xml><?xml version="1.0" encoding="utf-8"?>
<p:tagLst xmlns:p="http://schemas.openxmlformats.org/presentationml/2006/main">
  <p:tag name="KSO_WM_DIAGRAM_VIRTUALLY_FRAME" val="{&quot;height&quot;:537.35,&quot;left&quot;:74.35,&quot;top&quot;:196.95,&quot;width&quot;:611.6591338582678}"/>
</p:tagLst>
</file>

<file path=ppt/tags/tag48.xml><?xml version="1.0" encoding="utf-8"?>
<p:tagLst xmlns:p="http://schemas.openxmlformats.org/presentationml/2006/main">
  <p:tag name="KSO_WM_DIAGRAM_VIRTUALLY_FRAME" val="{&quot;height&quot;:537.35,&quot;left&quot;:74.35,&quot;top&quot;:196.95,&quot;width&quot;:611.6591338582678}"/>
</p:tagLst>
</file>

<file path=ppt/tags/tag49.xml><?xml version="1.0" encoding="utf-8"?>
<p:tagLst xmlns:p="http://schemas.openxmlformats.org/presentationml/2006/main">
  <p:tag name="KSO_WM_DIAGRAM_VIRTUALLY_FRAME" val="{&quot;height&quot;:537.35,&quot;left&quot;:74.35,&quot;top&quot;:196.95,&quot;width&quot;:611.6591338582678}"/>
</p:tagLst>
</file>

<file path=ppt/tags/tag50.xml><?xml version="1.0" encoding="utf-8"?>
<p:tagLst xmlns:p="http://schemas.openxmlformats.org/presentationml/2006/main">
  <p:tag name="KSO_WM_DIAGRAM_VIRTUALLY_FRAME" val="{&quot;height&quot;:537.35,&quot;left&quot;:74.35,&quot;top&quot;:196.95,&quot;width&quot;:611.6591338582678}"/>
</p:tagLst>
</file>

<file path=ppt/tags/tag51.xml><?xml version="1.0" encoding="utf-8"?>
<p:tagLst xmlns:p="http://schemas.openxmlformats.org/presentationml/2006/main">
  <p:tag name="KSO_WM_DIAGRAM_VIRTUALLY_FRAME" val="{&quot;height&quot;:537.35,&quot;left&quot;:74.35,&quot;top&quot;:196.95,&quot;width&quot;:611.6591338582678}"/>
</p:tagLst>
</file>

<file path=ppt/tags/tag52.xml><?xml version="1.0" encoding="utf-8"?>
<p:tagLst xmlns:p="http://schemas.openxmlformats.org/presentationml/2006/main">
  <p:tag name="KSO_WM_DIAGRAM_VIRTUALLY_FRAME" val="{&quot;height&quot;:537.35,&quot;left&quot;:74.35,&quot;top&quot;:196.95,&quot;width&quot;:611.6591338582678}"/>
</p:tagLst>
</file>

<file path=ppt/tags/tag53.xml><?xml version="1.0" encoding="utf-8"?>
<p:tagLst xmlns:p="http://schemas.openxmlformats.org/presentationml/2006/main">
  <p:tag name="KSO_WM_DIAGRAM_VIRTUALLY_FRAME" val="{&quot;height&quot;:537.35,&quot;left&quot;:74.35,&quot;top&quot;:196.95,&quot;width&quot;:611.6591338582678}"/>
</p:tagLst>
</file>

<file path=ppt/tags/tag54.xml><?xml version="1.0" encoding="utf-8"?>
<p:tagLst xmlns:p="http://schemas.openxmlformats.org/presentationml/2006/main">
  <p:tag name="KSO_WM_DIAGRAM_VIRTUALLY_FRAME" val="{&quot;height&quot;:537.35,&quot;left&quot;:74.35,&quot;top&quot;:196.95,&quot;width&quot;:611.6591338582678}"/>
</p:tagLst>
</file>

<file path=ppt/tags/tag55.xml><?xml version="1.0" encoding="utf-8"?>
<p:tagLst xmlns:p="http://schemas.openxmlformats.org/presentationml/2006/main">
  <p:tag name="KSO_WM_DIAGRAM_VIRTUALLY_FRAME" val="{&quot;height&quot;:537.35,&quot;left&quot;:74.35,&quot;top&quot;:196.95,&quot;width&quot;:611.6591338582678}"/>
</p:tagLst>
</file>

<file path=ppt/tags/tag56.xml><?xml version="1.0" encoding="utf-8"?>
<p:tagLst xmlns:p="http://schemas.openxmlformats.org/presentationml/2006/main">
  <p:tag name="RESOURCE_RECORD_KEY" val="{&quot;10&quot;:[50062357],&quot;29&quot;:[50053008],&quot;8&quot;:[50071293]}"/>
  <p:tag name="resource_record_key" val="{&quot;10&quot;:[50062357],&quot;29&quot;:[50053008,50000031],&quot;8&quot;:[50071293]}"/>
</p:tagLst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商务蓝">
    <a:dk1>
      <a:srgbClr val="000000"/>
    </a:dk1>
    <a:lt1>
      <a:srgbClr val="FFFFFF"/>
    </a:lt1>
    <a:dk2>
      <a:srgbClr val="44546A"/>
    </a:dk2>
    <a:lt2>
      <a:srgbClr val="E7E6E6"/>
    </a:lt2>
    <a:accent1>
      <a:srgbClr val="0D208B"/>
    </a:accent1>
    <a:accent2>
      <a:srgbClr val="0174CD"/>
    </a:accent2>
    <a:accent3>
      <a:srgbClr val="4499D9"/>
    </a:accent3>
    <a:accent4>
      <a:srgbClr val="63A8DE"/>
    </a:accent4>
    <a:accent5>
      <a:srgbClr val="A6CAE7"/>
    </a:accent5>
    <a:accent6>
      <a:srgbClr val="D1E1F5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5363</Words>
  <Application>WPS 演示</Application>
  <PresentationFormat>自定义</PresentationFormat>
  <Paragraphs>1006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5" baseType="lpstr">
      <vt:lpstr>Arial</vt:lpstr>
      <vt:lpstr>宋体</vt:lpstr>
      <vt:lpstr>Wingdings</vt:lpstr>
      <vt:lpstr>Times New Roman</vt:lpstr>
      <vt:lpstr>微软雅黑</vt:lpstr>
      <vt:lpstr>思源宋体 Bold</vt:lpstr>
      <vt:lpstr>思源黑体 1 Bold</vt:lpstr>
      <vt:lpstr>黑体</vt:lpstr>
      <vt:lpstr>思源黑体 1</vt:lpstr>
      <vt:lpstr>Arial</vt:lpstr>
      <vt:lpstr>思源宋体</vt:lpstr>
      <vt:lpstr>Arial Unicode MS</vt:lpstr>
      <vt:lpstr>Calibri</vt:lpstr>
      <vt:lpstr>Wingdings</vt:lpstr>
      <vt:lpstr>思源宋体</vt:lpstr>
      <vt:lpstr>思源宋体 Bold</vt:lpstr>
      <vt:lpstr>思源黑体 1</vt:lpstr>
      <vt:lpstr>思源黑体 1 Bold</vt:lpstr>
      <vt:lpstr>Office Theme</vt:lpstr>
      <vt:lpstr>1_Office Theme</vt:lpstr>
      <vt:lpstr>2_Office Theme</vt:lpstr>
      <vt:lpstr>Excel.Sheet.12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乳腺PPT.pptx</dc:title>
  <dc:creator/>
  <cp:lastModifiedBy>BlackSheep</cp:lastModifiedBy>
  <cp:revision>18</cp:revision>
  <dcterms:created xsi:type="dcterms:W3CDTF">2006-08-16T00:00:00Z</dcterms:created>
  <dcterms:modified xsi:type="dcterms:W3CDTF">2026-05-24T10:27:12Z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{"Label":"1","ContentProducer":"001191110105MA01AN806X00000","ProduceID":"DAHKdDXoHXo","ReservedCode1":"","ContentPropagator":"001191110105MA01AN806X00000","PropagateID":"DAHKdDXoHXo","ReservedCode2":""}</vt:lpwstr>
  </property>
  <property fmtid="{D5CDD505-2E9C-101B-9397-08002B2CF9AE}" pid="3" name="KSOProductBuildVer">
    <vt:lpwstr>2052-12.1.0.26375</vt:lpwstr>
  </property>
  <property fmtid="{D5CDD505-2E9C-101B-9397-08002B2CF9AE}" pid="4" name="ICV">
    <vt:lpwstr>F8DC66C2D9194167BA71B2D7413E7386_13</vt:lpwstr>
  </property>
</Properties>
</file>